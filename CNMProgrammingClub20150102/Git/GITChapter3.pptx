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88"/>
  </p:notesMasterIdLst>
  <p:sldIdLst>
    <p:sldId id="449" r:id="rId2"/>
    <p:sldId id="400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8" r:id="rId25"/>
    <p:sldId id="477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9" r:id="rId46"/>
    <p:sldId id="500" r:id="rId47"/>
    <p:sldId id="501" r:id="rId48"/>
    <p:sldId id="502" r:id="rId49"/>
    <p:sldId id="503" r:id="rId50"/>
    <p:sldId id="504" r:id="rId51"/>
    <p:sldId id="505" r:id="rId52"/>
    <p:sldId id="506" r:id="rId53"/>
    <p:sldId id="508" r:id="rId54"/>
    <p:sldId id="507" r:id="rId55"/>
    <p:sldId id="509" r:id="rId56"/>
    <p:sldId id="510" r:id="rId57"/>
    <p:sldId id="511" r:id="rId58"/>
    <p:sldId id="512" r:id="rId59"/>
    <p:sldId id="513" r:id="rId60"/>
    <p:sldId id="514" r:id="rId61"/>
    <p:sldId id="515" r:id="rId62"/>
    <p:sldId id="516" r:id="rId63"/>
    <p:sldId id="517" r:id="rId64"/>
    <p:sldId id="518" r:id="rId65"/>
    <p:sldId id="520" r:id="rId66"/>
    <p:sldId id="519" r:id="rId67"/>
    <p:sldId id="521" r:id="rId68"/>
    <p:sldId id="522" r:id="rId69"/>
    <p:sldId id="523" r:id="rId70"/>
    <p:sldId id="524" r:id="rId71"/>
    <p:sldId id="525" r:id="rId72"/>
    <p:sldId id="526" r:id="rId73"/>
    <p:sldId id="527" r:id="rId74"/>
    <p:sldId id="528" r:id="rId75"/>
    <p:sldId id="529" r:id="rId76"/>
    <p:sldId id="530" r:id="rId77"/>
    <p:sldId id="531" r:id="rId78"/>
    <p:sldId id="532" r:id="rId79"/>
    <p:sldId id="533" r:id="rId80"/>
    <p:sldId id="534" r:id="rId81"/>
    <p:sldId id="535" r:id="rId82"/>
    <p:sldId id="536" r:id="rId83"/>
    <p:sldId id="537" r:id="rId84"/>
    <p:sldId id="539" r:id="rId85"/>
    <p:sldId id="538" r:id="rId86"/>
    <p:sldId id="455" r:id="rId8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0EB42CD-7890-4201-9FC6-D6178D132C53}">
          <p14:sldIdLst>
            <p14:sldId id="449"/>
            <p14:sldId id="400"/>
          </p14:sldIdLst>
        </p14:section>
        <p14:section name="Presentation" id="{EF67DF2E-E17F-4836-90D4-EBAFBB235779}">
          <p14:sldIdLst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8"/>
            <p14:sldId id="477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8"/>
            <p14:sldId id="507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20"/>
            <p14:sldId id="519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9"/>
            <p14:sldId id="538"/>
          </p14:sldIdLst>
        </p14:section>
        <p14:section name="Summary" id="{40FBAD55-D47E-4C6D-B4D6-CB53CA894661}">
          <p14:sldIdLst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5FF"/>
    <a:srgbClr val="054397"/>
    <a:srgbClr val="FFFFFF"/>
    <a:srgbClr val="FD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>
      <p:cViewPr varScale="1">
        <p:scale>
          <a:sx n="95" d="100"/>
          <a:sy n="95" d="100"/>
        </p:scale>
        <p:origin x="16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3" d="1250"/>
        <a:sy n="253" d="125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922B8-2402-4D07-8CC1-A7973D5DEA1D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36D8C-E6BB-4A51-BC12-92C35C89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8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1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4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7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5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7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5984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7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16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19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87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5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hyperlink" Target="http://git-scm.com/book/en/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2BFE950-A675-4D2F-BC24-F20C16678C63}" type="datetimeFigureOut">
              <a:rPr lang="en-US" smtClean="0"/>
              <a:t>12/30/2014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28600" y="6248401"/>
            <a:ext cx="88392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smtClean="0"/>
              <a:t>Presentation based on Pro </a:t>
            </a:r>
            <a:r>
              <a:rPr lang="en-US" sz="1050" dirty="0" err="1" smtClean="0"/>
              <a:t>Git</a:t>
            </a:r>
            <a:r>
              <a:rPr lang="en-US" sz="1050" dirty="0" smtClean="0"/>
              <a:t> by Scott Chacon and Ben Straub available at </a:t>
            </a:r>
            <a:r>
              <a:rPr lang="en-US" sz="1050" dirty="0" smtClean="0">
                <a:hlinkClick r:id="rId19"/>
              </a:rPr>
              <a:t>http://git-scm.com/book/en/</a:t>
            </a:r>
            <a:r>
              <a:rPr lang="en-US" sz="1050" dirty="0" smtClean="0"/>
              <a:t>.  This work is licensed under the Creative Commons </a:t>
            </a:r>
            <a:r>
              <a:rPr lang="en-US" sz="1050" dirty="0" err="1" smtClean="0"/>
              <a:t>AttributionNonCommercial-ShareAlike</a:t>
            </a:r>
            <a:r>
              <a:rPr lang="en-US" sz="1050" dirty="0" smtClean="0"/>
              <a:t> 3.0 </a:t>
            </a:r>
            <a:r>
              <a:rPr lang="en-US" sz="1050" dirty="0" err="1" smtClean="0"/>
              <a:t>Unported</a:t>
            </a:r>
            <a:r>
              <a:rPr lang="en-US" sz="1050" dirty="0" smtClean="0"/>
              <a:t> License. </a:t>
            </a:r>
          </a:p>
        </p:txBody>
      </p:sp>
    </p:spTree>
    <p:extLst>
      <p:ext uri="{BB962C8B-B14F-4D97-AF65-F5344CB8AC3E}">
        <p14:creationId xmlns:p14="http://schemas.microsoft.com/office/powerpoint/2010/main" val="586712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git-scm.com/book/e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 Chapter 3:</a:t>
            </a:r>
            <a:br>
              <a:rPr lang="en-US" dirty="0" smtClean="0"/>
            </a:br>
            <a:r>
              <a:rPr lang="en-US" dirty="0" smtClean="0"/>
              <a:t> Branching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659461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dirty="0" smtClean="0"/>
              <a:t>This presentation was prepared by Robert J. Garner, and is based on Pro </a:t>
            </a:r>
            <a:r>
              <a:rPr lang="en-US" dirty="0" err="1" smtClean="0"/>
              <a:t>Git</a:t>
            </a:r>
            <a:r>
              <a:rPr lang="en-US" dirty="0" smtClean="0"/>
              <a:t> by Scott Chacon and Ben </a:t>
            </a:r>
            <a:r>
              <a:rPr lang="en-US" dirty="0"/>
              <a:t>Straub available at </a:t>
            </a:r>
            <a:r>
              <a:rPr lang="en-US" dirty="0">
                <a:hlinkClick r:id="rId2"/>
              </a:rPr>
              <a:t>http://git-scm.com/book/en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  <a:p>
            <a:pPr algn="l"/>
            <a:r>
              <a:rPr lang="en-US" dirty="0" smtClean="0"/>
              <a:t>This </a:t>
            </a:r>
            <a:r>
              <a:rPr lang="en-US" dirty="0"/>
              <a:t>work is licensed under the Creative Commons </a:t>
            </a:r>
            <a:r>
              <a:rPr lang="en-US" dirty="0" err="1"/>
              <a:t>AttributionNonCommercial-ShareAlike</a:t>
            </a:r>
            <a:endParaRPr lang="en-US" dirty="0"/>
          </a:p>
          <a:p>
            <a:pPr algn="l"/>
            <a:r>
              <a:rPr lang="en-US" dirty="0"/>
              <a:t>3.0 </a:t>
            </a:r>
            <a:r>
              <a:rPr lang="en-US" dirty="0" err="1"/>
              <a:t>Unported</a:t>
            </a:r>
            <a:r>
              <a:rPr lang="en-US" dirty="0"/>
              <a:t> License. To view a copy of this license,</a:t>
            </a:r>
          </a:p>
          <a:p>
            <a:pPr algn="l"/>
            <a:r>
              <a:rPr lang="en-US" dirty="0"/>
              <a:t>visit http://creativecommons.org/licenses/by-nc-sa/3.0/ or send a letter</a:t>
            </a:r>
          </a:p>
          <a:p>
            <a:pPr algn="l"/>
            <a:r>
              <a:rPr lang="en-US" dirty="0"/>
              <a:t>to Creative Commons, 171 Second Street, Suite 300, San Francisco, California,</a:t>
            </a:r>
          </a:p>
          <a:p>
            <a:pPr algn="l"/>
            <a:r>
              <a:rPr lang="en-US" dirty="0"/>
              <a:t>94105, USA.</a:t>
            </a:r>
          </a:p>
        </p:txBody>
      </p:sp>
    </p:spTree>
    <p:extLst>
      <p:ext uri="{BB962C8B-B14F-4D97-AF65-F5344CB8AC3E}">
        <p14:creationId xmlns:p14="http://schemas.microsoft.com/office/powerpoint/2010/main" val="67683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chapter covers </a:t>
            </a:r>
            <a:r>
              <a:rPr lang="en-US" dirty="0" smtClean="0"/>
              <a:t>basic </a:t>
            </a:r>
            <a:r>
              <a:rPr lang="en-US" dirty="0" err="1" smtClean="0"/>
              <a:t>commandS</a:t>
            </a:r>
            <a:r>
              <a:rPr lang="en-US" dirty="0" smtClean="0"/>
              <a:t> </a:t>
            </a:r>
            <a:r>
              <a:rPr lang="en-US" dirty="0"/>
              <a:t>you need to do the vast majority of the things you’ll eventually spend your time doing with </a:t>
            </a:r>
            <a:r>
              <a:rPr lang="en-US" dirty="0" err="1"/>
              <a:t>Git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the end of the chapter, you should be able to 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configure </a:t>
            </a:r>
            <a:r>
              <a:rPr lang="en-US" dirty="0"/>
              <a:t>and initialize a </a:t>
            </a:r>
            <a:r>
              <a:rPr lang="en-US" dirty="0" smtClean="0"/>
              <a:t>repository</a:t>
            </a:r>
          </a:p>
          <a:p>
            <a:pPr lvl="1"/>
            <a:r>
              <a:rPr lang="en-US" dirty="0" smtClean="0"/>
              <a:t>begin </a:t>
            </a:r>
            <a:r>
              <a:rPr lang="en-US" dirty="0"/>
              <a:t>and stop tracking </a:t>
            </a:r>
            <a:r>
              <a:rPr lang="en-US" dirty="0" smtClean="0"/>
              <a:t>files</a:t>
            </a:r>
          </a:p>
          <a:p>
            <a:pPr lvl="1"/>
            <a:r>
              <a:rPr lang="en-US" dirty="0" smtClean="0"/>
              <a:t>stage </a:t>
            </a:r>
            <a:r>
              <a:rPr lang="en-US" dirty="0"/>
              <a:t>and commit changes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We’ll </a:t>
            </a:r>
            <a:r>
              <a:rPr lang="en-US" dirty="0"/>
              <a:t>also show you how </a:t>
            </a:r>
            <a:r>
              <a:rPr lang="en-US" dirty="0" smtClean="0"/>
              <a:t>to:</a:t>
            </a:r>
          </a:p>
          <a:p>
            <a:pPr lvl="1"/>
            <a:r>
              <a:rPr lang="en-US" dirty="0" smtClean="0"/>
              <a:t>set </a:t>
            </a:r>
            <a:r>
              <a:rPr lang="en-US" dirty="0"/>
              <a:t>up </a:t>
            </a:r>
            <a:r>
              <a:rPr lang="en-US" dirty="0" err="1"/>
              <a:t>Git</a:t>
            </a:r>
            <a:r>
              <a:rPr lang="en-US" dirty="0"/>
              <a:t> to ignore certain files and file </a:t>
            </a:r>
            <a:r>
              <a:rPr lang="en-US" dirty="0" smtClean="0"/>
              <a:t>patterns</a:t>
            </a:r>
          </a:p>
          <a:p>
            <a:pPr lvl="1"/>
            <a:r>
              <a:rPr lang="en-US" dirty="0" smtClean="0"/>
              <a:t>undo </a:t>
            </a:r>
            <a:r>
              <a:rPr lang="en-US" dirty="0"/>
              <a:t>mistakes quickly and </a:t>
            </a:r>
            <a:r>
              <a:rPr lang="en-US" dirty="0" smtClean="0"/>
              <a:t>easily</a:t>
            </a:r>
          </a:p>
          <a:p>
            <a:pPr lvl="1"/>
            <a:r>
              <a:rPr lang="en-US" dirty="0" smtClean="0"/>
              <a:t>browse </a:t>
            </a:r>
            <a:r>
              <a:rPr lang="en-US" dirty="0"/>
              <a:t>the history of your project and view changes between </a:t>
            </a:r>
            <a:r>
              <a:rPr lang="en-US" dirty="0" smtClean="0"/>
              <a:t>commits</a:t>
            </a:r>
          </a:p>
          <a:p>
            <a:pPr lvl="1"/>
            <a:r>
              <a:rPr lang="en-US" dirty="0" smtClean="0"/>
              <a:t>push </a:t>
            </a:r>
            <a:r>
              <a:rPr lang="en-US" dirty="0"/>
              <a:t>and pull from remote repositories.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2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3.1 </a:t>
            </a:r>
            <a:r>
              <a:rPr lang="en-US" dirty="0" err="1"/>
              <a:t>Git</a:t>
            </a:r>
            <a:r>
              <a:rPr lang="en-US" dirty="0"/>
              <a:t> Branching - Branches in a </a:t>
            </a:r>
            <a:r>
              <a:rPr lang="en-US" dirty="0" smtClean="0"/>
              <a:t>Nutshell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Nearly </a:t>
            </a:r>
            <a:r>
              <a:rPr lang="en-US" dirty="0"/>
              <a:t>every VCS has some form of branching support. </a:t>
            </a:r>
            <a:endParaRPr lang="en-US" dirty="0" smtClean="0"/>
          </a:p>
          <a:p>
            <a:r>
              <a:rPr lang="en-US" dirty="0" smtClean="0"/>
              <a:t>Branching </a:t>
            </a:r>
            <a:r>
              <a:rPr lang="en-US" dirty="0"/>
              <a:t>means you diverge from the main line of development and continue to do work without messing with that main line.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many VCS tools, this is a somewhat expensive process, often requiring you to create a new copy of your source code directory, which can take a long time for large projects.</a:t>
            </a:r>
          </a:p>
        </p:txBody>
      </p:sp>
    </p:spTree>
    <p:extLst>
      <p:ext uri="{BB962C8B-B14F-4D97-AF65-F5344CB8AC3E}">
        <p14:creationId xmlns:p14="http://schemas.microsoft.com/office/powerpoint/2010/main" val="413710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Branches in a </a:t>
            </a:r>
            <a:r>
              <a:rPr lang="en-US" dirty="0" smtClean="0"/>
              <a:t>Nutshell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doesn’t store data as a series of </a:t>
            </a:r>
            <a:r>
              <a:rPr lang="en-US" dirty="0" err="1"/>
              <a:t>changesets</a:t>
            </a:r>
            <a:r>
              <a:rPr lang="en-US" dirty="0"/>
              <a:t> or differences, but instead as a series of snapshots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When you make a commit, </a:t>
            </a:r>
            <a:r>
              <a:rPr lang="en-US" dirty="0" err="1"/>
              <a:t>Git</a:t>
            </a:r>
            <a:r>
              <a:rPr lang="en-US" dirty="0"/>
              <a:t> stores a commit object that contains a pointer to the snapshot of the content you staged. </a:t>
            </a:r>
            <a:endParaRPr lang="en-US" dirty="0" smtClean="0"/>
          </a:p>
          <a:p>
            <a:r>
              <a:rPr lang="en-US" dirty="0" smtClean="0"/>
              <a:t>Commit` object </a:t>
            </a:r>
            <a:r>
              <a:rPr lang="en-US" dirty="0"/>
              <a:t>contains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author’s name and </a:t>
            </a:r>
            <a:r>
              <a:rPr lang="en-US" dirty="0" smtClean="0"/>
              <a:t>email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message </a:t>
            </a:r>
            <a:endParaRPr lang="en-US" dirty="0" smtClean="0"/>
          </a:p>
          <a:p>
            <a:pPr lvl="1"/>
            <a:r>
              <a:rPr lang="en-US" dirty="0" smtClean="0"/>
              <a:t>pointers </a:t>
            </a:r>
            <a:r>
              <a:rPr lang="en-US" dirty="0"/>
              <a:t>to the commit or commits that directly came before this commit (its parent or parents): zero parents for the initial commit, one parent for a normal commit, and multiple parents for a commit that results from a merge of two or more branches.</a:t>
            </a:r>
          </a:p>
        </p:txBody>
      </p:sp>
    </p:spTree>
    <p:extLst>
      <p:ext uri="{BB962C8B-B14F-4D97-AF65-F5344CB8AC3E}">
        <p14:creationId xmlns:p14="http://schemas.microsoft.com/office/powerpoint/2010/main" val="379731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 err="1" smtClean="0"/>
              <a:t>Git</a:t>
            </a:r>
            <a:r>
              <a:rPr lang="en-US" dirty="0" smtClean="0"/>
              <a:t> does during a Commit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checksums each subdirectory</a:t>
            </a:r>
          </a:p>
          <a:p>
            <a:r>
              <a:rPr lang="en-US" dirty="0" smtClean="0"/>
              <a:t>stores </a:t>
            </a:r>
            <a:r>
              <a:rPr lang="en-US" dirty="0"/>
              <a:t>those tree objects in the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smtClean="0"/>
              <a:t>repository</a:t>
            </a:r>
          </a:p>
          <a:p>
            <a:r>
              <a:rPr lang="en-US" dirty="0" smtClean="0"/>
              <a:t>creates </a:t>
            </a:r>
            <a:r>
              <a:rPr lang="en-US" dirty="0"/>
              <a:t>a commit object that has the </a:t>
            </a:r>
            <a:r>
              <a:rPr lang="en-US" dirty="0" smtClean="0"/>
              <a:t>metadata</a:t>
            </a:r>
          </a:p>
          <a:p>
            <a:r>
              <a:rPr lang="en-US" dirty="0" smtClean="0"/>
              <a:t>creates </a:t>
            </a:r>
            <a:r>
              <a:rPr lang="en-US" dirty="0"/>
              <a:t>and a pointer to the root project tree so it can re-create that snapshot when needed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7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Objects in </a:t>
            </a:r>
            <a:r>
              <a:rPr lang="en-US" dirty="0" err="1" smtClean="0"/>
              <a:t>Git</a:t>
            </a:r>
            <a:r>
              <a:rPr lang="en-US" dirty="0" smtClean="0"/>
              <a:t> Repository after a Commit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</a:t>
            </a:r>
            <a:r>
              <a:rPr lang="en-US" dirty="0"/>
              <a:t>blob for the contents of each of your </a:t>
            </a:r>
            <a:r>
              <a:rPr lang="en-US" dirty="0" smtClean="0"/>
              <a:t>files</a:t>
            </a:r>
          </a:p>
          <a:p>
            <a:r>
              <a:rPr lang="en-US" dirty="0" smtClean="0"/>
              <a:t>one </a:t>
            </a:r>
            <a:r>
              <a:rPr lang="en-US" dirty="0"/>
              <a:t>tree that lists the contents of the directory and specifies which file names are stored as which </a:t>
            </a:r>
            <a:r>
              <a:rPr lang="en-US" dirty="0" smtClean="0"/>
              <a:t>blobs</a:t>
            </a:r>
          </a:p>
          <a:p>
            <a:r>
              <a:rPr lang="en-US" dirty="0" smtClean="0"/>
              <a:t>one </a:t>
            </a:r>
            <a:r>
              <a:rPr lang="en-US" dirty="0"/>
              <a:t>commit with the pointer to that root tree and all the commit metadata.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commit and its </a:t>
            </a:r>
            <a:r>
              <a:rPr lang="en-US" dirty="0" smtClean="0"/>
              <a:t>tree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1606943"/>
            <a:ext cx="7765322" cy="429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Subsequent Commits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78215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effectLst/>
              </a:rPr>
              <a:t>If you make some changes and commit again, the next commit stores a pointer to the commit that came immediately before it</a:t>
            </a:r>
            <a:r>
              <a:rPr lang="en-US" dirty="0" smtClean="0">
                <a:effectLst/>
              </a:rPr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8" y="2667002"/>
            <a:ext cx="8511598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5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branch in </a:t>
            </a:r>
            <a:r>
              <a:rPr lang="en-US" dirty="0" err="1"/>
              <a:t>Git</a:t>
            </a:r>
            <a:r>
              <a:rPr lang="en-US" dirty="0"/>
              <a:t> is simply a lightweight movable pointer to one of these commits.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default branch name in </a:t>
            </a:r>
            <a:r>
              <a:rPr lang="en-US" dirty="0" err="1"/>
              <a:t>Git</a:t>
            </a:r>
            <a:r>
              <a:rPr lang="en-US" dirty="0"/>
              <a:t> is master. </a:t>
            </a:r>
            <a:endParaRPr lang="en-US" dirty="0" smtClean="0"/>
          </a:p>
          <a:p>
            <a:r>
              <a:rPr lang="en-US" dirty="0" smtClean="0"/>
              <a:t>As you </a:t>
            </a:r>
            <a:r>
              <a:rPr lang="en-US" dirty="0"/>
              <a:t>start making commits, you’re given a master branch that points to the last commit you made. </a:t>
            </a:r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/>
              <a:t>time you commit, it moves forward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648200"/>
            <a:ext cx="7772400" cy="92333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The “master” branch in </a:t>
            </a:r>
            <a:r>
              <a:rPr lang="en-US" dirty="0" err="1"/>
              <a:t>Git</a:t>
            </a:r>
            <a:r>
              <a:rPr lang="en-US" dirty="0"/>
              <a:t> is not a special branch. It is exactly like any other branch. The only reason nearly every repository has one is that the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command creates it by default and most people don’t bother to change it.</a:t>
            </a:r>
          </a:p>
        </p:txBody>
      </p:sp>
    </p:spTree>
    <p:extLst>
      <p:ext uri="{BB962C8B-B14F-4D97-AF65-F5344CB8AC3E}">
        <p14:creationId xmlns:p14="http://schemas.microsoft.com/office/powerpoint/2010/main" val="401350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branch and its commit history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1676400"/>
            <a:ext cx="7765322" cy="417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9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New </a:t>
            </a:r>
            <a:r>
              <a:rPr lang="en-US" dirty="0" smtClean="0"/>
              <a:t>Branch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346" y="1611426"/>
            <a:ext cx="7765322" cy="2306150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happens if you create a new </a:t>
            </a:r>
            <a:r>
              <a:rPr lang="en-US" dirty="0" smtClean="0"/>
              <a:t>branch? Doing </a:t>
            </a:r>
            <a:r>
              <a:rPr lang="en-US" dirty="0"/>
              <a:t>so creates a new pointer for you to move around. Let’s say you create a new branch called testing. You do this with the </a:t>
            </a:r>
            <a:r>
              <a:rPr lang="en-US" dirty="0" err="1"/>
              <a:t>git</a:t>
            </a:r>
            <a:r>
              <a:rPr lang="en-US" dirty="0"/>
              <a:t> branch command</a:t>
            </a:r>
            <a:r>
              <a:rPr lang="en-US" dirty="0" smtClean="0"/>
              <a:t>:</a:t>
            </a:r>
            <a:endParaRPr lang="en-US" dirty="0"/>
          </a:p>
          <a:p>
            <a:pPr algn="ctr"/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branch testing</a:t>
            </a:r>
          </a:p>
          <a:p>
            <a:r>
              <a:rPr lang="en-US" dirty="0"/>
              <a:t>This creates a new pointer at the same commit you’re currently 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657600"/>
            <a:ext cx="5892798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1467950"/>
          </a:xfrm>
        </p:spPr>
        <p:txBody>
          <a:bodyPr/>
          <a:lstStyle/>
          <a:p>
            <a:r>
              <a:rPr lang="en-US" dirty="0"/>
              <a:t>How does </a:t>
            </a:r>
            <a:r>
              <a:rPr lang="en-US" dirty="0" err="1"/>
              <a:t>Git</a:t>
            </a:r>
            <a:r>
              <a:rPr lang="en-US" dirty="0"/>
              <a:t> know what branch you’re currently on? It keeps a special pointer called HEAD.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git</a:t>
            </a:r>
            <a:r>
              <a:rPr lang="en-US" dirty="0"/>
              <a:t> branch command only created a new branch – it didn’t switch to that branch.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13" y="3200401"/>
            <a:ext cx="4852988" cy="283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7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easily see this by running a simple </a:t>
            </a:r>
            <a:r>
              <a:rPr lang="en-US" dirty="0" err="1"/>
              <a:t>git</a:t>
            </a:r>
            <a:r>
              <a:rPr lang="en-US" dirty="0"/>
              <a:t> log command that shows you where the branch pointers are pointing. This option is called --decorate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You can see the “master” and “testing” branches that are right there next to the f30ab commit.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71800"/>
            <a:ext cx="7810901" cy="107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Branches</a:t>
            </a:r>
            <a:br>
              <a:rPr lang="en-US" dirty="0"/>
            </a:br>
            <a:r>
              <a:rPr lang="en-US" dirty="0" smtClean="0"/>
              <a:t>(</a:t>
            </a:r>
            <a:r>
              <a:rPr lang="en-US" dirty="0" err="1" smtClean="0"/>
              <a:t>git</a:t>
            </a:r>
            <a:r>
              <a:rPr lang="en-US" dirty="0" smtClean="0"/>
              <a:t> checkout)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switch to an existing branch, you run the </a:t>
            </a:r>
            <a:r>
              <a:rPr lang="en-US" dirty="0" err="1"/>
              <a:t>git</a:t>
            </a:r>
            <a:r>
              <a:rPr lang="en-US" dirty="0"/>
              <a:t> checkout command. Let’s switch to the new testing branch: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</a:t>
            </a:r>
            <a:r>
              <a:rPr lang="en-US" dirty="0" smtClean="0"/>
              <a:t>testing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971800"/>
            <a:ext cx="5350218" cy="3079568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2743200" y="5156095"/>
            <a:ext cx="2514600" cy="635106"/>
          </a:xfrm>
          <a:prstGeom prst="wedgeRectCallout">
            <a:avLst>
              <a:gd name="adj1" fmla="val 91798"/>
              <a:gd name="adj2" fmla="val 5643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Moves </a:t>
            </a:r>
            <a:r>
              <a:rPr lang="en-US" dirty="0"/>
              <a:t>HEAD to point to the testing branch.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7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Subsequent Commits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934550"/>
          </a:xfrm>
        </p:spPr>
        <p:txBody>
          <a:bodyPr/>
          <a:lstStyle/>
          <a:p>
            <a:r>
              <a:rPr lang="en-US" dirty="0" smtClean="0"/>
              <a:t>Do </a:t>
            </a:r>
            <a:r>
              <a:rPr lang="en-US" dirty="0"/>
              <a:t>another commit</a:t>
            </a:r>
            <a:r>
              <a:rPr lang="en-US" dirty="0" smtClean="0"/>
              <a:t>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commit -a -m 'made a change'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02558"/>
            <a:ext cx="7093154" cy="2962275"/>
          </a:xfrm>
          <a:prstGeom prst="rect">
            <a:avLst/>
          </a:prstGeom>
        </p:spPr>
      </p:pic>
      <p:sp>
        <p:nvSpPr>
          <p:cNvPr id="5" name="Rectangular Callout 4"/>
          <p:cNvSpPr/>
          <p:nvPr/>
        </p:nvSpPr>
        <p:spPr>
          <a:xfrm>
            <a:off x="2362200" y="4953000"/>
            <a:ext cx="3505200" cy="635106"/>
          </a:xfrm>
          <a:prstGeom prst="wedgeRectCallout">
            <a:avLst>
              <a:gd name="adj1" fmla="val 91798"/>
              <a:gd name="adj2" fmla="val 5643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HEAD branch moves forward when a commit is made</a:t>
            </a:r>
            <a:endParaRPr lang="en-US" dirty="0"/>
          </a:p>
        </p:txBody>
      </p:sp>
      <p:sp>
        <p:nvSpPr>
          <p:cNvPr id="6" name="Rectangular Callout 5"/>
          <p:cNvSpPr/>
          <p:nvPr/>
        </p:nvSpPr>
        <p:spPr>
          <a:xfrm>
            <a:off x="152400" y="2667001"/>
            <a:ext cx="4419600" cy="685800"/>
          </a:xfrm>
          <a:prstGeom prst="wedgeRectCallout">
            <a:avLst>
              <a:gd name="adj1" fmla="val 64622"/>
              <a:gd name="adj2" fmla="val 4685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Master </a:t>
            </a:r>
            <a:r>
              <a:rPr lang="en-US" dirty="0"/>
              <a:t>branch still points to </a:t>
            </a:r>
            <a:r>
              <a:rPr lang="en-US" dirty="0" smtClean="0"/>
              <a:t>commit when </a:t>
            </a:r>
            <a:r>
              <a:rPr lang="en-US" dirty="0"/>
              <a:t>you ran </a:t>
            </a:r>
            <a:r>
              <a:rPr lang="en-US" dirty="0" err="1"/>
              <a:t>git</a:t>
            </a:r>
            <a:r>
              <a:rPr lang="en-US" dirty="0"/>
              <a:t> checkout to switch branches.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3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Switching Back to Previous Commit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1086949"/>
          </a:xfrm>
        </p:spPr>
        <p:txBody>
          <a:bodyPr/>
          <a:lstStyle/>
          <a:p>
            <a:r>
              <a:rPr lang="en-US" dirty="0" smtClean="0"/>
              <a:t>Switch </a:t>
            </a:r>
            <a:r>
              <a:rPr lang="en-US" dirty="0"/>
              <a:t>back to the master branch</a:t>
            </a:r>
            <a:r>
              <a:rPr lang="en-US" dirty="0" smtClean="0"/>
              <a:t>:</a:t>
            </a:r>
            <a:endParaRPr lang="en-US" dirty="0"/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master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65" y="2743200"/>
            <a:ext cx="7480883" cy="3124200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1600199" y="2971801"/>
            <a:ext cx="2603179" cy="635106"/>
          </a:xfrm>
          <a:prstGeom prst="wedgeRectCallout">
            <a:avLst>
              <a:gd name="adj1" fmla="val 76420"/>
              <a:gd name="adj2" fmla="val -43588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HEAD </a:t>
            </a:r>
            <a:r>
              <a:rPr lang="en-US" dirty="0"/>
              <a:t>branch </a:t>
            </a:r>
            <a:r>
              <a:rPr lang="en-US" dirty="0" smtClean="0"/>
              <a:t>moved back to master.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68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git</a:t>
            </a:r>
            <a:r>
              <a:rPr lang="en-US" dirty="0" smtClean="0"/>
              <a:t> checkout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2534750"/>
          </a:xfrm>
        </p:spPr>
        <p:txBody>
          <a:bodyPr/>
          <a:lstStyle/>
          <a:p>
            <a:r>
              <a:rPr lang="en-US" dirty="0" smtClean="0">
                <a:effectLst/>
              </a:rPr>
              <a:t>Does two </a:t>
            </a:r>
            <a:r>
              <a:rPr lang="en-US" dirty="0">
                <a:effectLst/>
              </a:rPr>
              <a:t>things. </a:t>
            </a:r>
            <a:endParaRPr lang="en-US" dirty="0" smtClean="0">
              <a:effectLst/>
            </a:endParaRPr>
          </a:p>
          <a:p>
            <a:pPr lvl="1"/>
            <a:r>
              <a:rPr lang="en-US" dirty="0" smtClean="0">
                <a:effectLst/>
              </a:rPr>
              <a:t>Moves </a:t>
            </a:r>
            <a:r>
              <a:rPr lang="en-US" dirty="0">
                <a:effectLst/>
              </a:rPr>
              <a:t>HEAD pointer </a:t>
            </a:r>
            <a:r>
              <a:rPr lang="en-US" dirty="0" smtClean="0">
                <a:effectLst/>
              </a:rPr>
              <a:t>to </a:t>
            </a:r>
            <a:r>
              <a:rPr lang="en-US" dirty="0">
                <a:effectLst/>
              </a:rPr>
              <a:t>point to </a:t>
            </a:r>
            <a:r>
              <a:rPr lang="en-US" dirty="0" smtClean="0">
                <a:effectLst/>
              </a:rPr>
              <a:t>branch specified</a:t>
            </a:r>
          </a:p>
          <a:p>
            <a:pPr lvl="1"/>
            <a:r>
              <a:rPr lang="en-US" dirty="0" smtClean="0">
                <a:effectLst/>
              </a:rPr>
              <a:t>Reverts files </a:t>
            </a:r>
            <a:r>
              <a:rPr lang="en-US" dirty="0">
                <a:effectLst/>
              </a:rPr>
              <a:t>in your working directory back to the snapshot </a:t>
            </a:r>
            <a:r>
              <a:rPr lang="en-US" dirty="0" smtClean="0">
                <a:effectLst/>
              </a:rPr>
              <a:t>of that branch.</a:t>
            </a:r>
          </a:p>
          <a:p>
            <a:r>
              <a:rPr lang="en-US" dirty="0" smtClean="0">
                <a:effectLst/>
              </a:rPr>
              <a:t>Changes </a:t>
            </a:r>
            <a:r>
              <a:rPr lang="en-US" dirty="0">
                <a:effectLst/>
              </a:rPr>
              <a:t>you make from this point forward will diverge </a:t>
            </a:r>
            <a:r>
              <a:rPr lang="en-US" dirty="0" smtClean="0">
                <a:effectLst/>
              </a:rPr>
              <a:t>from that  </a:t>
            </a:r>
            <a:r>
              <a:rPr lang="en-US" dirty="0">
                <a:effectLst/>
              </a:rPr>
              <a:t>version of the project. 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3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Switching branches changes files in your working </a:t>
            </a:r>
            <a:r>
              <a:rPr lang="en-US" b="1" dirty="0" smtClean="0">
                <a:effectLst/>
              </a:rPr>
              <a:t>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It’s </a:t>
            </a:r>
            <a:r>
              <a:rPr lang="en-US" dirty="0">
                <a:effectLst/>
              </a:rPr>
              <a:t>important to note that when you switch branches in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, </a:t>
            </a:r>
            <a:r>
              <a:rPr lang="en-US" dirty="0">
                <a:solidFill>
                  <a:srgbClr val="00B0F0"/>
                </a:solidFill>
                <a:effectLst/>
              </a:rPr>
              <a:t>files in your working directory will change. </a:t>
            </a:r>
            <a:endParaRPr lang="en-US" dirty="0" smtClean="0">
              <a:solidFill>
                <a:srgbClr val="00B0F0"/>
              </a:solidFill>
              <a:effectLst/>
            </a:endParaRPr>
          </a:p>
          <a:p>
            <a:pPr fontAlgn="base"/>
            <a:r>
              <a:rPr lang="en-US" dirty="0" smtClean="0">
                <a:effectLst/>
              </a:rPr>
              <a:t>If </a:t>
            </a:r>
            <a:r>
              <a:rPr lang="en-US" dirty="0">
                <a:effectLst/>
              </a:rPr>
              <a:t>you switch to an older branch, your working directory will be reverted to look like it did the last time you committed on that branch.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If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cannot do it cleanly, it will not let you switch at all.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50437" y="4724400"/>
            <a:ext cx="6698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Make sure you commit your current work before switching branches!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12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Make changes </a:t>
            </a:r>
            <a:r>
              <a:rPr lang="en-US" dirty="0"/>
              <a:t>and commit again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commit -a -m 'made other changes'</a:t>
            </a:r>
          </a:p>
          <a:p>
            <a:r>
              <a:rPr lang="en-US" dirty="0"/>
              <a:t>Now your project history has </a:t>
            </a:r>
            <a:r>
              <a:rPr lang="en-US" dirty="0" smtClean="0"/>
              <a:t>diverged. </a:t>
            </a:r>
          </a:p>
          <a:p>
            <a:r>
              <a:rPr lang="en-US" dirty="0" smtClean="0"/>
              <a:t>You </a:t>
            </a:r>
            <a:r>
              <a:rPr lang="en-US" dirty="0"/>
              <a:t>created and switched to a branch, did some work on it, and then switched back to your main branch and did other work. </a:t>
            </a:r>
            <a:endParaRPr lang="en-US" dirty="0" smtClean="0"/>
          </a:p>
          <a:p>
            <a:r>
              <a:rPr lang="en-US" dirty="0" smtClean="0"/>
              <a:t>Both </a:t>
            </a:r>
            <a:r>
              <a:rPr lang="en-US" dirty="0"/>
              <a:t>of those changes are isolated in separate branches: you can switch back and forth between the branches and merge them together when you’re ready.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you did all that with simple branch, checkout, and commit commands.</a:t>
            </a:r>
          </a:p>
        </p:txBody>
      </p:sp>
    </p:spTree>
    <p:extLst>
      <p:ext uri="{BB962C8B-B14F-4D97-AF65-F5344CB8AC3E}">
        <p14:creationId xmlns:p14="http://schemas.microsoft.com/office/powerpoint/2010/main" val="229284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Divergent History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104" y="1828800"/>
            <a:ext cx="677580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3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Divergent History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1696550"/>
          </a:xfrm>
        </p:spPr>
        <p:txBody>
          <a:bodyPr/>
          <a:lstStyle/>
          <a:p>
            <a:r>
              <a:rPr lang="en-US" dirty="0"/>
              <a:t>You can also see this easily with the </a:t>
            </a:r>
            <a:r>
              <a:rPr lang="en-US" dirty="0" err="1"/>
              <a:t>git</a:t>
            </a:r>
            <a:r>
              <a:rPr lang="en-US" dirty="0"/>
              <a:t> log command.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run </a:t>
            </a:r>
            <a:r>
              <a:rPr lang="en-US" dirty="0" err="1"/>
              <a:t>git</a:t>
            </a:r>
            <a:r>
              <a:rPr lang="en-US" dirty="0"/>
              <a:t> log --</a:t>
            </a:r>
            <a:r>
              <a:rPr lang="en-US" dirty="0" err="1"/>
              <a:t>oneline</a:t>
            </a:r>
            <a:r>
              <a:rPr lang="en-US" dirty="0"/>
              <a:t> --decorate --graph --all it will print out the history of your commits, showing where your branch pointers are and how your history has diverged.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8" y="3464860"/>
            <a:ext cx="7600737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0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Branches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branch </a:t>
            </a:r>
            <a:r>
              <a:rPr lang="en-US" dirty="0"/>
              <a:t>in </a:t>
            </a:r>
            <a:r>
              <a:rPr lang="en-US" dirty="0" err="1"/>
              <a:t>Git</a:t>
            </a:r>
            <a:r>
              <a:rPr lang="en-US" dirty="0"/>
              <a:t> is in actuality a simple file that contains the 40 character SHA-1 checksum of the commit it points </a:t>
            </a:r>
            <a:r>
              <a:rPr lang="en-US" dirty="0" smtClean="0"/>
              <a:t>to</a:t>
            </a:r>
          </a:p>
          <a:p>
            <a:r>
              <a:rPr lang="en-US" dirty="0" smtClean="0"/>
              <a:t>Branches </a:t>
            </a:r>
            <a:r>
              <a:rPr lang="en-US" dirty="0"/>
              <a:t>are cheap to create and destroy. </a:t>
            </a:r>
            <a:endParaRPr lang="en-US" dirty="0" smtClean="0"/>
          </a:p>
          <a:p>
            <a:r>
              <a:rPr lang="en-US" dirty="0" smtClean="0"/>
              <a:t>Creating </a:t>
            </a:r>
            <a:r>
              <a:rPr lang="en-US" dirty="0"/>
              <a:t>a new branch is as quick and simple as writing 41 bytes to a file (40 characters and a newline).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5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Older VCS Branching vs 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</a:t>
            </a:r>
            <a:r>
              <a:rPr lang="en-US" dirty="0"/>
              <a:t>older VCS tools branch, which involves copying all of the project’s files into a second directory.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can take several seconds or even minutes, depending on the size of the project</a:t>
            </a:r>
            <a:r>
              <a:rPr lang="en-US" dirty="0" smtClean="0"/>
              <a:t>,</a:t>
            </a:r>
          </a:p>
          <a:p>
            <a:r>
              <a:rPr lang="en-US" dirty="0" smtClean="0"/>
              <a:t>In </a:t>
            </a:r>
            <a:r>
              <a:rPr lang="en-US" dirty="0" err="1"/>
              <a:t>Git</a:t>
            </a:r>
            <a:r>
              <a:rPr lang="en-US" dirty="0"/>
              <a:t> the process is always instantaneous. </a:t>
            </a:r>
            <a:endParaRPr lang="en-US" dirty="0" smtClean="0"/>
          </a:p>
          <a:p>
            <a:r>
              <a:rPr lang="en-US" dirty="0" smtClean="0"/>
              <a:t>Also, because </a:t>
            </a:r>
            <a:r>
              <a:rPr lang="en-US" dirty="0"/>
              <a:t>we’re recording the parents when we commit, finding a proper merge base for merging is automatically done for us and is generally very easy to do.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features help encourage developers to create and use branches often.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51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Basic </a:t>
            </a:r>
            <a:r>
              <a:rPr lang="en-US" dirty="0">
                <a:effectLst/>
              </a:rPr>
              <a:t>Branching and </a:t>
            </a:r>
            <a:r>
              <a:rPr lang="en-US" dirty="0" smtClean="0">
                <a:effectLst/>
              </a:rPr>
              <a:t>Merging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3.2 </a:t>
            </a:r>
            <a:r>
              <a:rPr lang="en-US" dirty="0" err="1">
                <a:effectLst/>
              </a:rPr>
              <a:t>itG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>
                <a:effectLst/>
              </a:rPr>
              <a:t>Basic Branching and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 smtClean="0"/>
              <a:t>Typical workflow:</a:t>
            </a:r>
            <a:endParaRPr lang="en-US" dirty="0"/>
          </a:p>
          <a:p>
            <a:r>
              <a:rPr lang="en-US" dirty="0"/>
              <a:t>Do work on a web site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Create a branch for a new story you’re working 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Do some work in that </a:t>
            </a:r>
            <a:r>
              <a:rPr lang="en-US" dirty="0" smtClean="0"/>
              <a:t>branch.</a:t>
            </a:r>
          </a:p>
          <a:p>
            <a:pPr marL="36900" indent="0" fontAlgn="base">
              <a:buNone/>
            </a:pPr>
            <a:r>
              <a:rPr lang="en-US" dirty="0" smtClean="0">
                <a:effectLst/>
              </a:rPr>
              <a:t>Typical work flow when a change to a previous branch is needed:</a:t>
            </a:r>
          </a:p>
          <a:p>
            <a:pPr fontAlgn="base"/>
            <a:r>
              <a:rPr lang="en-US" dirty="0" smtClean="0">
                <a:effectLst/>
              </a:rPr>
              <a:t>Switch </a:t>
            </a:r>
            <a:r>
              <a:rPr lang="en-US" dirty="0">
                <a:effectLst/>
              </a:rPr>
              <a:t>to your production branch.</a:t>
            </a:r>
          </a:p>
          <a:p>
            <a:pPr fontAlgn="base"/>
            <a:r>
              <a:rPr lang="en-US" dirty="0">
                <a:effectLst/>
              </a:rPr>
              <a:t>Create a branch to add the hotfix.</a:t>
            </a:r>
          </a:p>
          <a:p>
            <a:pPr fontAlgn="base"/>
            <a:r>
              <a:rPr lang="en-US" dirty="0">
                <a:effectLst/>
              </a:rPr>
              <a:t>After it’s tested, merge the hotfix branch, and push to production.</a:t>
            </a:r>
          </a:p>
          <a:p>
            <a:pPr fontAlgn="base"/>
            <a:r>
              <a:rPr lang="en-US" dirty="0">
                <a:effectLst/>
              </a:rPr>
              <a:t>Switch back to your original story and continue working</a:t>
            </a:r>
            <a:r>
              <a:rPr lang="en-US" dirty="0" smtClean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8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782150"/>
          </a:xfrm>
        </p:spPr>
        <p:txBody>
          <a:bodyPr/>
          <a:lstStyle/>
          <a:p>
            <a:r>
              <a:rPr lang="en-US" dirty="0">
                <a:effectLst/>
              </a:rPr>
              <a:t>First, let’s say you’re working on your project and have a couple of commits already.</a:t>
            </a:r>
            <a:endParaRPr lang="en-US" dirty="0"/>
          </a:p>
        </p:txBody>
      </p:sp>
      <p:pic>
        <p:nvPicPr>
          <p:cNvPr id="9218" name="Picture 2" descr="A simple commit history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9400"/>
            <a:ext cx="5969034" cy="173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8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You’ve decided that you’re going to work on issue #53 in whatever issue-tracking system your company uses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create a branch and switch to it at the same time, you can run the </a:t>
            </a:r>
            <a:r>
              <a:rPr lang="en-US" dirty="0" err="1"/>
              <a:t>git</a:t>
            </a:r>
            <a:r>
              <a:rPr lang="en-US" dirty="0"/>
              <a:t> checkout command with the -b switch</a:t>
            </a:r>
            <a:r>
              <a:rPr lang="en-US" dirty="0" smtClean="0"/>
              <a:t>:</a:t>
            </a:r>
            <a:endParaRPr lang="en-US" dirty="0"/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-b iss53</a:t>
            </a:r>
          </a:p>
          <a:p>
            <a:r>
              <a:rPr lang="en-US" dirty="0"/>
              <a:t>Switched to a new branch "iss53"</a:t>
            </a:r>
          </a:p>
          <a:p>
            <a:r>
              <a:rPr lang="en-US" dirty="0"/>
              <a:t>This is shorthand for: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branch iss53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iss53</a:t>
            </a:r>
          </a:p>
        </p:txBody>
      </p:sp>
    </p:spTree>
    <p:extLst>
      <p:ext uri="{BB962C8B-B14F-4D97-AF65-F5344CB8AC3E}">
        <p14:creationId xmlns:p14="http://schemas.microsoft.com/office/powerpoint/2010/main" val="12044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branch pointer</a:t>
            </a:r>
          </a:p>
        </p:txBody>
      </p:sp>
      <p:pic>
        <p:nvPicPr>
          <p:cNvPr id="11266" name="Picture 2" descr="Creating a new branch point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207" y="2286000"/>
            <a:ext cx="5943599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35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 on your web site and do some commits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1239350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dirty="0" err="1"/>
              <a:t>git</a:t>
            </a:r>
            <a:r>
              <a:rPr lang="en-US" dirty="0"/>
              <a:t> commit -a -m 'added a new footer [issue 53</a:t>
            </a:r>
            <a:r>
              <a:rPr lang="en-US" dirty="0" smtClean="0"/>
              <a:t>]‘</a:t>
            </a:r>
          </a:p>
          <a:p>
            <a:r>
              <a:rPr lang="en-US" dirty="0" smtClean="0"/>
              <a:t>Doing </a:t>
            </a:r>
            <a:r>
              <a:rPr lang="en-US" dirty="0"/>
              <a:t>so moves the iss53 branch forward, because you have it checked out (that is, your HEAD is pointing to it</a:t>
            </a:r>
            <a:r>
              <a:rPr lang="en-US" dirty="0" smtClean="0"/>
              <a:t>):</a:t>
            </a:r>
          </a:p>
          <a:p>
            <a:pPr marL="36900" indent="0" algn="ctr">
              <a:buNone/>
            </a:pPr>
            <a:endParaRPr lang="en-US" dirty="0"/>
          </a:p>
        </p:txBody>
      </p:sp>
      <p:pic>
        <p:nvPicPr>
          <p:cNvPr id="12292" name="Picture 4" descr="The iss53 branch has moved forward with your work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0"/>
            <a:ext cx="7369229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0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Scenario: Hot 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you get the call that there is an issue with the web site, and you need to fix it immediately.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 err="1"/>
              <a:t>Git</a:t>
            </a:r>
            <a:r>
              <a:rPr lang="en-US" dirty="0"/>
              <a:t>, you don’t have to deploy your fix along with the iss53 changes you’ve made, and you don’t have to put a lot of effort into reverting those changes before you can work on applying your fix to what is in production.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dirty="0"/>
              <a:t>you have to do is switch back to your master branch.</a:t>
            </a:r>
          </a:p>
        </p:txBody>
      </p:sp>
    </p:spTree>
    <p:extLst>
      <p:ext uri="{BB962C8B-B14F-4D97-AF65-F5344CB8AC3E}">
        <p14:creationId xmlns:p14="http://schemas.microsoft.com/office/powerpoint/2010/main" val="233452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switching </a:t>
            </a:r>
            <a:r>
              <a:rPr lang="en-US" dirty="0" smtClean="0"/>
              <a:t>branches: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</a:t>
            </a:r>
            <a:r>
              <a:rPr lang="en-US" dirty="0"/>
              <a:t>your working directory or staging area has uncommitted changes that conflict with the branch you’re checking out, </a:t>
            </a:r>
            <a:r>
              <a:rPr lang="en-US" dirty="0" err="1"/>
              <a:t>Git</a:t>
            </a:r>
            <a:r>
              <a:rPr lang="en-US" dirty="0"/>
              <a:t> won’t let you switch branches. </a:t>
            </a:r>
            <a:endParaRPr lang="en-US" dirty="0" smtClean="0"/>
          </a:p>
          <a:p>
            <a:r>
              <a:rPr lang="en-US" dirty="0" smtClean="0"/>
              <a:t>It’s </a:t>
            </a:r>
            <a:r>
              <a:rPr lang="en-US" dirty="0"/>
              <a:t>best to have a clean working state when you switch branches. </a:t>
            </a:r>
            <a:endParaRPr lang="en-US" dirty="0" smtClean="0"/>
          </a:p>
          <a:p>
            <a:r>
              <a:rPr lang="en-US" dirty="0" smtClean="0"/>
              <a:t>Commit </a:t>
            </a:r>
            <a:r>
              <a:rPr lang="en-US" dirty="0"/>
              <a:t>all your changes, so you can switch back to your master branch: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commit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</a:t>
            </a:r>
            <a:r>
              <a:rPr lang="en-US" dirty="0" smtClean="0"/>
              <a:t>master</a:t>
            </a:r>
          </a:p>
          <a:p>
            <a:r>
              <a:rPr lang="en-US" dirty="0" smtClean="0">
                <a:effectLst/>
              </a:rPr>
              <a:t>Project </a:t>
            </a:r>
            <a:r>
              <a:rPr lang="en-US" dirty="0">
                <a:effectLst/>
              </a:rPr>
              <a:t>working directory is exactly the way it was before you started working on issue #53, and you can concentrate on your hotfix. </a:t>
            </a: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738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Important </a:t>
            </a:r>
            <a:r>
              <a:rPr lang="en-US" dirty="0">
                <a:effectLst/>
              </a:rPr>
              <a:t>point to remember: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When you </a:t>
            </a:r>
            <a:r>
              <a:rPr lang="en-US" dirty="0">
                <a:effectLst/>
              </a:rPr>
              <a:t>switch branches,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resets your working directory to look like it did the last time you committed on that branch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It </a:t>
            </a:r>
            <a:r>
              <a:rPr lang="en-US" dirty="0">
                <a:effectLst/>
              </a:rPr>
              <a:t>adds, removes, and modifies files automatically to make sure your working copy is what the branch looked like on your last commit to it.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6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Hotfix branch based on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2153749"/>
          </a:xfrm>
        </p:spPr>
        <p:txBody>
          <a:bodyPr/>
          <a:lstStyle/>
          <a:p>
            <a:r>
              <a:rPr lang="en-US" dirty="0"/>
              <a:t>Next, you have a hotfix to make. Let’s create a hotfix branch on which to work until it’s completed: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-b hotfix</a:t>
            </a:r>
          </a:p>
          <a:p>
            <a:r>
              <a:rPr lang="en-US" dirty="0" smtClean="0"/>
              <a:t>Make changes then commit the changes in the hotfix branch: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commit -a -m 'fixed the broken email address</a:t>
            </a:r>
            <a:r>
              <a:rPr lang="en-US" dirty="0" smtClean="0"/>
              <a:t>'</a:t>
            </a:r>
            <a:endParaRPr lang="en-US" dirty="0"/>
          </a:p>
        </p:txBody>
      </p:sp>
      <p:pic>
        <p:nvPicPr>
          <p:cNvPr id="15363" name="Picture 3" descr="Hotfix branch based on `master`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0"/>
            <a:ext cx="5021348" cy="240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smtClean="0">
                <a:ln>
                  <a:noFill/>
                </a:ln>
                <a:solidFill>
                  <a:srgbClr val="4E4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Hotfix branch based on </a:t>
            </a:r>
            <a:r>
              <a:rPr kumimoji="0" lang="en-US" altLang="en-US" sz="1000" b="0" i="1" u="none" strike="noStrike" cap="none" normalizeH="0" baseline="0" smtClean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kumimoji="0" lang="en-US" altLang="en-US" sz="5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6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can run your tests, make sure the hotfix is what you want, and merge it back into your master branch to deploy to production. You do this with the </a:t>
            </a:r>
            <a:r>
              <a:rPr lang="en-US" dirty="0" err="1"/>
              <a:t>git</a:t>
            </a:r>
            <a:r>
              <a:rPr lang="en-US" dirty="0"/>
              <a:t> merge command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fontAlgn="base"/>
            <a:r>
              <a:rPr lang="en-US" dirty="0">
                <a:effectLst/>
              </a:rPr>
              <a:t>You’ll notice the phrase “fast-forward” in that merge.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Because </a:t>
            </a:r>
            <a:r>
              <a:rPr lang="en-US" dirty="0">
                <a:effectLst/>
              </a:rPr>
              <a:t>the commit pointed to by the branch you merged in was directly upstream of the commit you’re on,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simply moves the pointer </a:t>
            </a:r>
            <a:r>
              <a:rPr lang="en-US" dirty="0" smtClean="0">
                <a:effectLst/>
              </a:rPr>
              <a:t>forward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8" y="2667000"/>
            <a:ext cx="3827398" cy="1676400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381000" y="2667000"/>
            <a:ext cx="2209799" cy="847165"/>
          </a:xfrm>
          <a:prstGeom prst="wedgeRectCallout">
            <a:avLst>
              <a:gd name="adj1" fmla="val 59110"/>
              <a:gd name="adj2" fmla="val -25331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First switch to branch to merge into.</a:t>
            </a:r>
            <a:endParaRPr lang="en-US" dirty="0"/>
          </a:p>
        </p:txBody>
      </p:sp>
      <p:sp>
        <p:nvSpPr>
          <p:cNvPr id="8" name="Rectangular Callout 7"/>
          <p:cNvSpPr/>
          <p:nvPr/>
        </p:nvSpPr>
        <p:spPr>
          <a:xfrm>
            <a:off x="6545215" y="2743200"/>
            <a:ext cx="2209800" cy="1524000"/>
          </a:xfrm>
          <a:prstGeom prst="wedgeRectCallout">
            <a:avLst>
              <a:gd name="adj1" fmla="val -123750"/>
              <a:gd name="adj2" fmla="val -25316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Second execute merge command specifying branch to merge into current branch.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8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</a:t>
            </a:r>
            <a:r>
              <a:rPr lang="en-US" dirty="0"/>
              <a:t>is fast-forwarded to hotfix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658" y="1752600"/>
            <a:ext cx="7765322" cy="858350"/>
          </a:xfrm>
        </p:spPr>
        <p:txBody>
          <a:bodyPr/>
          <a:lstStyle/>
          <a:p>
            <a:r>
              <a:rPr lang="en-US" dirty="0"/>
              <a:t>Your change is now in the snapshot of the commit pointed to by the master branch, and you can deploy the fix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14600"/>
            <a:ext cx="5797550" cy="34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7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Branches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3906350"/>
          </a:xfrm>
        </p:spPr>
        <p:txBody>
          <a:bodyPr/>
          <a:lstStyle/>
          <a:p>
            <a:r>
              <a:rPr lang="en-US" dirty="0"/>
              <a:t>After your super-important fix is deployed, you’re ready to switch back to the work you were doing before you were interrupted.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first you’ll delete the hotfix branch, because you no longer need it – the master branch points at the same place.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delete it with the -d option to </a:t>
            </a:r>
            <a:r>
              <a:rPr lang="en-US" dirty="0" err="1"/>
              <a:t>git</a:t>
            </a:r>
            <a:r>
              <a:rPr lang="en-US" dirty="0"/>
              <a:t> branch: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06" y="3810000"/>
            <a:ext cx="4419601" cy="73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7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continues on iss53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Switch </a:t>
            </a:r>
            <a:r>
              <a:rPr lang="en-US" dirty="0">
                <a:effectLst/>
              </a:rPr>
              <a:t>back to </a:t>
            </a:r>
            <a:r>
              <a:rPr lang="en-US" dirty="0" smtClean="0">
                <a:effectLst/>
              </a:rPr>
              <a:t>work-in-progress </a:t>
            </a:r>
            <a:r>
              <a:rPr lang="en-US" dirty="0">
                <a:effectLst/>
              </a:rPr>
              <a:t>branch on issue #</a:t>
            </a:r>
            <a:r>
              <a:rPr lang="en-US" dirty="0" smtClean="0">
                <a:effectLst/>
              </a:rPr>
              <a:t>53: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checkout iss53</a:t>
            </a:r>
          </a:p>
          <a:p>
            <a:r>
              <a:rPr lang="en-US" dirty="0" smtClean="0"/>
              <a:t>Complete issue 53 then commit the change:</a:t>
            </a:r>
            <a:endParaRPr lang="en-US" dirty="0"/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commit -a -m 'finished the new footer [issue 53</a:t>
            </a:r>
            <a:r>
              <a:rPr lang="en-US" dirty="0" smtClean="0"/>
              <a:t>]'</a:t>
            </a:r>
            <a:endParaRPr lang="en-US" dirty="0"/>
          </a:p>
        </p:txBody>
      </p:sp>
      <p:pic>
        <p:nvPicPr>
          <p:cNvPr id="18435" name="Picture 3" descr="Work continues on `iss53`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6705600" cy="319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38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Merge Hotfix or Not?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worth noting here that the work you did in your hotfix branch is not contained in the files in your iss53 branch.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need to pull it in, you can merge your master branch into your iss53 branch by running </a:t>
            </a:r>
            <a:r>
              <a:rPr lang="en-US" dirty="0" err="1"/>
              <a:t>git</a:t>
            </a:r>
            <a:r>
              <a:rPr lang="en-US" dirty="0"/>
              <a:t> merge master, or you can wait to integrate those changes until you decide to pull the iss53 branch back into master later.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09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snapshots used in a </a:t>
            </a:r>
            <a:r>
              <a:rPr lang="en-US" dirty="0" smtClean="0"/>
              <a:t>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you’ve decided that your issue #53 work is complete and ready to be merged into your master branch. </a:t>
            </a:r>
            <a:endParaRPr lang="en-US" dirty="0" smtClean="0"/>
          </a:p>
          <a:p>
            <a:pPr marL="36900" indent="0" algn="ctr">
              <a:buNone/>
            </a:pPr>
            <a:r>
              <a:rPr lang="en-US" dirty="0" err="1"/>
              <a:t>git</a:t>
            </a:r>
            <a:r>
              <a:rPr lang="en-US" dirty="0"/>
              <a:t> checkout master</a:t>
            </a:r>
          </a:p>
          <a:p>
            <a:pPr marL="36900" indent="0" algn="ctr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merge iss53</a:t>
            </a:r>
          </a:p>
        </p:txBody>
      </p:sp>
      <p:pic>
        <p:nvPicPr>
          <p:cNvPr id="19459" name="Picture 3" descr="Three snapshots used in a typical merge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43200"/>
            <a:ext cx="6980986" cy="332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ular Callout 6"/>
          <p:cNvSpPr/>
          <p:nvPr/>
        </p:nvSpPr>
        <p:spPr>
          <a:xfrm>
            <a:off x="1905000" y="3657600"/>
            <a:ext cx="2209799" cy="381000"/>
          </a:xfrm>
          <a:prstGeom prst="wedgeRectCallout">
            <a:avLst>
              <a:gd name="adj1" fmla="val 62153"/>
              <a:gd name="adj2" fmla="val 9114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Common Ancestor</a:t>
            </a:r>
            <a:endParaRPr lang="en-US" dirty="0"/>
          </a:p>
        </p:txBody>
      </p:sp>
      <p:sp>
        <p:nvSpPr>
          <p:cNvPr id="8" name="Rectangular Callout 7"/>
          <p:cNvSpPr/>
          <p:nvPr/>
        </p:nvSpPr>
        <p:spPr>
          <a:xfrm>
            <a:off x="6813881" y="3200400"/>
            <a:ext cx="1491920" cy="656665"/>
          </a:xfrm>
          <a:prstGeom prst="wedgeRectCallout">
            <a:avLst>
              <a:gd name="adj1" fmla="val -57273"/>
              <a:gd name="adj2" fmla="val 10752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Snapshot to merge into.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7509712" y="3985932"/>
            <a:ext cx="1491920" cy="656665"/>
          </a:xfrm>
          <a:prstGeom prst="wedgeRectCallout">
            <a:avLst>
              <a:gd name="adj1" fmla="val -47809"/>
              <a:gd name="adj2" fmla="val 81925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Snapshot to merge from.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69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merge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Instead of just moving the branch pointer forward, </a:t>
            </a:r>
            <a:r>
              <a:rPr lang="en-US" dirty="0" err="1"/>
              <a:t>Git</a:t>
            </a:r>
            <a:r>
              <a:rPr lang="en-US" dirty="0"/>
              <a:t> creates a new snapshot that results from this three-way merge and automatically creates a new commit that points to it.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is referred to as a merge commit, and is special in that it has more than one parent.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53" y="2514600"/>
            <a:ext cx="6376000" cy="251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 Ancestor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determines the best common ancestor to use for its merge </a:t>
            </a:r>
            <a:r>
              <a:rPr lang="en-US" dirty="0" smtClean="0"/>
              <a:t>base </a:t>
            </a:r>
          </a:p>
          <a:p>
            <a:r>
              <a:rPr lang="en-US" dirty="0" smtClean="0"/>
              <a:t>This </a:t>
            </a:r>
            <a:r>
              <a:rPr lang="en-US" dirty="0"/>
              <a:t>is different than older tools like CVS or Subversion (before version 1.5), where the developer doing the merge had to figure out the best merge base for themselves.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makes merging a heck of a lot easier in </a:t>
            </a:r>
            <a:r>
              <a:rPr lang="en-US" dirty="0" err="1"/>
              <a:t>Git</a:t>
            </a:r>
            <a:r>
              <a:rPr lang="en-US" dirty="0"/>
              <a:t> than in these other systems.</a:t>
            </a:r>
          </a:p>
        </p:txBody>
      </p:sp>
    </p:spTree>
    <p:extLst>
      <p:ext uri="{BB962C8B-B14F-4D97-AF65-F5344CB8AC3E}">
        <p14:creationId xmlns:p14="http://schemas.microsoft.com/office/powerpoint/2010/main" val="67142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Occasionally, this process doesn’t go smoothly.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changed the same part of the same file differently in the two branches you’re merging together, </a:t>
            </a:r>
            <a:r>
              <a:rPr lang="en-US" dirty="0" err="1"/>
              <a:t>Git</a:t>
            </a:r>
            <a:r>
              <a:rPr lang="en-US" dirty="0"/>
              <a:t> won’t be able to merge them cleanly.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your fix for issue #53 modified the same part of a file as the hotfix, you’ll get a merge conflict that looks something like this: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44" y="4114800"/>
            <a:ext cx="74373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6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hasn’t automatically created a new merge commit. It has paused the process while you resolve the conflict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you want to see which files are unmerged at any point after a merge conflict, you can run </a:t>
            </a:r>
            <a:r>
              <a:rPr lang="en-US" dirty="0" err="1"/>
              <a:t>git</a:t>
            </a:r>
            <a:r>
              <a:rPr lang="en-US" dirty="0"/>
              <a:t> status: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33" y="3276600"/>
            <a:ext cx="7357947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8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Anything that has merge conflicts and hasn’t been resolved is listed as unmerged. </a:t>
            </a:r>
            <a:endParaRPr lang="en-US" dirty="0" smtClean="0"/>
          </a:p>
          <a:p>
            <a:r>
              <a:rPr lang="en-US" dirty="0" smtClean="0"/>
              <a:t>Standard </a:t>
            </a:r>
            <a:r>
              <a:rPr lang="en-US" dirty="0"/>
              <a:t>conflict-resolution markers to the files that have conflicts, so you can open them manually and resolve those conflicts. </a:t>
            </a:r>
            <a:endParaRPr lang="en-US" dirty="0" smtClean="0"/>
          </a:p>
          <a:p>
            <a:r>
              <a:rPr lang="en-US" dirty="0" smtClean="0"/>
              <a:t>Your </a:t>
            </a:r>
            <a:r>
              <a:rPr lang="en-US" dirty="0"/>
              <a:t>file contains a section that looks something like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19" y="3786478"/>
            <a:ext cx="7531975" cy="1981200"/>
          </a:xfrm>
          <a:prstGeom prst="rect">
            <a:avLst/>
          </a:prstGeom>
        </p:spPr>
      </p:pic>
      <p:sp>
        <p:nvSpPr>
          <p:cNvPr id="5" name="Rectangular Callout 4"/>
          <p:cNvSpPr/>
          <p:nvPr/>
        </p:nvSpPr>
        <p:spPr>
          <a:xfrm>
            <a:off x="4876799" y="3715891"/>
            <a:ext cx="3690541" cy="351865"/>
          </a:xfrm>
          <a:prstGeom prst="wedgeRectCallout">
            <a:avLst>
              <a:gd name="adj1" fmla="val -82110"/>
              <a:gd name="adj2" fmla="val 75038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Version </a:t>
            </a:r>
            <a:r>
              <a:rPr lang="en-US" dirty="0"/>
              <a:t>in </a:t>
            </a:r>
            <a:r>
              <a:rPr lang="en-US" dirty="0" smtClean="0"/>
              <a:t>HEAD (Master Branch).</a:t>
            </a:r>
            <a:endParaRPr lang="en-US" dirty="0"/>
          </a:p>
        </p:txBody>
      </p:sp>
      <p:sp>
        <p:nvSpPr>
          <p:cNvPr id="6" name="Rectangular Callout 5"/>
          <p:cNvSpPr/>
          <p:nvPr/>
        </p:nvSpPr>
        <p:spPr>
          <a:xfrm>
            <a:off x="4818463" y="4425213"/>
            <a:ext cx="3690541" cy="351865"/>
          </a:xfrm>
          <a:prstGeom prst="wedgeRectCallout">
            <a:avLst>
              <a:gd name="adj1" fmla="val -82110"/>
              <a:gd name="adj2" fmla="val 75038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Version </a:t>
            </a:r>
            <a:r>
              <a:rPr lang="en-US" dirty="0"/>
              <a:t>in </a:t>
            </a:r>
            <a:r>
              <a:rPr lang="en-US" dirty="0" smtClean="0"/>
              <a:t>iss53 Branch.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59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Merge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you’ve resolved each of these sections in each conflicted file, run </a:t>
            </a:r>
            <a:r>
              <a:rPr lang="en-US" dirty="0" err="1"/>
              <a:t>git</a:t>
            </a:r>
            <a:r>
              <a:rPr lang="en-US" dirty="0"/>
              <a:t> add on each file to mark it as resolved. </a:t>
            </a:r>
            <a:endParaRPr lang="en-US" dirty="0" smtClean="0"/>
          </a:p>
          <a:p>
            <a:r>
              <a:rPr lang="en-US" dirty="0" smtClean="0"/>
              <a:t>Staging </a:t>
            </a:r>
            <a:r>
              <a:rPr lang="en-US" dirty="0"/>
              <a:t>the file marks it as resolved in </a:t>
            </a:r>
            <a:r>
              <a:rPr lang="en-US" dirty="0" err="1"/>
              <a:t>Git</a:t>
            </a:r>
            <a:r>
              <a:rPr lang="en-US" dirty="0" smtClean="0"/>
              <a:t>.</a:t>
            </a:r>
          </a:p>
          <a:p>
            <a:r>
              <a:rPr lang="en-US" dirty="0"/>
              <a:t>You can run </a:t>
            </a:r>
            <a:r>
              <a:rPr lang="en-US" dirty="0" err="1"/>
              <a:t>git</a:t>
            </a:r>
            <a:r>
              <a:rPr lang="en-US" dirty="0"/>
              <a:t> status again to verify that all conflicts have been resolved: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737172"/>
            <a:ext cx="5504210" cy="220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4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smtClean="0"/>
              <a:t>everything </a:t>
            </a:r>
            <a:r>
              <a:rPr lang="en-US" dirty="0"/>
              <a:t>that had conflicts has been staged, you can type </a:t>
            </a:r>
            <a:r>
              <a:rPr lang="en-US" dirty="0" err="1"/>
              <a:t>git</a:t>
            </a:r>
            <a:r>
              <a:rPr lang="en-US" dirty="0"/>
              <a:t> commit to finalize the merge commit. </a:t>
            </a:r>
            <a:r>
              <a:rPr lang="en-US" dirty="0" smtClean="0"/>
              <a:t>The </a:t>
            </a:r>
            <a:r>
              <a:rPr lang="en-US" dirty="0"/>
              <a:t>commit message by default looks something like this: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96700"/>
            <a:ext cx="5410200" cy="3348914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6172201" y="3200400"/>
            <a:ext cx="2514600" cy="1270757"/>
          </a:xfrm>
          <a:prstGeom prst="wedgeRectCallout">
            <a:avLst>
              <a:gd name="adj1" fmla="val -93637"/>
              <a:gd name="adj2" fmla="val 40863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Add details </a:t>
            </a:r>
            <a:r>
              <a:rPr lang="en-US" dirty="0"/>
              <a:t>about how you resolved the </a:t>
            </a:r>
            <a:r>
              <a:rPr lang="en-US" dirty="0" smtClean="0"/>
              <a:t>merge – </a:t>
            </a:r>
            <a:r>
              <a:rPr lang="en-US" dirty="0"/>
              <a:t>why you did what you did, if it’s not obvious.</a:t>
            </a:r>
          </a:p>
        </p:txBody>
      </p:sp>
    </p:spTree>
    <p:extLst>
      <p:ext uri="{BB962C8B-B14F-4D97-AF65-F5344CB8AC3E}">
        <p14:creationId xmlns:p14="http://schemas.microsoft.com/office/powerpoint/2010/main" val="341030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 </a:t>
            </a:r>
            <a:r>
              <a:rPr lang="en-US" dirty="0"/>
              <a:t>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smtClean="0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Branch </a:t>
            </a:r>
            <a:r>
              <a:rPr lang="en-US" b="1" dirty="0" smtClean="0">
                <a:effectLst/>
              </a:rPr>
              <a:t>Management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Now </a:t>
            </a:r>
            <a:r>
              <a:rPr lang="en-US" dirty="0">
                <a:effectLst/>
              </a:rPr>
              <a:t>that you’ve created, merged, and deleted some branches, let’s look at some branch-management tools that will come in handy when you begin using branches all the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6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branch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git</a:t>
            </a:r>
            <a:r>
              <a:rPr lang="en-US" dirty="0"/>
              <a:t> branch command does more than just create and delete branches.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run it with no arguments, you get a simple listing of your current branches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Notice the * character that prefixes the master branch: it indicates the branch that you currently have checked out (i.e., the branch that HEAD points to).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if you commit at this point, the master branch will be moved forward with your new work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048000"/>
            <a:ext cx="5257800" cy="10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4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branch -v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see the last commit on each branch, you can run </a:t>
            </a:r>
            <a:r>
              <a:rPr lang="en-US" dirty="0" err="1"/>
              <a:t>git</a:t>
            </a:r>
            <a:r>
              <a:rPr lang="en-US" dirty="0"/>
              <a:t> branch -v: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30" y="2362200"/>
            <a:ext cx="7168353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1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branch --merged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--</a:t>
            </a:r>
            <a:r>
              <a:rPr lang="en-US" dirty="0"/>
              <a:t>merged </a:t>
            </a:r>
            <a:r>
              <a:rPr lang="en-US" dirty="0" smtClean="0"/>
              <a:t>option </a:t>
            </a:r>
            <a:r>
              <a:rPr lang="en-US" dirty="0"/>
              <a:t>can filter this list to branches that you have </a:t>
            </a:r>
            <a:r>
              <a:rPr lang="en-US" dirty="0" smtClean="0"/>
              <a:t>merged </a:t>
            </a:r>
            <a:r>
              <a:rPr lang="en-US" dirty="0"/>
              <a:t>into the branch you’re currently on.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see which branches are already merged into the branch you’re on, you can run </a:t>
            </a:r>
            <a:r>
              <a:rPr lang="en-US" dirty="0" err="1"/>
              <a:t>git</a:t>
            </a:r>
            <a:r>
              <a:rPr lang="en-US" dirty="0"/>
              <a:t> branch --merged: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40" y="3581400"/>
            <a:ext cx="6445734" cy="120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3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branch –no-merged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see all the branches that contain work you haven’t yet merged in, you can run </a:t>
            </a:r>
            <a:r>
              <a:rPr lang="en-US" dirty="0" err="1"/>
              <a:t>git</a:t>
            </a:r>
            <a:r>
              <a:rPr lang="en-US" dirty="0"/>
              <a:t> branch --no-merged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This shows your other branch. Because it contains work that isn’t merged in yet, trying to delete it with </a:t>
            </a:r>
            <a:r>
              <a:rPr lang="en-US" dirty="0" err="1"/>
              <a:t>git</a:t>
            </a:r>
            <a:r>
              <a:rPr lang="en-US" dirty="0"/>
              <a:t> branch -d will fail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If you really do want to delete the branch and lose that work, you can force it with -D, as the helpful message points out.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865" y="2514600"/>
            <a:ext cx="5116284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68" y="4151398"/>
            <a:ext cx="7179278" cy="76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Branching </a:t>
            </a:r>
            <a:r>
              <a:rPr lang="en-US" dirty="0"/>
              <a:t>Workflows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smtClean="0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19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you have the basics of branching and merging down, what can or should you do with them?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section, we’ll cover some common workflows that this lightweight branching makes possible, so you can decide if you would like to incorporate it into your own development cycle.</a:t>
            </a:r>
          </a:p>
        </p:txBody>
      </p:sp>
    </p:spTree>
    <p:extLst>
      <p:ext uri="{BB962C8B-B14F-4D97-AF65-F5344CB8AC3E}">
        <p14:creationId xmlns:p14="http://schemas.microsoft.com/office/powerpoint/2010/main" val="298102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Long-Running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You </a:t>
            </a:r>
            <a:r>
              <a:rPr lang="en-US" dirty="0"/>
              <a:t>can have several branches that are always open and that you use for different stages of your development cycle; you can merge regularly from some of them into others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Master branch only has </a:t>
            </a:r>
            <a:r>
              <a:rPr lang="en-US" dirty="0"/>
              <a:t>code that is entirely stable </a:t>
            </a:r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evelop branch isn’t </a:t>
            </a:r>
            <a:r>
              <a:rPr lang="en-US" dirty="0"/>
              <a:t>necessarily always stable, but whenever it gets to a stable state, it can be merged into master. </a:t>
            </a:r>
            <a:endParaRPr lang="en-US" dirty="0" smtClean="0"/>
          </a:p>
          <a:p>
            <a:r>
              <a:rPr lang="en-US" dirty="0" smtClean="0"/>
              <a:t>Develop branch is used </a:t>
            </a:r>
            <a:r>
              <a:rPr lang="en-US" dirty="0"/>
              <a:t>to pull in topic branches (short-lived branches, like your earlier iss53 branch) when they’re ready, to make sure they pass all the tests and don’t introduce bugs.</a:t>
            </a:r>
          </a:p>
        </p:txBody>
      </p:sp>
    </p:spTree>
    <p:extLst>
      <p:ext uri="{BB962C8B-B14F-4D97-AF65-F5344CB8AC3E}">
        <p14:creationId xmlns:p14="http://schemas.microsoft.com/office/powerpoint/2010/main" val="224184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linear view of progressive-stability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1696549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In reality, we’re talking about pointers moving up the line of commits you’re making.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stable branches are farther down the line in your commit history, and the bleeding-edge branches are farther up the history.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8234043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“silo” view of progressive-stability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858350"/>
          </a:xfrm>
        </p:spPr>
        <p:txBody>
          <a:bodyPr/>
          <a:lstStyle/>
          <a:p>
            <a:r>
              <a:rPr lang="en-US" dirty="0"/>
              <a:t>It’s generally easier to think about them as work silos, where sets of commits graduate to a more stable silo when they’re fully tested.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90801"/>
            <a:ext cx="7318576" cy="26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1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Long-Running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keep doing this for several levels of stability.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larger projects also have a proposed or </a:t>
            </a:r>
            <a:r>
              <a:rPr lang="en-US" dirty="0" err="1"/>
              <a:t>pu</a:t>
            </a:r>
            <a:r>
              <a:rPr lang="en-US" dirty="0"/>
              <a:t> (proposed updates) branch that has integrated branches that may not be ready to go into the next or master branch.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is that your branches are at various levels of stability; when they reach a more stable level, they’re merged into the branch above them. </a:t>
            </a:r>
            <a:endParaRPr lang="en-US" dirty="0" smtClean="0"/>
          </a:p>
          <a:p>
            <a:r>
              <a:rPr lang="en-US" dirty="0" smtClean="0"/>
              <a:t>Again</a:t>
            </a:r>
            <a:r>
              <a:rPr lang="en-US" dirty="0"/>
              <a:t>, having multiple long-running branches isn’t necessary, but it’s often helpful, especially when you’re dealing with very large or complex projects.</a:t>
            </a:r>
          </a:p>
        </p:txBody>
      </p:sp>
    </p:spTree>
    <p:extLst>
      <p:ext uri="{BB962C8B-B14F-4D97-AF65-F5344CB8AC3E}">
        <p14:creationId xmlns:p14="http://schemas.microsoft.com/office/powerpoint/2010/main" val="199014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a</a:t>
            </a:r>
            <a:r>
              <a:rPr lang="en-US" dirty="0" smtClean="0"/>
              <a:t> </a:t>
            </a:r>
            <a:r>
              <a:rPr lang="en-US" dirty="0"/>
              <a:t>short-lived branch that you create and use for a single particular feature or related work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You complete a </a:t>
            </a:r>
            <a:r>
              <a:rPr lang="en-US" dirty="0"/>
              <a:t>few commits on them and deleted them directly after merging them into your main branch.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keep the changes there for minutes, days, or months, and merge them in when they’re </a:t>
            </a:r>
            <a:r>
              <a:rPr lang="en-US" dirty="0" smtClean="0"/>
              <a:t>ready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62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an example of doing some work (on master), </a:t>
            </a:r>
            <a:endParaRPr lang="en-US" dirty="0" smtClean="0"/>
          </a:p>
          <a:p>
            <a:r>
              <a:rPr lang="en-US" dirty="0" smtClean="0"/>
              <a:t>Branching </a:t>
            </a:r>
            <a:r>
              <a:rPr lang="en-US" dirty="0"/>
              <a:t>off for an issue (iss91), working on it for a </a:t>
            </a:r>
            <a:r>
              <a:rPr lang="en-US" dirty="0" smtClean="0"/>
              <a:t>bit</a:t>
            </a:r>
          </a:p>
          <a:p>
            <a:r>
              <a:rPr lang="en-US" dirty="0" smtClean="0"/>
              <a:t>Branching </a:t>
            </a:r>
            <a:r>
              <a:rPr lang="en-US" dirty="0"/>
              <a:t>off the second branch to try another way of handling the same thing (iss91v2</a:t>
            </a:r>
            <a:r>
              <a:rPr lang="en-US" dirty="0" smtClean="0"/>
              <a:t>),</a:t>
            </a:r>
          </a:p>
          <a:p>
            <a:r>
              <a:rPr lang="en-US" dirty="0" smtClean="0"/>
              <a:t>Going </a:t>
            </a:r>
            <a:r>
              <a:rPr lang="en-US" dirty="0"/>
              <a:t>back to your master branch and working there for a while, </a:t>
            </a:r>
            <a:endParaRPr lang="en-US" dirty="0" smtClean="0"/>
          </a:p>
          <a:p>
            <a:r>
              <a:rPr lang="en-US" dirty="0" smtClean="0"/>
              <a:t>Branching </a:t>
            </a:r>
            <a:r>
              <a:rPr lang="en-US" dirty="0"/>
              <a:t>off there to do some work that you’re not sure is a good idea (</a:t>
            </a:r>
            <a:r>
              <a:rPr lang="en-US" dirty="0" err="1"/>
              <a:t>dumbidea</a:t>
            </a:r>
            <a:r>
              <a:rPr lang="en-US" dirty="0"/>
              <a:t> branch). </a:t>
            </a:r>
          </a:p>
        </p:txBody>
      </p:sp>
    </p:spTree>
    <p:extLst>
      <p:ext uri="{BB962C8B-B14F-4D97-AF65-F5344CB8AC3E}">
        <p14:creationId xmlns:p14="http://schemas.microsoft.com/office/powerpoint/2010/main" val="73538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topic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477350"/>
          </a:xfrm>
        </p:spPr>
        <p:txBody>
          <a:bodyPr/>
          <a:lstStyle/>
          <a:p>
            <a:r>
              <a:rPr lang="en-US" dirty="0"/>
              <a:t>Your commit history will look something like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205807" y="2209801"/>
            <a:ext cx="4724400" cy="37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4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decide </a:t>
            </a:r>
            <a:r>
              <a:rPr lang="en-US" dirty="0"/>
              <a:t>you like the second solution to your issue best (iss91v2</a:t>
            </a:r>
            <a:r>
              <a:rPr lang="en-US" dirty="0" smtClean="0"/>
              <a:t>)</a:t>
            </a:r>
          </a:p>
          <a:p>
            <a:r>
              <a:rPr lang="en-US" dirty="0" smtClean="0"/>
              <a:t>You </a:t>
            </a:r>
            <a:r>
              <a:rPr lang="en-US" dirty="0"/>
              <a:t>showed the </a:t>
            </a:r>
            <a:r>
              <a:rPr lang="en-US" dirty="0" err="1"/>
              <a:t>dumbidea</a:t>
            </a:r>
            <a:r>
              <a:rPr lang="en-US" dirty="0"/>
              <a:t> branch to your coworkers, and it turns out to be genius</a:t>
            </a:r>
            <a:r>
              <a:rPr lang="en-US" dirty="0" smtClean="0"/>
              <a:t>.</a:t>
            </a:r>
          </a:p>
          <a:p>
            <a:r>
              <a:rPr lang="en-US" dirty="0" smtClean="0"/>
              <a:t>You </a:t>
            </a:r>
            <a:r>
              <a:rPr lang="en-US" dirty="0"/>
              <a:t>can throw away the original iss91 branch (losing commits C5 and C6) and merge in the other two. </a:t>
            </a:r>
          </a:p>
        </p:txBody>
      </p:sp>
    </p:spTree>
    <p:extLst>
      <p:ext uri="{BB962C8B-B14F-4D97-AF65-F5344CB8AC3E}">
        <p14:creationId xmlns:p14="http://schemas.microsoft.com/office/powerpoint/2010/main" val="125528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 after merging </a:t>
            </a:r>
            <a:r>
              <a:rPr lang="en-US" dirty="0" err="1"/>
              <a:t>dumbidea</a:t>
            </a:r>
            <a:r>
              <a:rPr lang="en-US" dirty="0"/>
              <a:t> and iss91v2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401150"/>
          </a:xfrm>
        </p:spPr>
        <p:txBody>
          <a:bodyPr>
            <a:normAutofit/>
          </a:bodyPr>
          <a:lstStyle/>
          <a:p>
            <a:r>
              <a:rPr lang="en-US" dirty="0"/>
              <a:t>Your history then looks like this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162736"/>
            <a:ext cx="3535387" cy="3834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76" y="2133601"/>
            <a:ext cx="4114800" cy="3086099"/>
          </a:xfrm>
          <a:prstGeom prst="rect">
            <a:avLst/>
          </a:prstGeom>
        </p:spPr>
      </p:pic>
      <p:sp>
        <p:nvSpPr>
          <p:cNvPr id="6" name="Chevron 5"/>
          <p:cNvSpPr/>
          <p:nvPr/>
        </p:nvSpPr>
        <p:spPr>
          <a:xfrm>
            <a:off x="4648200" y="3124200"/>
            <a:ext cx="533400" cy="121920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8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Branching and Merging is Local!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important to remember when you’re doing all this that these branches are completely local.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you’re branching and merging, everything is being done only in your </a:t>
            </a:r>
            <a:r>
              <a:rPr lang="en-US" dirty="0" err="1"/>
              <a:t>Git</a:t>
            </a:r>
            <a:r>
              <a:rPr lang="en-US" dirty="0"/>
              <a:t> repository – no server communication is happening.</a:t>
            </a:r>
          </a:p>
        </p:txBody>
      </p:sp>
    </p:spTree>
    <p:extLst>
      <p:ext uri="{BB962C8B-B14F-4D97-AF65-F5344CB8AC3E}">
        <p14:creationId xmlns:p14="http://schemas.microsoft.com/office/powerpoint/2010/main" val="288376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Remote </a:t>
            </a:r>
            <a:r>
              <a:rPr lang="en-US" dirty="0">
                <a:effectLst/>
              </a:rPr>
              <a:t>Branches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3.5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95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Remote branches are references (pointers) to the state of branches in your remote repositories. </a:t>
            </a:r>
            <a:endParaRPr lang="en-US" dirty="0" smtClean="0"/>
          </a:p>
          <a:p>
            <a:r>
              <a:rPr lang="en-US" dirty="0" smtClean="0"/>
              <a:t>They’re </a:t>
            </a:r>
            <a:r>
              <a:rPr lang="en-US" dirty="0"/>
              <a:t>local branches that you can’t move; they’re moved automatically for you whenever you do any network communication. </a:t>
            </a:r>
            <a:endParaRPr lang="en-US" dirty="0" smtClean="0"/>
          </a:p>
          <a:p>
            <a:r>
              <a:rPr lang="en-US" dirty="0" smtClean="0"/>
              <a:t>Remote </a:t>
            </a:r>
            <a:r>
              <a:rPr lang="en-US" dirty="0"/>
              <a:t>branches act as bookmarks to remind you where the branches on your remote repositories were the last time you connected to them.</a:t>
            </a:r>
          </a:p>
        </p:txBody>
      </p:sp>
    </p:spTree>
    <p:extLst>
      <p:ext uri="{BB962C8B-B14F-4D97-AF65-F5344CB8AC3E}">
        <p14:creationId xmlns:p14="http://schemas.microsoft.com/office/powerpoint/2010/main" val="404511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branch 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 the </a:t>
            </a:r>
            <a:r>
              <a:rPr lang="en-US" dirty="0"/>
              <a:t>form (remote)/(branch).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instance, if you wanted to see what the master branch on your origin remote looked like as of the last time you communicated with it, you would check the origin/master branch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you were working on an issue with a partner and they pushed up an iss53 branch, you might have your own local iss53 branch; but the branch on the server would point to the commit at origin/iss53.</a:t>
            </a:r>
          </a:p>
        </p:txBody>
      </p:sp>
    </p:spTree>
    <p:extLst>
      <p:ext uri="{BB962C8B-B14F-4D97-AF65-F5344CB8AC3E}">
        <p14:creationId xmlns:p14="http://schemas.microsoft.com/office/powerpoint/2010/main" val="202303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</a:t>
            </a:r>
            <a:r>
              <a:rPr lang="en-US" dirty="0"/>
              <a:t>say you have a </a:t>
            </a:r>
            <a:r>
              <a:rPr lang="en-US" dirty="0" err="1"/>
              <a:t>Git</a:t>
            </a:r>
            <a:r>
              <a:rPr lang="en-US" dirty="0"/>
              <a:t> server on your network at git.ourcompany.com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you clone from this, </a:t>
            </a:r>
            <a:r>
              <a:rPr lang="en-US" dirty="0" err="1"/>
              <a:t>Git’s</a:t>
            </a:r>
            <a:r>
              <a:rPr lang="en-US" dirty="0"/>
              <a:t> clone command automatically names it origin for you, pulls down all its data, creates a pointer to where its master branch is, and names it origin/master locally. </a:t>
            </a:r>
            <a:endParaRPr lang="en-US" dirty="0" smtClean="0"/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also gives you your own local master branch starting at the same place as origin’s master branch, so you have something to work from.</a:t>
            </a:r>
          </a:p>
        </p:txBody>
      </p:sp>
    </p:spTree>
    <p:extLst>
      <p:ext uri="{BB962C8B-B14F-4D97-AF65-F5344CB8AC3E}">
        <p14:creationId xmlns:p14="http://schemas.microsoft.com/office/powerpoint/2010/main" val="409584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“origin” is not </a:t>
            </a:r>
            <a:r>
              <a:rPr lang="en-US" dirty="0" smtClean="0"/>
              <a:t>special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</a:t>
            </a:r>
            <a:r>
              <a:rPr lang="en-US" dirty="0"/>
              <a:t>like the branch name “master” does not have any special meaning in </a:t>
            </a:r>
            <a:r>
              <a:rPr lang="en-US" dirty="0" err="1"/>
              <a:t>Git</a:t>
            </a:r>
            <a:r>
              <a:rPr lang="en-US" dirty="0"/>
              <a:t>, neither does “origin”. </a:t>
            </a:r>
            <a:endParaRPr lang="en-US" dirty="0" smtClean="0"/>
          </a:p>
          <a:p>
            <a:r>
              <a:rPr lang="en-US" dirty="0" smtClean="0"/>
              <a:t>“</a:t>
            </a:r>
            <a:r>
              <a:rPr lang="en-US" dirty="0"/>
              <a:t>master” is the default name for a starting branch when you run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which is the only reason it’s widely used, </a:t>
            </a:r>
            <a:endParaRPr lang="en-US" dirty="0" smtClean="0"/>
          </a:p>
          <a:p>
            <a:r>
              <a:rPr lang="en-US" dirty="0" smtClean="0"/>
              <a:t>“</a:t>
            </a:r>
            <a:r>
              <a:rPr lang="en-US" dirty="0"/>
              <a:t>origin” is the default name for a remote when you run </a:t>
            </a:r>
            <a:r>
              <a:rPr lang="en-US" dirty="0" err="1"/>
              <a:t>git</a:t>
            </a:r>
            <a:r>
              <a:rPr lang="en-US" dirty="0"/>
              <a:t> clone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you run </a:t>
            </a:r>
            <a:r>
              <a:rPr lang="en-US" dirty="0" err="1"/>
              <a:t>git</a:t>
            </a:r>
            <a:r>
              <a:rPr lang="en-US" dirty="0"/>
              <a:t> clone -o </a:t>
            </a:r>
            <a:r>
              <a:rPr lang="en-US" dirty="0" err="1"/>
              <a:t>booyah</a:t>
            </a:r>
            <a:r>
              <a:rPr lang="en-US" dirty="0"/>
              <a:t> instead, then you will have </a:t>
            </a:r>
            <a:r>
              <a:rPr lang="en-US" dirty="0" err="1"/>
              <a:t>booyah</a:t>
            </a:r>
            <a:r>
              <a:rPr lang="en-US" dirty="0"/>
              <a:t>/master as your default remote branch.</a:t>
            </a:r>
          </a:p>
        </p:txBody>
      </p:sp>
    </p:spTree>
    <p:extLst>
      <p:ext uri="{BB962C8B-B14F-4D97-AF65-F5344CB8AC3E}">
        <p14:creationId xmlns:p14="http://schemas.microsoft.com/office/powerpoint/2010/main" val="3490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Server and local </a:t>
            </a:r>
            <a:r>
              <a:rPr lang="en-US" dirty="0" smtClean="0"/>
              <a:t>repositories </a:t>
            </a:r>
            <a:br>
              <a:rPr lang="en-US" dirty="0" smtClean="0"/>
            </a:br>
            <a:r>
              <a:rPr lang="en-US" dirty="0" smtClean="0"/>
              <a:t>after </a:t>
            </a:r>
            <a:r>
              <a:rPr lang="en-US" dirty="0"/>
              <a:t>cloning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76400"/>
            <a:ext cx="6019800" cy="433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4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Changes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 some work on your local master </a:t>
            </a:r>
            <a:r>
              <a:rPr lang="en-US" dirty="0" smtClean="0"/>
              <a:t>branch</a:t>
            </a:r>
          </a:p>
          <a:p>
            <a:r>
              <a:rPr lang="en-US" dirty="0" smtClean="0"/>
              <a:t>If in the </a:t>
            </a:r>
            <a:r>
              <a:rPr lang="en-US" dirty="0"/>
              <a:t>meantime, someone else pushes to git.ourcompany.com and updates its master branch, then your histories move forward differently. </a:t>
            </a:r>
            <a:endParaRPr lang="en-US" dirty="0" smtClean="0"/>
          </a:p>
          <a:p>
            <a:r>
              <a:rPr lang="en-US" dirty="0" smtClean="0"/>
              <a:t>Also</a:t>
            </a:r>
            <a:r>
              <a:rPr lang="en-US" dirty="0"/>
              <a:t>, as long as you stay out of contact with your origin server, your origin/master pointer doesn’t move.</a:t>
            </a:r>
          </a:p>
        </p:txBody>
      </p:sp>
    </p:spTree>
    <p:extLst>
      <p:ext uri="{BB962C8B-B14F-4D97-AF65-F5344CB8AC3E}">
        <p14:creationId xmlns:p14="http://schemas.microsoft.com/office/powerpoint/2010/main" val="251284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and remote work can diverge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63" y="1524000"/>
            <a:ext cx="7102287" cy="43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fetch origin command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Looks </a:t>
            </a:r>
            <a:r>
              <a:rPr lang="en-US" dirty="0"/>
              <a:t>up which server “origin” is (in this case, it’s git.ourcompany.com</a:t>
            </a:r>
            <a:r>
              <a:rPr lang="en-US" dirty="0" smtClean="0"/>
              <a:t>)</a:t>
            </a:r>
          </a:p>
          <a:p>
            <a:r>
              <a:rPr lang="en-US" dirty="0" smtClean="0"/>
              <a:t>Fetches </a:t>
            </a:r>
            <a:r>
              <a:rPr lang="en-US" dirty="0"/>
              <a:t>any data from it that you don’t yet </a:t>
            </a:r>
            <a:r>
              <a:rPr lang="en-US" dirty="0" smtClean="0"/>
              <a:t>have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Updates </a:t>
            </a:r>
            <a:r>
              <a:rPr lang="en-US" dirty="0"/>
              <a:t>your local database, moving your origin/master pointer to its new, more up-to-date position.</a:t>
            </a:r>
          </a:p>
        </p:txBody>
      </p:sp>
    </p:spTree>
    <p:extLst>
      <p:ext uri="{BB962C8B-B14F-4D97-AF65-F5344CB8AC3E}">
        <p14:creationId xmlns:p14="http://schemas.microsoft.com/office/powerpoint/2010/main" val="396491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git</a:t>
            </a:r>
            <a:r>
              <a:rPr lang="en-US" dirty="0"/>
              <a:t> fetch updates your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remote </a:t>
            </a:r>
            <a:r>
              <a:rPr lang="en-US" dirty="0"/>
              <a:t>references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129" y="1752600"/>
            <a:ext cx="5889756" cy="43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fetch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you can run </a:t>
            </a:r>
            <a:r>
              <a:rPr lang="en-US" dirty="0" err="1"/>
              <a:t>git</a:t>
            </a:r>
            <a:r>
              <a:rPr lang="en-US" dirty="0"/>
              <a:t> fetch </a:t>
            </a:r>
            <a:r>
              <a:rPr lang="en-US" dirty="0" err="1"/>
              <a:t>teamone</a:t>
            </a:r>
            <a:r>
              <a:rPr lang="en-US" dirty="0"/>
              <a:t> to fetch everything the remote </a:t>
            </a:r>
            <a:r>
              <a:rPr lang="en-US" dirty="0" err="1"/>
              <a:t>teamone</a:t>
            </a:r>
            <a:r>
              <a:rPr lang="en-US" dirty="0"/>
              <a:t> server has that you don’t have yet. </a:t>
            </a:r>
            <a:endParaRPr lang="en-US" dirty="0" smtClean="0"/>
          </a:p>
          <a:p>
            <a:r>
              <a:rPr lang="en-US" dirty="0" smtClean="0"/>
              <a:t>Because </a:t>
            </a:r>
            <a:r>
              <a:rPr lang="en-US" dirty="0"/>
              <a:t>that server has a subset of the data your origin server has right now, </a:t>
            </a:r>
            <a:r>
              <a:rPr lang="en-US" dirty="0" err="1"/>
              <a:t>Git</a:t>
            </a:r>
            <a:r>
              <a:rPr lang="en-US" dirty="0"/>
              <a:t> fetches no data but sets a remote branch called </a:t>
            </a:r>
            <a:r>
              <a:rPr lang="en-US" dirty="0" err="1"/>
              <a:t>teamone</a:t>
            </a:r>
            <a:r>
              <a:rPr lang="en-US" dirty="0"/>
              <a:t>/master to point to the commit that </a:t>
            </a:r>
            <a:r>
              <a:rPr lang="en-US" dirty="0" err="1"/>
              <a:t>teamone</a:t>
            </a:r>
            <a:r>
              <a:rPr lang="en-US" dirty="0"/>
              <a:t> has as its master branch.</a:t>
            </a:r>
          </a:p>
        </p:txBody>
      </p:sp>
    </p:spTree>
    <p:extLst>
      <p:ext uri="{BB962C8B-B14F-4D97-AF65-F5344CB8AC3E}">
        <p14:creationId xmlns:p14="http://schemas.microsoft.com/office/powerpoint/2010/main" val="311141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Remote tracking branch for </a:t>
            </a:r>
            <a:r>
              <a:rPr lang="en-US" dirty="0" err="1"/>
              <a:t>teamone</a:t>
            </a:r>
            <a:r>
              <a:rPr lang="en-US" dirty="0"/>
              <a:t>/master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648653"/>
            <a:ext cx="6096000" cy="439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want to share a branch with the world, you need to push it up to a remote that you have write access to. </a:t>
            </a:r>
            <a:endParaRPr lang="en-US" dirty="0" smtClean="0"/>
          </a:p>
          <a:p>
            <a:r>
              <a:rPr lang="en-US" dirty="0" smtClean="0"/>
              <a:t>Your </a:t>
            </a:r>
            <a:r>
              <a:rPr lang="en-US" dirty="0"/>
              <a:t>local branches aren’t automatically synchronized to the remotes you write to – you have to explicitly push the branches you want to share.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way, you can use private branches for work you don’t want to share, and push up only the topic branches you want to collaborate on.</a:t>
            </a:r>
          </a:p>
        </p:txBody>
      </p:sp>
    </p:spTree>
    <p:extLst>
      <p:ext uri="{BB962C8B-B14F-4D97-AF65-F5344CB8AC3E}">
        <p14:creationId xmlns:p14="http://schemas.microsoft.com/office/powerpoint/2010/main" val="125851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a branch named </a:t>
            </a:r>
            <a:r>
              <a:rPr lang="en-US" dirty="0" err="1"/>
              <a:t>serverfix</a:t>
            </a:r>
            <a:r>
              <a:rPr lang="en-US" dirty="0"/>
              <a:t> that you want to work on with others, you can push it up the same way you pushed your first branch. Run </a:t>
            </a:r>
            <a:r>
              <a:rPr lang="en-US" dirty="0" err="1"/>
              <a:t>git</a:t>
            </a:r>
            <a:r>
              <a:rPr lang="en-US" dirty="0"/>
              <a:t> push (remote) (branch):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1" y="3048000"/>
            <a:ext cx="7882791" cy="23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automatically expands the </a:t>
            </a:r>
            <a:r>
              <a:rPr lang="en-US" dirty="0" err="1"/>
              <a:t>serverfix</a:t>
            </a:r>
            <a:r>
              <a:rPr lang="en-US" dirty="0"/>
              <a:t> </a:t>
            </a:r>
            <a:r>
              <a:rPr lang="en-US" dirty="0" err="1"/>
              <a:t>branchname</a:t>
            </a:r>
            <a:r>
              <a:rPr lang="en-US" dirty="0"/>
              <a:t> out to refs/heads/</a:t>
            </a:r>
            <a:r>
              <a:rPr lang="en-US" dirty="0" err="1"/>
              <a:t>serverfix:refs</a:t>
            </a:r>
            <a:r>
              <a:rPr lang="en-US" dirty="0"/>
              <a:t>/heads/</a:t>
            </a:r>
            <a:r>
              <a:rPr lang="en-US" dirty="0" err="1"/>
              <a:t>serverfix</a:t>
            </a:r>
            <a:r>
              <a:rPr lang="en-US" dirty="0"/>
              <a:t>, which means, “Take my </a:t>
            </a:r>
            <a:r>
              <a:rPr lang="en-US" dirty="0" err="1"/>
              <a:t>serverfix</a:t>
            </a:r>
            <a:r>
              <a:rPr lang="en-US" dirty="0"/>
              <a:t> local branch and push it to update the remote’s </a:t>
            </a:r>
            <a:r>
              <a:rPr lang="en-US" dirty="0" err="1"/>
              <a:t>serverfix</a:t>
            </a:r>
            <a:r>
              <a:rPr lang="en-US" dirty="0"/>
              <a:t> branch.” </a:t>
            </a:r>
            <a:endParaRPr lang="en-US" dirty="0" smtClean="0"/>
          </a:p>
          <a:p>
            <a:r>
              <a:rPr lang="en-US" dirty="0" smtClean="0"/>
              <a:t>We’ll </a:t>
            </a:r>
            <a:r>
              <a:rPr lang="en-US" dirty="0"/>
              <a:t>go over the refs/heads/ part in detail in Chapter 10, but you can generally leave it off.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do </a:t>
            </a:r>
            <a:r>
              <a:rPr lang="en-US" dirty="0" err="1"/>
              <a:t>git</a:t>
            </a:r>
            <a:r>
              <a:rPr lang="en-US" dirty="0"/>
              <a:t> push origin </a:t>
            </a:r>
            <a:r>
              <a:rPr lang="en-US" dirty="0" err="1"/>
              <a:t>serverfix:serverfix</a:t>
            </a:r>
            <a:r>
              <a:rPr lang="en-US" dirty="0"/>
              <a:t>, which does the same thing – it says, “Take my </a:t>
            </a:r>
            <a:r>
              <a:rPr lang="en-US" dirty="0" err="1"/>
              <a:t>serverfix</a:t>
            </a:r>
            <a:r>
              <a:rPr lang="en-US" dirty="0"/>
              <a:t> and make it the remote’s </a:t>
            </a:r>
            <a:r>
              <a:rPr lang="en-US" dirty="0" err="1"/>
              <a:t>serverfix</a:t>
            </a:r>
            <a:r>
              <a:rPr lang="en-US" dirty="0"/>
              <a:t>.”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use this format to push a local branch into a remote branch that is named differently.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didn’t want it to be called </a:t>
            </a:r>
            <a:r>
              <a:rPr lang="en-US" dirty="0" err="1"/>
              <a:t>serverfix</a:t>
            </a:r>
            <a:r>
              <a:rPr lang="en-US" dirty="0"/>
              <a:t> on the remote, you could instead run </a:t>
            </a:r>
            <a:r>
              <a:rPr lang="en-US" dirty="0" err="1"/>
              <a:t>git</a:t>
            </a:r>
            <a:r>
              <a:rPr lang="en-US" dirty="0"/>
              <a:t> push origin </a:t>
            </a:r>
            <a:r>
              <a:rPr lang="en-US" dirty="0" err="1"/>
              <a:t>serverfix:awesomebranch</a:t>
            </a:r>
            <a:r>
              <a:rPr lang="en-US" dirty="0"/>
              <a:t> to push your local </a:t>
            </a:r>
            <a:r>
              <a:rPr lang="en-US" dirty="0" err="1"/>
              <a:t>serverfix</a:t>
            </a:r>
            <a:r>
              <a:rPr lang="en-US" dirty="0"/>
              <a:t> branch to the </a:t>
            </a:r>
            <a:r>
              <a:rPr lang="en-US" dirty="0" err="1"/>
              <a:t>awesomebranch</a:t>
            </a:r>
            <a:r>
              <a:rPr lang="en-US" dirty="0"/>
              <a:t> branch on the remote project.</a:t>
            </a:r>
          </a:p>
        </p:txBody>
      </p:sp>
    </p:spTree>
    <p:extLst>
      <p:ext uri="{BB962C8B-B14F-4D97-AF65-F5344CB8AC3E}">
        <p14:creationId xmlns:p14="http://schemas.microsoft.com/office/powerpoint/2010/main" val="290065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1"/>
            <a:ext cx="7765322" cy="1086950"/>
          </a:xfrm>
        </p:spPr>
        <p:txBody>
          <a:bodyPr/>
          <a:lstStyle/>
          <a:p>
            <a:r>
              <a:rPr lang="en-US" dirty="0"/>
              <a:t>The next time one of your collaborators fetches from the server, they will get a reference to where the server’s version of </a:t>
            </a:r>
            <a:r>
              <a:rPr lang="en-US" dirty="0" err="1"/>
              <a:t>serverfix</a:t>
            </a:r>
            <a:r>
              <a:rPr lang="en-US" dirty="0"/>
              <a:t> is under the remote branch origin/</a:t>
            </a:r>
            <a:r>
              <a:rPr lang="en-US" dirty="0" err="1"/>
              <a:t>serverfix</a:t>
            </a:r>
            <a:r>
              <a:rPr lang="en-US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1" y="3124200"/>
            <a:ext cx="7756969" cy="213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1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important to note that when you do a fetch that brings down new remote branches, you don’t automatically have local, editable copies of them.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other words, in this case, you don’t have a new </a:t>
            </a:r>
            <a:r>
              <a:rPr lang="en-US" dirty="0" err="1"/>
              <a:t>serverfix</a:t>
            </a:r>
            <a:r>
              <a:rPr lang="en-US" dirty="0"/>
              <a:t> branch – you only have an origin/</a:t>
            </a:r>
            <a:r>
              <a:rPr lang="en-US" dirty="0" err="1"/>
              <a:t>serverfix</a:t>
            </a:r>
            <a:r>
              <a:rPr lang="en-US" dirty="0"/>
              <a:t> pointer that you can’t modify.</a:t>
            </a:r>
          </a:p>
        </p:txBody>
      </p:sp>
    </p:spTree>
    <p:extLst>
      <p:ext uri="{BB962C8B-B14F-4D97-AF65-F5344CB8AC3E}">
        <p14:creationId xmlns:p14="http://schemas.microsoft.com/office/powerpoint/2010/main" val="302962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merge this work into your current working branch, you can run </a:t>
            </a:r>
            <a:r>
              <a:rPr lang="en-US" dirty="0" err="1"/>
              <a:t>git</a:t>
            </a:r>
            <a:r>
              <a:rPr lang="en-US" dirty="0"/>
              <a:t> merge origin/</a:t>
            </a:r>
            <a:r>
              <a:rPr lang="en-US" dirty="0" err="1"/>
              <a:t>serverfix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want your own </a:t>
            </a:r>
            <a:r>
              <a:rPr lang="en-US" dirty="0" err="1"/>
              <a:t>serverfix</a:t>
            </a:r>
            <a:r>
              <a:rPr lang="en-US" dirty="0"/>
              <a:t> branch that you can work on, you can base it off your remote branch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gives you a local branch that you can work on that starts where origin/</a:t>
            </a:r>
            <a:r>
              <a:rPr lang="en-US" dirty="0" err="1"/>
              <a:t>serverfix</a:t>
            </a:r>
            <a:r>
              <a:rPr lang="en-US" dirty="0"/>
              <a:t> is.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52800"/>
            <a:ext cx="858740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4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Fetch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 </a:t>
            </a:r>
            <a:r>
              <a:rPr lang="en-US" dirty="0" err="1"/>
              <a:t>git</a:t>
            </a:r>
            <a:r>
              <a:rPr lang="en-US" dirty="0"/>
              <a:t> fetch command will fetch down all the changes on the server that you don’t have yet, it will not modify your working directory at all.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will simply get the data for you and let you merge it yourself.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9883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Remote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You </a:t>
            </a:r>
            <a:r>
              <a:rPr lang="en-US" dirty="0"/>
              <a:t>can delete a remote branch using the --delete option to </a:t>
            </a:r>
            <a:r>
              <a:rPr lang="en-US" dirty="0" err="1"/>
              <a:t>git</a:t>
            </a:r>
            <a:r>
              <a:rPr lang="en-US" dirty="0"/>
              <a:t> push.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want to delete your </a:t>
            </a:r>
            <a:r>
              <a:rPr lang="en-US" dirty="0" err="1"/>
              <a:t>serverfix</a:t>
            </a:r>
            <a:r>
              <a:rPr lang="en-US" dirty="0"/>
              <a:t> branch from the server, you run the following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Basically all this does is remove the pointer from the server.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Git</a:t>
            </a:r>
            <a:r>
              <a:rPr lang="en-US" dirty="0"/>
              <a:t> server will generally keep the data there for a while until a garbage collection runs, so if it was accidentally deleted, it’s often easy to recover.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24200"/>
            <a:ext cx="646408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4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Pull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there is a command called </a:t>
            </a:r>
            <a:r>
              <a:rPr lang="en-US" dirty="0" err="1"/>
              <a:t>git</a:t>
            </a:r>
            <a:r>
              <a:rPr lang="en-US" dirty="0"/>
              <a:t> pull which is essentially a </a:t>
            </a:r>
            <a:r>
              <a:rPr lang="en-US" dirty="0" err="1"/>
              <a:t>git</a:t>
            </a:r>
            <a:r>
              <a:rPr lang="en-US" dirty="0"/>
              <a:t> fetch immediately followed by a </a:t>
            </a:r>
            <a:r>
              <a:rPr lang="en-US" dirty="0" err="1"/>
              <a:t>git</a:t>
            </a:r>
            <a:r>
              <a:rPr lang="en-US" dirty="0"/>
              <a:t> merge in most cases. </a:t>
            </a:r>
            <a:endParaRPr lang="en-US" dirty="0" smtClean="0"/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pull will look up what server and branch your current branch is tracking, fetch from that server and then try to merge in that remote branch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Generally it’s better to simply use the fetch and merge commands explicitly as the magic of </a:t>
            </a:r>
            <a:r>
              <a:rPr lang="en-US" dirty="0" err="1"/>
              <a:t>git</a:t>
            </a:r>
            <a:r>
              <a:rPr lang="en-US" dirty="0"/>
              <a:t> pull can often be confusing.</a:t>
            </a:r>
          </a:p>
        </p:txBody>
      </p:sp>
    </p:spTree>
    <p:extLst>
      <p:ext uri="{BB962C8B-B14F-4D97-AF65-F5344CB8AC3E}">
        <p14:creationId xmlns:p14="http://schemas.microsoft.com/office/powerpoint/2010/main" val="415515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covered basic branching and merging in </a:t>
            </a:r>
            <a:r>
              <a:rPr lang="en-US" dirty="0" err="1"/>
              <a:t>Git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should feel comfortable creating and switching to new branches, switching between branches and merging local branches together.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should also be able to share your branches by pushing them to a shared server, working with others on shared branches and rebasing your branches before they are </a:t>
            </a:r>
            <a:r>
              <a:rPr lang="en-US"/>
              <a:t>shared</a:t>
            </a:r>
            <a:r>
              <a:rPr lang="en-US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9277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17600</TotalTime>
  <Words>4583</Words>
  <Application>Microsoft Office PowerPoint</Application>
  <PresentationFormat>On-screen Show (4:3)</PresentationFormat>
  <Paragraphs>364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Arial</vt:lpstr>
      <vt:lpstr>Calibri</vt:lpstr>
      <vt:lpstr>Calisto MT</vt:lpstr>
      <vt:lpstr>Courier New</vt:lpstr>
      <vt:lpstr>Times New Roman</vt:lpstr>
      <vt:lpstr>Trebuchet MS</vt:lpstr>
      <vt:lpstr>Wingdings 2</vt:lpstr>
      <vt:lpstr>Slate</vt:lpstr>
      <vt:lpstr>GIT Chapter 3:  Branching</vt:lpstr>
      <vt:lpstr>Summary</vt:lpstr>
      <vt:lpstr>3.1 Git Branching - Branches in a Nutshell</vt:lpstr>
      <vt:lpstr>Branches in a Nutshell</vt:lpstr>
      <vt:lpstr>What Git does during a Commit</vt:lpstr>
      <vt:lpstr>Objects in Git Repository after a Commit</vt:lpstr>
      <vt:lpstr>A commit and its tree</vt:lpstr>
      <vt:lpstr>Subsequent Commits</vt:lpstr>
      <vt:lpstr>Branches</vt:lpstr>
      <vt:lpstr>A branch and its commit history</vt:lpstr>
      <vt:lpstr>Creating a New Branch</vt:lpstr>
      <vt:lpstr>HEAD</vt:lpstr>
      <vt:lpstr>git log</vt:lpstr>
      <vt:lpstr>Switching Branches (git checkout)</vt:lpstr>
      <vt:lpstr>Subsequent Commits</vt:lpstr>
      <vt:lpstr>Switching Back to Previous Commit</vt:lpstr>
      <vt:lpstr>The git checkout command</vt:lpstr>
      <vt:lpstr>Switching branches changes files in your working directory</vt:lpstr>
      <vt:lpstr>Make changes and commit again:</vt:lpstr>
      <vt:lpstr>Divergent History</vt:lpstr>
      <vt:lpstr>Divergent History</vt:lpstr>
      <vt:lpstr>About Branches</vt:lpstr>
      <vt:lpstr>Older VCS Branching vs GIT</vt:lpstr>
      <vt:lpstr>Basic Branching and Merging</vt:lpstr>
      <vt:lpstr>Basic Branching and Merging</vt:lpstr>
      <vt:lpstr>Basic Branching</vt:lpstr>
      <vt:lpstr>Basic Branching</vt:lpstr>
      <vt:lpstr>Creating a new branch pointer</vt:lpstr>
      <vt:lpstr>work on your web site and do some commits</vt:lpstr>
      <vt:lpstr>Scenario: Hot Fix</vt:lpstr>
      <vt:lpstr>Before switching branches:</vt:lpstr>
      <vt:lpstr>Important point to remember: </vt:lpstr>
      <vt:lpstr>Hotfix branch based on master</vt:lpstr>
      <vt:lpstr>Merge Command</vt:lpstr>
      <vt:lpstr>Master is fast-forwarded to hotfix</vt:lpstr>
      <vt:lpstr>Deleting Branches</vt:lpstr>
      <vt:lpstr>Work continues on iss53</vt:lpstr>
      <vt:lpstr>To Merge Hotfix or Not?</vt:lpstr>
      <vt:lpstr>Three snapshots used in a merge</vt:lpstr>
      <vt:lpstr>A merge commit</vt:lpstr>
      <vt:lpstr>Merge Ancestor</vt:lpstr>
      <vt:lpstr>Basic Merge Conflicts</vt:lpstr>
      <vt:lpstr>Basic Merge Conflicts</vt:lpstr>
      <vt:lpstr>Basic Merge Conflicts</vt:lpstr>
      <vt:lpstr>Basic Merge Conflicts</vt:lpstr>
      <vt:lpstr>Basic Merge Conflicts</vt:lpstr>
      <vt:lpstr>Branch Management</vt:lpstr>
      <vt:lpstr>Branch Management</vt:lpstr>
      <vt:lpstr>git branch command</vt:lpstr>
      <vt:lpstr>git branch -v</vt:lpstr>
      <vt:lpstr>git branch --merged</vt:lpstr>
      <vt:lpstr>git branch –no-merged</vt:lpstr>
      <vt:lpstr>Branching Workflows</vt:lpstr>
      <vt:lpstr>Branching Workflows</vt:lpstr>
      <vt:lpstr>Long-Running Branches</vt:lpstr>
      <vt:lpstr>A linear view of progressive-stability branching</vt:lpstr>
      <vt:lpstr>A “silo” view of progressive-stability branching</vt:lpstr>
      <vt:lpstr>Long-Running Branches</vt:lpstr>
      <vt:lpstr>Topic Branches</vt:lpstr>
      <vt:lpstr>Example</vt:lpstr>
      <vt:lpstr>Multiple topic branches</vt:lpstr>
      <vt:lpstr>Scenario</vt:lpstr>
      <vt:lpstr>History after merging dumbidea and iss91v2</vt:lpstr>
      <vt:lpstr>Branching and Merging is Local!</vt:lpstr>
      <vt:lpstr>Remote Branches</vt:lpstr>
      <vt:lpstr>Remote Branches</vt:lpstr>
      <vt:lpstr>Remote branch Namespaces</vt:lpstr>
      <vt:lpstr>Example</vt:lpstr>
      <vt:lpstr>“origin” is not special</vt:lpstr>
      <vt:lpstr>Server and local repositories  after cloning</vt:lpstr>
      <vt:lpstr>Making Changes</vt:lpstr>
      <vt:lpstr>Local and remote work can diverge</vt:lpstr>
      <vt:lpstr>git fetch origin command</vt:lpstr>
      <vt:lpstr>git fetch updates your  remote references</vt:lpstr>
      <vt:lpstr>git fetch</vt:lpstr>
      <vt:lpstr>Remote tracking branch for teamone/master</vt:lpstr>
      <vt:lpstr>Pushing</vt:lpstr>
      <vt:lpstr>Pushing</vt:lpstr>
      <vt:lpstr>Pushing</vt:lpstr>
      <vt:lpstr>Pushing</vt:lpstr>
      <vt:lpstr>Pushing</vt:lpstr>
      <vt:lpstr>Pushing</vt:lpstr>
      <vt:lpstr>Git Fetch</vt:lpstr>
      <vt:lpstr>Deleting Remote Branches</vt:lpstr>
      <vt:lpstr>Git Pull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User</dc:creator>
  <cp:lastModifiedBy>Microsoft account</cp:lastModifiedBy>
  <cp:revision>436</cp:revision>
  <dcterms:created xsi:type="dcterms:W3CDTF">2014-07-06T04:18:32Z</dcterms:created>
  <dcterms:modified xsi:type="dcterms:W3CDTF">2015-01-02T05:10:53Z</dcterms:modified>
</cp:coreProperties>
</file>