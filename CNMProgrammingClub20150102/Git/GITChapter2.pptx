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05" r:id="rId1"/>
  </p:sldMasterIdLst>
  <p:notesMasterIdLst>
    <p:notesMasterId r:id="rId99"/>
  </p:notesMasterIdLst>
  <p:sldIdLst>
    <p:sldId id="449" r:id="rId2"/>
    <p:sldId id="400" r:id="rId3"/>
    <p:sldId id="456" r:id="rId4"/>
    <p:sldId id="457" r:id="rId5"/>
    <p:sldId id="459" r:id="rId6"/>
    <p:sldId id="458" r:id="rId7"/>
    <p:sldId id="460" r:id="rId8"/>
    <p:sldId id="461" r:id="rId9"/>
    <p:sldId id="463" r:id="rId10"/>
    <p:sldId id="465" r:id="rId11"/>
    <p:sldId id="466" r:id="rId12"/>
    <p:sldId id="462" r:id="rId13"/>
    <p:sldId id="467" r:id="rId14"/>
    <p:sldId id="469" r:id="rId15"/>
    <p:sldId id="468" r:id="rId16"/>
    <p:sldId id="470" r:id="rId17"/>
    <p:sldId id="471" r:id="rId18"/>
    <p:sldId id="473" r:id="rId19"/>
    <p:sldId id="472" r:id="rId20"/>
    <p:sldId id="474" r:id="rId21"/>
    <p:sldId id="475" r:id="rId22"/>
    <p:sldId id="476" r:id="rId23"/>
    <p:sldId id="477" r:id="rId24"/>
    <p:sldId id="478" r:id="rId25"/>
    <p:sldId id="479" r:id="rId26"/>
    <p:sldId id="480" r:id="rId27"/>
    <p:sldId id="481" r:id="rId28"/>
    <p:sldId id="482" r:id="rId29"/>
    <p:sldId id="483" r:id="rId30"/>
    <p:sldId id="484" r:id="rId31"/>
    <p:sldId id="485" r:id="rId32"/>
    <p:sldId id="486" r:id="rId33"/>
    <p:sldId id="487" r:id="rId34"/>
    <p:sldId id="488" r:id="rId35"/>
    <p:sldId id="489" r:id="rId36"/>
    <p:sldId id="490" r:id="rId37"/>
    <p:sldId id="491" r:id="rId38"/>
    <p:sldId id="492" r:id="rId39"/>
    <p:sldId id="493" r:id="rId40"/>
    <p:sldId id="494" r:id="rId41"/>
    <p:sldId id="495" r:id="rId42"/>
    <p:sldId id="496" r:id="rId43"/>
    <p:sldId id="497" r:id="rId44"/>
    <p:sldId id="499" r:id="rId45"/>
    <p:sldId id="500" r:id="rId46"/>
    <p:sldId id="501" r:id="rId47"/>
    <p:sldId id="502" r:id="rId48"/>
    <p:sldId id="503" r:id="rId49"/>
    <p:sldId id="505" r:id="rId50"/>
    <p:sldId id="504" r:id="rId51"/>
    <p:sldId id="506" r:id="rId52"/>
    <p:sldId id="507" r:id="rId53"/>
    <p:sldId id="508" r:id="rId54"/>
    <p:sldId id="516" r:id="rId55"/>
    <p:sldId id="509" r:id="rId56"/>
    <p:sldId id="510" r:id="rId57"/>
    <p:sldId id="511" r:id="rId58"/>
    <p:sldId id="512" r:id="rId59"/>
    <p:sldId id="513" r:id="rId60"/>
    <p:sldId id="514" r:id="rId61"/>
    <p:sldId id="515" r:id="rId62"/>
    <p:sldId id="517" r:id="rId63"/>
    <p:sldId id="518" r:id="rId64"/>
    <p:sldId id="519" r:id="rId65"/>
    <p:sldId id="520" r:id="rId66"/>
    <p:sldId id="521" r:id="rId67"/>
    <p:sldId id="522" r:id="rId68"/>
    <p:sldId id="523" r:id="rId69"/>
    <p:sldId id="524" r:id="rId70"/>
    <p:sldId id="525" r:id="rId71"/>
    <p:sldId id="526" r:id="rId72"/>
    <p:sldId id="528" r:id="rId73"/>
    <p:sldId id="529" r:id="rId74"/>
    <p:sldId id="530" r:id="rId75"/>
    <p:sldId id="531" r:id="rId76"/>
    <p:sldId id="532" r:id="rId77"/>
    <p:sldId id="533" r:id="rId78"/>
    <p:sldId id="534" r:id="rId79"/>
    <p:sldId id="535" r:id="rId80"/>
    <p:sldId id="538" r:id="rId81"/>
    <p:sldId id="536" r:id="rId82"/>
    <p:sldId id="537" r:id="rId83"/>
    <p:sldId id="539" r:id="rId84"/>
    <p:sldId id="540" r:id="rId85"/>
    <p:sldId id="541" r:id="rId86"/>
    <p:sldId id="542" r:id="rId87"/>
    <p:sldId id="543" r:id="rId88"/>
    <p:sldId id="544" r:id="rId89"/>
    <p:sldId id="545" r:id="rId90"/>
    <p:sldId id="546" r:id="rId91"/>
    <p:sldId id="547" r:id="rId92"/>
    <p:sldId id="548" r:id="rId93"/>
    <p:sldId id="549" r:id="rId94"/>
    <p:sldId id="550" r:id="rId95"/>
    <p:sldId id="551" r:id="rId96"/>
    <p:sldId id="552" r:id="rId97"/>
    <p:sldId id="455" r:id="rId9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verview" id="{D0EB42CD-7890-4201-9FC6-D6178D132C53}">
          <p14:sldIdLst>
            <p14:sldId id="449"/>
            <p14:sldId id="400"/>
          </p14:sldIdLst>
        </p14:section>
        <p14:section name="Presentation" id="{EF67DF2E-E17F-4836-90D4-EBAFBB235779}">
          <p14:sldIdLst>
            <p14:sldId id="456"/>
            <p14:sldId id="457"/>
            <p14:sldId id="459"/>
            <p14:sldId id="458"/>
            <p14:sldId id="460"/>
            <p14:sldId id="461"/>
            <p14:sldId id="463"/>
            <p14:sldId id="465"/>
            <p14:sldId id="466"/>
            <p14:sldId id="462"/>
            <p14:sldId id="467"/>
            <p14:sldId id="469"/>
            <p14:sldId id="468"/>
            <p14:sldId id="470"/>
            <p14:sldId id="471"/>
            <p14:sldId id="473"/>
            <p14:sldId id="472"/>
            <p14:sldId id="474"/>
            <p14:sldId id="475"/>
            <p14:sldId id="476"/>
            <p14:sldId id="477"/>
            <p14:sldId id="478"/>
            <p14:sldId id="479"/>
            <p14:sldId id="480"/>
            <p14:sldId id="481"/>
            <p14:sldId id="482"/>
            <p14:sldId id="483"/>
            <p14:sldId id="484"/>
            <p14:sldId id="485"/>
            <p14:sldId id="486"/>
            <p14:sldId id="487"/>
            <p14:sldId id="488"/>
            <p14:sldId id="489"/>
            <p14:sldId id="490"/>
            <p14:sldId id="491"/>
            <p14:sldId id="492"/>
            <p14:sldId id="493"/>
            <p14:sldId id="494"/>
            <p14:sldId id="495"/>
            <p14:sldId id="496"/>
            <p14:sldId id="497"/>
            <p14:sldId id="499"/>
            <p14:sldId id="500"/>
            <p14:sldId id="501"/>
            <p14:sldId id="502"/>
            <p14:sldId id="503"/>
            <p14:sldId id="505"/>
            <p14:sldId id="504"/>
            <p14:sldId id="506"/>
            <p14:sldId id="507"/>
            <p14:sldId id="508"/>
            <p14:sldId id="516"/>
            <p14:sldId id="509"/>
            <p14:sldId id="510"/>
            <p14:sldId id="511"/>
            <p14:sldId id="512"/>
            <p14:sldId id="513"/>
            <p14:sldId id="514"/>
            <p14:sldId id="515"/>
            <p14:sldId id="517"/>
            <p14:sldId id="518"/>
            <p14:sldId id="519"/>
            <p14:sldId id="520"/>
            <p14:sldId id="521"/>
            <p14:sldId id="522"/>
            <p14:sldId id="523"/>
            <p14:sldId id="524"/>
            <p14:sldId id="525"/>
            <p14:sldId id="526"/>
            <p14:sldId id="528"/>
            <p14:sldId id="529"/>
            <p14:sldId id="530"/>
            <p14:sldId id="531"/>
            <p14:sldId id="532"/>
            <p14:sldId id="533"/>
            <p14:sldId id="534"/>
            <p14:sldId id="535"/>
            <p14:sldId id="538"/>
            <p14:sldId id="536"/>
            <p14:sldId id="537"/>
            <p14:sldId id="539"/>
            <p14:sldId id="540"/>
            <p14:sldId id="541"/>
            <p14:sldId id="542"/>
            <p14:sldId id="543"/>
            <p14:sldId id="544"/>
            <p14:sldId id="545"/>
            <p14:sldId id="546"/>
            <p14:sldId id="547"/>
            <p14:sldId id="548"/>
            <p14:sldId id="549"/>
            <p14:sldId id="550"/>
            <p14:sldId id="551"/>
            <p14:sldId id="552"/>
          </p14:sldIdLst>
        </p14:section>
        <p14:section name="Summary" id="{40FBAD55-D47E-4C6D-B4D6-CB53CA894661}">
          <p14:sldIdLst>
            <p14:sldId id="455"/>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935FF"/>
    <a:srgbClr val="054397"/>
    <a:srgbClr val="FFFFFF"/>
    <a:srgbClr val="FDD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32" autoAdjust="0"/>
    <p:restoredTop sz="94660"/>
  </p:normalViewPr>
  <p:slideViewPr>
    <p:cSldViewPr>
      <p:cViewPr varScale="1">
        <p:scale>
          <a:sx n="95" d="100"/>
          <a:sy n="95" d="100"/>
        </p:scale>
        <p:origin x="888" y="72"/>
      </p:cViewPr>
      <p:guideLst>
        <p:guide orient="horz" pos="2160"/>
        <p:guide pos="2880"/>
      </p:guideLst>
    </p:cSldViewPr>
  </p:slideViewPr>
  <p:notesTextViewPr>
    <p:cViewPr>
      <p:scale>
        <a:sx n="3" d="2"/>
        <a:sy n="3" d="2"/>
      </p:scale>
      <p:origin x="0" y="0"/>
    </p:cViewPr>
  </p:notesTextViewPr>
  <p:sorterViewPr>
    <p:cViewPr>
      <p:scale>
        <a:sx n="88" d="100"/>
        <a:sy n="88" d="100"/>
      </p:scale>
      <p:origin x="0" y="-888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slide" Target="slides/slide73.xml"/><Relationship Id="rId79" Type="http://schemas.openxmlformats.org/officeDocument/2006/relationships/slide" Target="slides/slide78.xml"/><Relationship Id="rId87" Type="http://schemas.openxmlformats.org/officeDocument/2006/relationships/slide" Target="slides/slide86.xml"/><Relationship Id="rId102"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notesMaster" Target="notesMasters/notesMaster1.xml"/><Relationship Id="rId10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5922B8-2402-4D07-8CC1-A7973D5DEA1D}" type="datetimeFigureOut">
              <a:rPr lang="en-US" smtClean="0"/>
              <a:t>12/25/2014</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7E36D8C-E6BB-4A51-BC12-92C35C89F641}" type="slidenum">
              <a:rPr lang="en-US" smtClean="0"/>
              <a:t>‹#›</a:t>
            </a:fld>
            <a:endParaRPr lang="en-US"/>
          </a:p>
        </p:txBody>
      </p:sp>
    </p:spTree>
    <p:extLst>
      <p:ext uri="{BB962C8B-B14F-4D97-AF65-F5344CB8AC3E}">
        <p14:creationId xmlns:p14="http://schemas.microsoft.com/office/powerpoint/2010/main" val="20924679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smtClean="0"/>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E2BFE950-A675-4D2F-BC24-F20C16678C63}" type="datetimeFigureOut">
              <a:rPr lang="en-US" smtClean="0"/>
              <a:t>12/25/2014</a:t>
            </a:fld>
            <a:endParaRPr lang="en-US"/>
          </a:p>
        </p:txBody>
      </p:sp>
      <p:sp>
        <p:nvSpPr>
          <p:cNvPr id="5" name="Footer Placeholder 4"/>
          <p:cNvSpPr>
            <a:spLocks noGrp="1"/>
          </p:cNvSpPr>
          <p:nvPr>
            <p:ph type="ftr" sz="quarter" idx="11"/>
          </p:nvPr>
        </p:nvSpPr>
        <p:spPr/>
        <p:txBody>
          <a:bodyPr/>
          <a:lstStyle>
            <a:lvl1pPr algn="l">
              <a:defRPr/>
            </a:lvl1pPr>
          </a:lstStyle>
          <a:p>
            <a:endParaRPr lang="en-US" dirty="0"/>
          </a:p>
        </p:txBody>
      </p:sp>
      <p:sp>
        <p:nvSpPr>
          <p:cNvPr id="6" name="Slide Number Placeholder 5"/>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969577143"/>
      </p:ext>
    </p:extLst>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FE950-A675-4D2F-BC24-F20C16678C63}" type="datetimeFigureOut">
              <a:rPr lang="en-US" smtClean="0"/>
              <a:t>12/25/2014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4105538700"/>
      </p:ext>
    </p:extLst>
  </p:cSld>
  <p:clrMapOvr>
    <a:masterClrMapping/>
  </p:clrMapOvr>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2BFE950-A675-4D2F-BC24-F20C16678C63}" type="datetimeFigureOut">
              <a:rPr lang="en-US" smtClean="0"/>
              <a:t>12/25/2014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260050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661410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E2BFE950-A675-4D2F-BC24-F20C16678C63}" type="datetimeFigureOut">
              <a:rPr lang="en-US" smtClean="0"/>
              <a:t>12/25/2014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9415494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E2BFE950-A675-4D2F-BC24-F20C16678C63}" type="datetimeFigureOut">
              <a:rPr lang="en-US" smtClean="0"/>
              <a:t>12/25/2014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815037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2BFE950-A675-4D2F-BC24-F20C16678C63}" type="datetimeFigureOut">
              <a:rPr lang="en-US" smtClean="0"/>
              <a:t>12/25/2014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98957844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smtClean="0"/>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09515884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37358721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1653547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88317159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401598442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2BFE950-A675-4D2F-BC24-F20C16678C63}" type="datetimeFigureOut">
              <a:rPr lang="en-US" smtClean="0"/>
              <a:t>12/25/2014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32604375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E2BFE950-A675-4D2F-BC24-F20C16678C63}" type="datetimeFigureOut">
              <a:rPr lang="en-US" smtClean="0"/>
              <a:t>12/25/2014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33081693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E2BFE950-A675-4D2F-BC24-F20C16678C63}" type="datetimeFigureOut">
              <a:rPr lang="en-US" smtClean="0"/>
              <a:t>12/25/2014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22626197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FE950-A675-4D2F-BC24-F20C16678C63}" type="datetimeFigureOut">
              <a:rPr lang="en-US" smtClean="0"/>
              <a:t>12/25/2014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30044875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2BFE950-A675-4D2F-BC24-F20C16678C63}" type="datetimeFigureOut">
              <a:rPr lang="en-US" smtClean="0"/>
              <a:t>12/25/2014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FBF3B76F-134E-46D2-9AE4-E34B44AF9B81}" type="slidenum">
              <a:rPr lang="en-US" smtClean="0"/>
              <a:t>‹#›</a:t>
            </a:fld>
            <a:endParaRPr lang="en-US"/>
          </a:p>
        </p:txBody>
      </p:sp>
    </p:spTree>
    <p:extLst>
      <p:ext uri="{BB962C8B-B14F-4D97-AF65-F5344CB8AC3E}">
        <p14:creationId xmlns:p14="http://schemas.microsoft.com/office/powerpoint/2010/main" val="13829544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hyperlink" Target="http://git-scm.com/book/en/" TargetMode="Externa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E2BFE950-A675-4D2F-BC24-F20C16678C63}" type="datetimeFigureOut">
              <a:rPr lang="en-US" smtClean="0"/>
              <a:t>12/25/2014</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fld id="{FBF3B76F-134E-46D2-9AE4-E34B44AF9B81}" type="slidenum">
              <a:rPr lang="en-US" smtClean="0"/>
              <a:t>‹#›</a:t>
            </a:fld>
            <a:endParaRPr lang="en-US"/>
          </a:p>
        </p:txBody>
      </p:sp>
      <p:sp>
        <p:nvSpPr>
          <p:cNvPr id="7" name="Rectangle 6"/>
          <p:cNvSpPr/>
          <p:nvPr userDrawn="1"/>
        </p:nvSpPr>
        <p:spPr>
          <a:xfrm>
            <a:off x="228600" y="6248401"/>
            <a:ext cx="8839200" cy="415498"/>
          </a:xfrm>
          <a:prstGeom prst="rect">
            <a:avLst/>
          </a:prstGeom>
        </p:spPr>
        <p:txBody>
          <a:bodyPr wrap="square">
            <a:spAutoFit/>
          </a:bodyPr>
          <a:lstStyle/>
          <a:p>
            <a:r>
              <a:rPr lang="en-US" sz="1050" dirty="0" smtClean="0"/>
              <a:t>Presentation based on Pro </a:t>
            </a:r>
            <a:r>
              <a:rPr lang="en-US" sz="1050" dirty="0" err="1" smtClean="0"/>
              <a:t>Git</a:t>
            </a:r>
            <a:r>
              <a:rPr lang="en-US" sz="1050" dirty="0" smtClean="0"/>
              <a:t> by Scott Chacon and Ben Straub available at </a:t>
            </a:r>
            <a:r>
              <a:rPr lang="en-US" sz="1050" dirty="0" smtClean="0">
                <a:hlinkClick r:id="rId19"/>
              </a:rPr>
              <a:t>http://git-scm.com/book/en/</a:t>
            </a:r>
            <a:r>
              <a:rPr lang="en-US" sz="1050" dirty="0" smtClean="0"/>
              <a:t>.  This work is licensed under the Creative Commons </a:t>
            </a:r>
            <a:r>
              <a:rPr lang="en-US" sz="1050" dirty="0" err="1" smtClean="0"/>
              <a:t>AttributionNonCommercial-ShareAlike</a:t>
            </a:r>
            <a:r>
              <a:rPr lang="en-US" sz="1050" dirty="0" smtClean="0"/>
              <a:t> 3.0 </a:t>
            </a:r>
            <a:r>
              <a:rPr lang="en-US" sz="1050" dirty="0" err="1" smtClean="0"/>
              <a:t>Unported</a:t>
            </a:r>
            <a:r>
              <a:rPr lang="en-US" sz="1050" dirty="0" smtClean="0"/>
              <a:t> License. </a:t>
            </a:r>
          </a:p>
        </p:txBody>
      </p:sp>
    </p:spTree>
    <p:extLst>
      <p:ext uri="{BB962C8B-B14F-4D97-AF65-F5344CB8AC3E}">
        <p14:creationId xmlns:p14="http://schemas.microsoft.com/office/powerpoint/2010/main" val="586712444"/>
      </p:ext>
    </p:extLst>
  </p:cSld>
  <p:clrMap bg1="dk1" tx1="lt1" bg2="dk2" tx2="lt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 id="2147483816" r:id="rId11"/>
    <p:sldLayoutId id="2147483817" r:id="rId12"/>
    <p:sldLayoutId id="2147483818" r:id="rId13"/>
    <p:sldLayoutId id="2147483819" r:id="rId14"/>
    <p:sldLayoutId id="2147483820" r:id="rId15"/>
    <p:sldLayoutId id="2147483821" r:id="rId16"/>
    <p:sldLayoutId id="2147483822" r:id="rId17"/>
  </p:sldLayoutIdLst>
  <p:timing>
    <p:tnLst>
      <p:par>
        <p:cTn id="1" dur="indefinite" restart="never" nodeType="tmRoot"/>
      </p:par>
    </p:tnLst>
  </p:timing>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spcBef>
          <a:spcPct val="20000"/>
        </a:spcBef>
        <a:spcAft>
          <a:spcPts val="600"/>
        </a:spcAft>
        <a:buClr>
          <a:schemeClr val="tx2"/>
        </a:buClr>
        <a:buSzPct val="70000"/>
        <a:buFont typeface="Wingdings 2"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git-scm.com/book/en/"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11.pn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6.xml"/><Relationship Id="rId5" Type="http://schemas.openxmlformats.org/officeDocument/2006/relationships/image" Target="../media/image38.png"/><Relationship Id="rId4" Type="http://schemas.openxmlformats.org/officeDocument/2006/relationships/image" Target="../media/image37.png"/></Relationships>
</file>

<file path=ppt/slides/_rels/slide3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58.png"/><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6.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image" Target="../media/image61.png"/><Relationship Id="rId1" Type="http://schemas.openxmlformats.org/officeDocument/2006/relationships/slideLayout" Target="../slideLayouts/slideLayout6.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image" Target="../media/image63.png"/><Relationship Id="rId1" Type="http://schemas.openxmlformats.org/officeDocument/2006/relationships/slideLayout" Target="../slideLayouts/slideLayout6.xml"/></Relationships>
</file>

<file path=ppt/slides/_rels/slide66.xml.rels><?xml version="1.0" encoding="UTF-8" standalone="yes"?>
<Relationships xmlns="http://schemas.openxmlformats.org/package/2006/relationships"><Relationship Id="rId2" Type="http://schemas.openxmlformats.org/officeDocument/2006/relationships/image" Target="../media/image65.png"/><Relationship Id="rId1" Type="http://schemas.openxmlformats.org/officeDocument/2006/relationships/slideLayout" Target="../slideLayouts/slideLayout6.xml"/></Relationships>
</file>

<file path=ppt/slides/_rels/slide67.xml.rels><?xml version="1.0" encoding="UTF-8" standalone="yes"?>
<Relationships xmlns="http://schemas.openxmlformats.org/package/2006/relationships"><Relationship Id="rId2" Type="http://schemas.openxmlformats.org/officeDocument/2006/relationships/hyperlink" Target="http://git-scm.com/book/en/v2/Git-Basics-Viewing-the-Commit-History" TargetMode="Externa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6.xml"/></Relationships>
</file>

<file path=ppt/slides/_rels/slide74.xml.rels><?xml version="1.0" encoding="UTF-8" standalone="yes"?>
<Relationships xmlns="http://schemas.openxmlformats.org/package/2006/relationships"><Relationship Id="rId2" Type="http://schemas.openxmlformats.org/officeDocument/2006/relationships/image" Target="../media/image68.png"/><Relationship Id="rId1" Type="http://schemas.openxmlformats.org/officeDocument/2006/relationships/slideLayout" Target="../slideLayouts/slideLayout6.xml"/></Relationships>
</file>

<file path=ppt/slides/_rels/slide75.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6.xml"/></Relationships>
</file>

<file path=ppt/slides/_rels/slide76.xml.rels><?xml version="1.0" encoding="UTF-8" standalone="yes"?>
<Relationships xmlns="http://schemas.openxmlformats.org/package/2006/relationships"><Relationship Id="rId2" Type="http://schemas.openxmlformats.org/officeDocument/2006/relationships/image" Target="../media/image70.png"/><Relationship Id="rId1" Type="http://schemas.openxmlformats.org/officeDocument/2006/relationships/slideLayout" Target="../slideLayouts/slideLayout6.xml"/></Relationships>
</file>

<file path=ppt/slides/_rels/slide77.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image" Target="../media/image71.png"/><Relationship Id="rId1" Type="http://schemas.openxmlformats.org/officeDocument/2006/relationships/slideLayout" Target="../slideLayouts/slideLayout6.xml"/><Relationship Id="rId5" Type="http://schemas.openxmlformats.org/officeDocument/2006/relationships/image" Target="../media/image74.png"/><Relationship Id="rId4" Type="http://schemas.openxmlformats.org/officeDocument/2006/relationships/image" Target="../media/image73.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75.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76.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2" Type="http://schemas.openxmlformats.org/officeDocument/2006/relationships/image" Target="../media/image77.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6.xml"/></Relationships>
</file>

<file path=ppt/slides/_rels/slide94.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6.xml"/></Relationships>
</file>

<file path=ppt/slides/_rels/slide95.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GIT Chapter 2:</a:t>
            </a:r>
            <a:br>
              <a:rPr lang="en-US" dirty="0" smtClean="0"/>
            </a:br>
            <a:r>
              <a:rPr lang="en-US" dirty="0" smtClean="0"/>
              <a:t>Basics</a:t>
            </a:r>
            <a:endParaRPr lang="en-US" dirty="0"/>
          </a:p>
        </p:txBody>
      </p:sp>
      <p:sp>
        <p:nvSpPr>
          <p:cNvPr id="5" name="Subtitle 4"/>
          <p:cNvSpPr>
            <a:spLocks noGrp="1"/>
          </p:cNvSpPr>
          <p:nvPr>
            <p:ph type="subTitle" idx="1"/>
          </p:nvPr>
        </p:nvSpPr>
        <p:spPr>
          <a:xfrm>
            <a:off x="1028020" y="3598339"/>
            <a:ext cx="7080026" cy="1659461"/>
          </a:xfrm>
        </p:spPr>
        <p:txBody>
          <a:bodyPr>
            <a:normAutofit fontScale="55000" lnSpcReduction="20000"/>
          </a:bodyPr>
          <a:lstStyle/>
          <a:p>
            <a:pPr algn="l"/>
            <a:r>
              <a:rPr lang="en-US" dirty="0" smtClean="0"/>
              <a:t>This presentation was prepared by Robert J. Garner, and is based on Pro </a:t>
            </a:r>
            <a:r>
              <a:rPr lang="en-US" dirty="0" err="1" smtClean="0"/>
              <a:t>Git</a:t>
            </a:r>
            <a:r>
              <a:rPr lang="en-US" dirty="0" smtClean="0"/>
              <a:t> by Scott Chacon and Ben </a:t>
            </a:r>
            <a:r>
              <a:rPr lang="en-US" dirty="0"/>
              <a:t>Straub available at </a:t>
            </a:r>
            <a:r>
              <a:rPr lang="en-US" dirty="0">
                <a:hlinkClick r:id="rId2"/>
              </a:rPr>
              <a:t>http://git-scm.com/book/en</a:t>
            </a:r>
            <a:r>
              <a:rPr lang="en-US" dirty="0" smtClean="0">
                <a:hlinkClick r:id="rId2"/>
              </a:rPr>
              <a:t>/</a:t>
            </a:r>
            <a:r>
              <a:rPr lang="en-US" dirty="0" smtClean="0"/>
              <a:t> </a:t>
            </a:r>
            <a:endParaRPr lang="en-US" dirty="0"/>
          </a:p>
          <a:p>
            <a:pPr algn="l"/>
            <a:r>
              <a:rPr lang="en-US" dirty="0" smtClean="0"/>
              <a:t>This </a:t>
            </a:r>
            <a:r>
              <a:rPr lang="en-US" dirty="0"/>
              <a:t>work is licensed under the Creative Commons </a:t>
            </a:r>
            <a:r>
              <a:rPr lang="en-US" dirty="0" err="1"/>
              <a:t>AttributionNonCommercial-ShareAlike</a:t>
            </a:r>
            <a:endParaRPr lang="en-US" dirty="0"/>
          </a:p>
          <a:p>
            <a:pPr algn="l"/>
            <a:r>
              <a:rPr lang="en-US" dirty="0"/>
              <a:t>3.0 </a:t>
            </a:r>
            <a:r>
              <a:rPr lang="en-US" dirty="0" err="1"/>
              <a:t>Unported</a:t>
            </a:r>
            <a:r>
              <a:rPr lang="en-US" dirty="0"/>
              <a:t> License. To view a copy of this license,</a:t>
            </a:r>
          </a:p>
          <a:p>
            <a:pPr algn="l"/>
            <a:r>
              <a:rPr lang="en-US" dirty="0"/>
              <a:t>visit http://creativecommons.org/licenses/by-nc-sa/3.0/ or send a letter</a:t>
            </a:r>
          </a:p>
          <a:p>
            <a:pPr algn="l"/>
            <a:r>
              <a:rPr lang="en-US" dirty="0"/>
              <a:t>to Creative Commons, 171 Second Street, Suite 300, San Francisco, California,</a:t>
            </a:r>
          </a:p>
          <a:p>
            <a:pPr algn="l"/>
            <a:r>
              <a:rPr lang="en-US" dirty="0"/>
              <a:t>94105, USA.</a:t>
            </a:r>
          </a:p>
        </p:txBody>
      </p:sp>
    </p:spTree>
    <p:extLst>
      <p:ext uri="{BB962C8B-B14F-4D97-AF65-F5344CB8AC3E}">
        <p14:creationId xmlns:p14="http://schemas.microsoft.com/office/powerpoint/2010/main" val="676839883"/>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Summary</a:t>
            </a:r>
            <a:endParaRPr lang="en-US" dirty="0"/>
          </a:p>
        </p:txBody>
      </p:sp>
      <p:sp>
        <p:nvSpPr>
          <p:cNvPr id="3" name="Content Placeholder 2"/>
          <p:cNvSpPr>
            <a:spLocks noGrp="1"/>
          </p:cNvSpPr>
          <p:nvPr>
            <p:ph idx="1"/>
          </p:nvPr>
        </p:nvSpPr>
        <p:spPr/>
        <p:txBody>
          <a:bodyPr>
            <a:normAutofit fontScale="92500" lnSpcReduction="10000"/>
          </a:bodyPr>
          <a:lstStyle/>
          <a:p>
            <a:r>
              <a:rPr lang="en-US" dirty="0" smtClean="0"/>
              <a:t>This </a:t>
            </a:r>
            <a:r>
              <a:rPr lang="en-US" dirty="0"/>
              <a:t>chapter covers </a:t>
            </a:r>
            <a:r>
              <a:rPr lang="en-US" dirty="0" smtClean="0"/>
              <a:t>basic </a:t>
            </a:r>
            <a:r>
              <a:rPr lang="en-US" dirty="0" err="1" smtClean="0"/>
              <a:t>commandS</a:t>
            </a:r>
            <a:r>
              <a:rPr lang="en-US" dirty="0" smtClean="0"/>
              <a:t> </a:t>
            </a:r>
            <a:r>
              <a:rPr lang="en-US" dirty="0"/>
              <a:t>you need to do the vast majority of the things you’ll eventually spend your time doing with </a:t>
            </a:r>
            <a:r>
              <a:rPr lang="en-US" dirty="0" err="1"/>
              <a:t>Git</a:t>
            </a:r>
            <a:r>
              <a:rPr lang="en-US" dirty="0"/>
              <a:t>. </a:t>
            </a:r>
            <a:endParaRPr lang="en-US" dirty="0" smtClean="0"/>
          </a:p>
          <a:p>
            <a:r>
              <a:rPr lang="en-US" dirty="0" smtClean="0"/>
              <a:t>By </a:t>
            </a:r>
            <a:r>
              <a:rPr lang="en-US" dirty="0"/>
              <a:t>the end of the chapter, you should be able to </a:t>
            </a:r>
            <a:r>
              <a:rPr lang="en-US" dirty="0" smtClean="0"/>
              <a:t>:</a:t>
            </a:r>
          </a:p>
          <a:p>
            <a:pPr lvl="1"/>
            <a:r>
              <a:rPr lang="en-US" dirty="0" smtClean="0"/>
              <a:t>configure </a:t>
            </a:r>
            <a:r>
              <a:rPr lang="en-US" dirty="0"/>
              <a:t>and initialize a </a:t>
            </a:r>
            <a:r>
              <a:rPr lang="en-US" dirty="0" smtClean="0"/>
              <a:t>repository</a:t>
            </a:r>
          </a:p>
          <a:p>
            <a:pPr lvl="1"/>
            <a:r>
              <a:rPr lang="en-US" dirty="0" smtClean="0"/>
              <a:t>begin </a:t>
            </a:r>
            <a:r>
              <a:rPr lang="en-US" dirty="0"/>
              <a:t>and stop tracking </a:t>
            </a:r>
            <a:r>
              <a:rPr lang="en-US" dirty="0" smtClean="0"/>
              <a:t>files</a:t>
            </a:r>
          </a:p>
          <a:p>
            <a:pPr lvl="1"/>
            <a:r>
              <a:rPr lang="en-US" dirty="0" smtClean="0"/>
              <a:t>stage </a:t>
            </a:r>
            <a:r>
              <a:rPr lang="en-US" dirty="0"/>
              <a:t>and commit changes</a:t>
            </a:r>
            <a:r>
              <a:rPr lang="en-US" dirty="0" smtClean="0"/>
              <a:t>.</a:t>
            </a:r>
          </a:p>
          <a:p>
            <a:r>
              <a:rPr lang="en-US" dirty="0" smtClean="0"/>
              <a:t>We’ll </a:t>
            </a:r>
            <a:r>
              <a:rPr lang="en-US" dirty="0"/>
              <a:t>also show you how </a:t>
            </a:r>
            <a:r>
              <a:rPr lang="en-US" dirty="0" smtClean="0"/>
              <a:t>to:</a:t>
            </a:r>
          </a:p>
          <a:p>
            <a:pPr lvl="1"/>
            <a:r>
              <a:rPr lang="en-US" dirty="0" smtClean="0"/>
              <a:t>set </a:t>
            </a:r>
            <a:r>
              <a:rPr lang="en-US" dirty="0"/>
              <a:t>up </a:t>
            </a:r>
            <a:r>
              <a:rPr lang="en-US" dirty="0" err="1"/>
              <a:t>Git</a:t>
            </a:r>
            <a:r>
              <a:rPr lang="en-US" dirty="0"/>
              <a:t> to ignore certain files and file </a:t>
            </a:r>
            <a:r>
              <a:rPr lang="en-US" dirty="0" smtClean="0"/>
              <a:t>patterns</a:t>
            </a:r>
          </a:p>
          <a:p>
            <a:pPr lvl="1"/>
            <a:r>
              <a:rPr lang="en-US" dirty="0" smtClean="0"/>
              <a:t>undo </a:t>
            </a:r>
            <a:r>
              <a:rPr lang="en-US" dirty="0"/>
              <a:t>mistakes quickly and </a:t>
            </a:r>
            <a:r>
              <a:rPr lang="en-US" dirty="0" smtClean="0"/>
              <a:t>easily</a:t>
            </a:r>
          </a:p>
          <a:p>
            <a:pPr lvl="1"/>
            <a:r>
              <a:rPr lang="en-US" dirty="0" smtClean="0"/>
              <a:t>browse </a:t>
            </a:r>
            <a:r>
              <a:rPr lang="en-US" dirty="0"/>
              <a:t>the history of your project and view changes between </a:t>
            </a:r>
            <a:r>
              <a:rPr lang="en-US" dirty="0" smtClean="0"/>
              <a:t>commits</a:t>
            </a:r>
          </a:p>
          <a:p>
            <a:pPr lvl="1"/>
            <a:r>
              <a:rPr lang="en-US" dirty="0" smtClean="0"/>
              <a:t>push </a:t>
            </a:r>
            <a:r>
              <a:rPr lang="en-US" dirty="0"/>
              <a:t>and pull from remote repositories.</a:t>
            </a:r>
          </a:p>
          <a:p>
            <a:endParaRPr lang="en-US" dirty="0" smtClean="0"/>
          </a:p>
          <a:p>
            <a:endParaRPr lang="en-US" dirty="0" smtClean="0"/>
          </a:p>
          <a:p>
            <a:endParaRPr lang="en-US" dirty="0" smtClean="0"/>
          </a:p>
          <a:p>
            <a:endParaRPr lang="en-US" dirty="0"/>
          </a:p>
        </p:txBody>
      </p:sp>
    </p:spTree>
    <p:extLst>
      <p:ext uri="{BB962C8B-B14F-4D97-AF65-F5344CB8AC3E}">
        <p14:creationId xmlns:p14="http://schemas.microsoft.com/office/powerpoint/2010/main" val="61482431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Getting a </a:t>
            </a:r>
            <a:r>
              <a:rPr lang="en-US" dirty="0" err="1"/>
              <a:t>Git</a:t>
            </a:r>
            <a:r>
              <a:rPr lang="en-US" dirty="0"/>
              <a:t> </a:t>
            </a:r>
            <a:r>
              <a:rPr lang="en-US" dirty="0" smtClean="0"/>
              <a:t>Repository</a:t>
            </a:r>
            <a:endParaRPr lang="en-US" dirty="0"/>
          </a:p>
        </p:txBody>
      </p:sp>
      <p:sp>
        <p:nvSpPr>
          <p:cNvPr id="3" name="Content Placeholder 2"/>
          <p:cNvSpPr>
            <a:spLocks noGrp="1"/>
          </p:cNvSpPr>
          <p:nvPr>
            <p:ph idx="1"/>
          </p:nvPr>
        </p:nvSpPr>
        <p:spPr/>
        <p:txBody>
          <a:bodyPr/>
          <a:lstStyle/>
          <a:p>
            <a:pPr marL="36900" indent="0">
              <a:buNone/>
            </a:pPr>
            <a:r>
              <a:rPr lang="en-US" dirty="0" smtClean="0"/>
              <a:t>You </a:t>
            </a:r>
            <a:r>
              <a:rPr lang="en-US" dirty="0"/>
              <a:t>can get a </a:t>
            </a:r>
            <a:r>
              <a:rPr lang="en-US" dirty="0" err="1"/>
              <a:t>Git</a:t>
            </a:r>
            <a:r>
              <a:rPr lang="en-US" dirty="0"/>
              <a:t> project using two main </a:t>
            </a:r>
            <a:r>
              <a:rPr lang="en-US" dirty="0" smtClean="0"/>
              <a:t>approaches</a:t>
            </a:r>
            <a:r>
              <a:rPr lang="en-US" dirty="0"/>
              <a:t>:</a:t>
            </a:r>
            <a:endParaRPr lang="en-US" dirty="0" smtClean="0"/>
          </a:p>
          <a:p>
            <a:r>
              <a:rPr lang="en-US" dirty="0" smtClean="0"/>
              <a:t>Initialize </a:t>
            </a:r>
            <a:r>
              <a:rPr lang="en-US" dirty="0"/>
              <a:t>a Repository in an Existing Directory</a:t>
            </a:r>
          </a:p>
          <a:p>
            <a:r>
              <a:rPr lang="en-US" dirty="0" smtClean="0"/>
              <a:t>Clone </a:t>
            </a:r>
            <a:r>
              <a:rPr lang="en-US" dirty="0"/>
              <a:t>an existing </a:t>
            </a:r>
            <a:r>
              <a:rPr lang="en-US" dirty="0" err="1"/>
              <a:t>Git</a:t>
            </a:r>
            <a:r>
              <a:rPr lang="en-US" dirty="0"/>
              <a:t> repository from another server.</a:t>
            </a:r>
          </a:p>
        </p:txBody>
      </p:sp>
    </p:spTree>
    <p:extLst>
      <p:ext uri="{BB962C8B-B14F-4D97-AF65-F5344CB8AC3E}">
        <p14:creationId xmlns:p14="http://schemas.microsoft.com/office/powerpoint/2010/main" val="64824023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Initializing a Repository in an Existing </a:t>
            </a:r>
            <a:r>
              <a:rPr lang="en-US" dirty="0" smtClean="0"/>
              <a:t>Directory</a:t>
            </a:r>
            <a:endParaRPr lang="en-US" dirty="0"/>
          </a:p>
        </p:txBody>
      </p:sp>
      <p:sp>
        <p:nvSpPr>
          <p:cNvPr id="3" name="Content Placeholder 2"/>
          <p:cNvSpPr>
            <a:spLocks noGrp="1"/>
          </p:cNvSpPr>
          <p:nvPr>
            <p:ph idx="1"/>
          </p:nvPr>
        </p:nvSpPr>
        <p:spPr/>
        <p:txBody>
          <a:bodyPr/>
          <a:lstStyle/>
          <a:p>
            <a:r>
              <a:rPr lang="en-US" dirty="0" smtClean="0"/>
              <a:t>If </a:t>
            </a:r>
            <a:r>
              <a:rPr lang="en-US" dirty="0"/>
              <a:t>you’re starting to track an existing project in </a:t>
            </a:r>
            <a:r>
              <a:rPr lang="en-US" dirty="0" err="1"/>
              <a:t>Git</a:t>
            </a:r>
            <a:r>
              <a:rPr lang="en-US" dirty="0"/>
              <a:t>, you need to go to the project’s directory and type </a:t>
            </a:r>
            <a:r>
              <a:rPr lang="en-US" dirty="0" err="1"/>
              <a:t>git</a:t>
            </a:r>
            <a:r>
              <a:rPr lang="en-US" dirty="0"/>
              <a:t> </a:t>
            </a:r>
            <a:r>
              <a:rPr lang="en-US" dirty="0" err="1" smtClean="0"/>
              <a:t>init.</a:t>
            </a:r>
            <a:endParaRPr lang="en-US" dirty="0" smtClean="0"/>
          </a:p>
          <a:p>
            <a:endParaRPr lang="en-US" dirty="0"/>
          </a:p>
        </p:txBody>
      </p:sp>
      <p:pic>
        <p:nvPicPr>
          <p:cNvPr id="7" name="Picture 6"/>
          <p:cNvPicPr>
            <a:picLocks noChangeAspect="1"/>
          </p:cNvPicPr>
          <p:nvPr/>
        </p:nvPicPr>
        <p:blipFill>
          <a:blip r:embed="rId2"/>
          <a:stretch>
            <a:fillRect/>
          </a:stretch>
        </p:blipFill>
        <p:spPr>
          <a:xfrm>
            <a:off x="1828800" y="2514600"/>
            <a:ext cx="5359675" cy="3467278"/>
          </a:xfrm>
          <a:prstGeom prst="rect">
            <a:avLst/>
          </a:prstGeom>
        </p:spPr>
      </p:pic>
      <p:pic>
        <p:nvPicPr>
          <p:cNvPr id="14" name="Picture 13"/>
          <p:cNvPicPr>
            <a:picLocks noChangeAspect="1"/>
          </p:cNvPicPr>
          <p:nvPr/>
        </p:nvPicPr>
        <p:blipFill>
          <a:blip r:embed="rId3"/>
          <a:stretch>
            <a:fillRect/>
          </a:stretch>
        </p:blipFill>
        <p:spPr>
          <a:xfrm>
            <a:off x="1828800" y="2514600"/>
            <a:ext cx="5359675" cy="3467278"/>
          </a:xfrm>
          <a:prstGeom prst="rect">
            <a:avLst/>
          </a:prstGeom>
        </p:spPr>
      </p:pic>
      <p:pic>
        <p:nvPicPr>
          <p:cNvPr id="15" name="Picture 14"/>
          <p:cNvPicPr>
            <a:picLocks noChangeAspect="1"/>
          </p:cNvPicPr>
          <p:nvPr/>
        </p:nvPicPr>
        <p:blipFill>
          <a:blip r:embed="rId4"/>
          <a:stretch>
            <a:fillRect/>
          </a:stretch>
        </p:blipFill>
        <p:spPr>
          <a:xfrm>
            <a:off x="1828800" y="2514600"/>
            <a:ext cx="5359675" cy="3467278"/>
          </a:xfrm>
          <a:prstGeom prst="rect">
            <a:avLst/>
          </a:prstGeom>
        </p:spPr>
      </p:pic>
      <p:pic>
        <p:nvPicPr>
          <p:cNvPr id="16" name="Picture 15"/>
          <p:cNvPicPr>
            <a:picLocks noChangeAspect="1"/>
          </p:cNvPicPr>
          <p:nvPr/>
        </p:nvPicPr>
        <p:blipFill>
          <a:blip r:embed="rId5"/>
          <a:stretch>
            <a:fillRect/>
          </a:stretch>
        </p:blipFill>
        <p:spPr>
          <a:xfrm>
            <a:off x="1828800" y="2514600"/>
            <a:ext cx="5359675" cy="3467278"/>
          </a:xfrm>
          <a:prstGeom prst="rect">
            <a:avLst/>
          </a:prstGeom>
        </p:spPr>
      </p:pic>
      <p:pic>
        <p:nvPicPr>
          <p:cNvPr id="17" name="Picture 16"/>
          <p:cNvPicPr>
            <a:picLocks noChangeAspect="1"/>
          </p:cNvPicPr>
          <p:nvPr/>
        </p:nvPicPr>
        <p:blipFill>
          <a:blip r:embed="rId6"/>
          <a:stretch>
            <a:fillRect/>
          </a:stretch>
        </p:blipFill>
        <p:spPr>
          <a:xfrm>
            <a:off x="1828800" y="2514600"/>
            <a:ext cx="5359675" cy="3467278"/>
          </a:xfrm>
          <a:prstGeom prst="rect">
            <a:avLst/>
          </a:prstGeom>
        </p:spPr>
      </p:pic>
      <p:pic>
        <p:nvPicPr>
          <p:cNvPr id="18" name="Picture 17"/>
          <p:cNvPicPr>
            <a:picLocks noChangeAspect="1"/>
          </p:cNvPicPr>
          <p:nvPr/>
        </p:nvPicPr>
        <p:blipFill>
          <a:blip r:embed="rId7"/>
          <a:stretch>
            <a:fillRect/>
          </a:stretch>
        </p:blipFill>
        <p:spPr>
          <a:xfrm>
            <a:off x="1828800" y="2514600"/>
            <a:ext cx="5359675" cy="3467278"/>
          </a:xfrm>
          <a:prstGeom prst="rect">
            <a:avLst/>
          </a:prstGeom>
        </p:spPr>
      </p:pic>
      <p:pic>
        <p:nvPicPr>
          <p:cNvPr id="19" name="Picture 18"/>
          <p:cNvPicPr>
            <a:picLocks noChangeAspect="1"/>
          </p:cNvPicPr>
          <p:nvPr/>
        </p:nvPicPr>
        <p:blipFill>
          <a:blip r:embed="rId8"/>
          <a:stretch>
            <a:fillRect/>
          </a:stretch>
        </p:blipFill>
        <p:spPr>
          <a:xfrm>
            <a:off x="1828800" y="2514600"/>
            <a:ext cx="5359675" cy="3467278"/>
          </a:xfrm>
          <a:prstGeom prst="rect">
            <a:avLst/>
          </a:prstGeom>
        </p:spPr>
      </p:pic>
      <p:sp>
        <p:nvSpPr>
          <p:cNvPr id="21" name="Rounded Rectangular Callout 20"/>
          <p:cNvSpPr/>
          <p:nvPr/>
        </p:nvSpPr>
        <p:spPr>
          <a:xfrm>
            <a:off x="6452865" y="3970551"/>
            <a:ext cx="1600200" cy="914400"/>
          </a:xfrm>
          <a:prstGeom prst="wedgeRoundRectCallout">
            <a:avLst>
              <a:gd name="adj1" fmla="val -90379"/>
              <a:gd name="adj2" fmla="val 3846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smtClean="0"/>
              <a:t>git</a:t>
            </a:r>
            <a:r>
              <a:rPr lang="en-US" dirty="0" smtClean="0"/>
              <a:t> </a:t>
            </a:r>
            <a:r>
              <a:rPr lang="en-US" dirty="0" err="1" smtClean="0"/>
              <a:t>init</a:t>
            </a:r>
            <a:r>
              <a:rPr lang="en-US" dirty="0" smtClean="0"/>
              <a:t> adds this .</a:t>
            </a:r>
            <a:r>
              <a:rPr lang="en-US" dirty="0" err="1" smtClean="0"/>
              <a:t>git</a:t>
            </a:r>
            <a:r>
              <a:rPr lang="en-US" dirty="0" smtClean="0"/>
              <a:t> directory!</a:t>
            </a:r>
            <a:endParaRPr lang="en-US" dirty="0"/>
          </a:p>
        </p:txBody>
      </p:sp>
      <p:sp>
        <p:nvSpPr>
          <p:cNvPr id="22" name="Rounded Rectangular Callout 21"/>
          <p:cNvSpPr/>
          <p:nvPr/>
        </p:nvSpPr>
        <p:spPr>
          <a:xfrm>
            <a:off x="5881750" y="3124200"/>
            <a:ext cx="2742430" cy="381000"/>
          </a:xfrm>
          <a:prstGeom prst="wedgeRoundRectCallout">
            <a:avLst>
              <a:gd name="adj1" fmla="val -90379"/>
              <a:gd name="adj2" fmla="val 3846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Notice empty directory.</a:t>
            </a:r>
            <a:endParaRPr lang="en-US" dirty="0"/>
          </a:p>
        </p:txBody>
      </p:sp>
    </p:spTree>
    <p:extLst>
      <p:ext uri="{BB962C8B-B14F-4D97-AF65-F5344CB8AC3E}">
        <p14:creationId xmlns:p14="http://schemas.microsoft.com/office/powerpoint/2010/main" val="35326322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fade">
                                      <p:cBhvr>
                                        <p:cTn id="12" dur="500"/>
                                        <p:tgtEl>
                                          <p:spTgt spid="15"/>
                                        </p:tgtEl>
                                      </p:cBhvr>
                                    </p:animEffect>
                                  </p:childTnLst>
                                </p:cTn>
                              </p:par>
                            </p:childTnLst>
                          </p:cTn>
                        </p:par>
                        <p:par>
                          <p:cTn id="13" fill="hold">
                            <p:stCondLst>
                              <p:cond delay="500"/>
                            </p:stCondLst>
                            <p:childTnLst>
                              <p:par>
                                <p:cTn id="14" presetID="42" presetClass="entr" presetSubtype="0" fill="hold" grpId="0" nodeType="afterEffect">
                                  <p:stCondLst>
                                    <p:cond delay="0"/>
                                  </p:stCondLst>
                                  <p:childTnLst>
                                    <p:set>
                                      <p:cBhvr>
                                        <p:cTn id="15" dur="1" fill="hold">
                                          <p:stCondLst>
                                            <p:cond delay="0"/>
                                          </p:stCondLst>
                                        </p:cTn>
                                        <p:tgtEl>
                                          <p:spTgt spid="22"/>
                                        </p:tgtEl>
                                        <p:attrNameLst>
                                          <p:attrName>style.visibility</p:attrName>
                                        </p:attrNameLst>
                                      </p:cBhvr>
                                      <p:to>
                                        <p:strVal val="visible"/>
                                      </p:to>
                                    </p:set>
                                    <p:animEffect transition="in" filter="fade">
                                      <p:cBhvr>
                                        <p:cTn id="16" dur="1000"/>
                                        <p:tgtEl>
                                          <p:spTgt spid="22"/>
                                        </p:tgtEl>
                                      </p:cBhvr>
                                    </p:animEffect>
                                    <p:anim calcmode="lin" valueType="num">
                                      <p:cBhvr>
                                        <p:cTn id="17" dur="1000" fill="hold"/>
                                        <p:tgtEl>
                                          <p:spTgt spid="22"/>
                                        </p:tgtEl>
                                        <p:attrNameLst>
                                          <p:attrName>ppt_x</p:attrName>
                                        </p:attrNameLst>
                                      </p:cBhvr>
                                      <p:tavLst>
                                        <p:tav tm="0">
                                          <p:val>
                                            <p:strVal val="#ppt_x"/>
                                          </p:val>
                                        </p:tav>
                                        <p:tav tm="100000">
                                          <p:val>
                                            <p:strVal val="#ppt_x"/>
                                          </p:val>
                                        </p:tav>
                                      </p:tavLst>
                                    </p:anim>
                                    <p:anim calcmode="lin" valueType="num">
                                      <p:cBhvr>
                                        <p:cTn id="18" dur="1000" fill="hold"/>
                                        <p:tgtEl>
                                          <p:spTgt spid="22"/>
                                        </p:tgtEl>
                                        <p:attrNameLst>
                                          <p:attrName>ppt_y</p:attrName>
                                        </p:attrNameLst>
                                      </p:cBhvr>
                                      <p:tavLst>
                                        <p:tav tm="0">
                                          <p:val>
                                            <p:strVal val="#ppt_y+.1"/>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childTnLst>
                          </p:cTn>
                        </p:par>
                      </p:childTnLst>
                    </p:cTn>
                  </p:par>
                  <p:par>
                    <p:cTn id="24" fill="hold">
                      <p:stCondLst>
                        <p:cond delay="indefinite"/>
                      </p:stCondLst>
                      <p:childTnLst>
                        <p:par>
                          <p:cTn id="25" fill="hold">
                            <p:stCondLst>
                              <p:cond delay="0"/>
                            </p:stCondLst>
                            <p:childTnLst>
                              <p:par>
                                <p:cTn id="26" presetID="10" presetClass="entr" presetSubtype="0" fill="hold" nodeType="click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nodeType="click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10" presetClass="entr" presetSubtype="0" fill="hold" nodeType="clickEffect">
                                  <p:stCondLst>
                                    <p:cond delay="0"/>
                                  </p:stCondLst>
                                  <p:childTnLst>
                                    <p:set>
                                      <p:cBhvr>
                                        <p:cTn id="37" dur="1" fill="hold">
                                          <p:stCondLst>
                                            <p:cond delay="0"/>
                                          </p:stCondLst>
                                        </p:cTn>
                                        <p:tgtEl>
                                          <p:spTgt spid="19"/>
                                        </p:tgtEl>
                                        <p:attrNameLst>
                                          <p:attrName>style.visibility</p:attrName>
                                        </p:attrNameLst>
                                      </p:cBhvr>
                                      <p:to>
                                        <p:strVal val="visible"/>
                                      </p:to>
                                    </p:set>
                                    <p:animEffect transition="in" filter="fade">
                                      <p:cBhvr>
                                        <p:cTn id="38" dur="500"/>
                                        <p:tgtEl>
                                          <p:spTgt spid="19"/>
                                        </p:tgtEl>
                                      </p:cBhvr>
                                    </p:animEffect>
                                  </p:childTnLst>
                                </p:cTn>
                              </p:par>
                            </p:childTnLst>
                          </p:cTn>
                        </p:par>
                        <p:par>
                          <p:cTn id="39" fill="hold">
                            <p:stCondLst>
                              <p:cond delay="500"/>
                            </p:stCondLst>
                            <p:childTnLst>
                              <p:par>
                                <p:cTn id="40" presetID="42" presetClass="entr" presetSubtype="0" fill="hold" grpId="0" nodeType="afterEffect">
                                  <p:stCondLst>
                                    <p:cond delay="0"/>
                                  </p:stCondLst>
                                  <p:childTnLst>
                                    <p:set>
                                      <p:cBhvr>
                                        <p:cTn id="41" dur="1" fill="hold">
                                          <p:stCondLst>
                                            <p:cond delay="0"/>
                                          </p:stCondLst>
                                        </p:cTn>
                                        <p:tgtEl>
                                          <p:spTgt spid="21"/>
                                        </p:tgtEl>
                                        <p:attrNameLst>
                                          <p:attrName>style.visibility</p:attrName>
                                        </p:attrNameLst>
                                      </p:cBhvr>
                                      <p:to>
                                        <p:strVal val="visible"/>
                                      </p:to>
                                    </p:set>
                                    <p:animEffect transition="in" filter="fade">
                                      <p:cBhvr>
                                        <p:cTn id="42" dur="1000"/>
                                        <p:tgtEl>
                                          <p:spTgt spid="21"/>
                                        </p:tgtEl>
                                      </p:cBhvr>
                                    </p:animEffect>
                                    <p:anim calcmode="lin" valueType="num">
                                      <p:cBhvr>
                                        <p:cTn id="43" dur="1000" fill="hold"/>
                                        <p:tgtEl>
                                          <p:spTgt spid="21"/>
                                        </p:tgtEl>
                                        <p:attrNameLst>
                                          <p:attrName>ppt_x</p:attrName>
                                        </p:attrNameLst>
                                      </p:cBhvr>
                                      <p:tavLst>
                                        <p:tav tm="0">
                                          <p:val>
                                            <p:strVal val="#ppt_x"/>
                                          </p:val>
                                        </p:tav>
                                        <p:tav tm="100000">
                                          <p:val>
                                            <p:strVal val="#ppt_x"/>
                                          </p:val>
                                        </p:tav>
                                      </p:tavLst>
                                    </p:anim>
                                    <p:anim calcmode="lin" valueType="num">
                                      <p:cBhvr>
                                        <p:cTn id="44" dur="1000" fill="hold"/>
                                        <p:tgtEl>
                                          <p:spTgt spid="2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2"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Initializing a Repository in an Existing Directory</a:t>
            </a:r>
          </a:p>
        </p:txBody>
      </p:sp>
      <p:sp>
        <p:nvSpPr>
          <p:cNvPr id="3" name="Content Placeholder 2"/>
          <p:cNvSpPr>
            <a:spLocks noGrp="1"/>
          </p:cNvSpPr>
          <p:nvPr>
            <p:ph idx="1"/>
          </p:nvPr>
        </p:nvSpPr>
        <p:spPr/>
        <p:txBody>
          <a:bodyPr/>
          <a:lstStyle/>
          <a:p>
            <a:r>
              <a:rPr lang="en-US" dirty="0" smtClean="0"/>
              <a:t>Normally don’t do </a:t>
            </a:r>
            <a:r>
              <a:rPr lang="en-US" dirty="0" err="1" smtClean="0"/>
              <a:t>dir</a:t>
            </a:r>
            <a:r>
              <a:rPr lang="en-US" dirty="0" smtClean="0"/>
              <a:t> commands. </a:t>
            </a:r>
          </a:p>
          <a:p>
            <a:r>
              <a:rPr lang="en-US" dirty="0" smtClean="0"/>
              <a:t>Typically looks like:</a:t>
            </a:r>
            <a:endParaRPr lang="en-US" dirty="0"/>
          </a:p>
        </p:txBody>
      </p:sp>
      <p:pic>
        <p:nvPicPr>
          <p:cNvPr id="4" name="Picture 3"/>
          <p:cNvPicPr>
            <a:picLocks noChangeAspect="1"/>
          </p:cNvPicPr>
          <p:nvPr/>
        </p:nvPicPr>
        <p:blipFill>
          <a:blip r:embed="rId2"/>
          <a:stretch>
            <a:fillRect/>
          </a:stretch>
        </p:blipFill>
        <p:spPr>
          <a:xfrm>
            <a:off x="687118" y="2743200"/>
            <a:ext cx="7836416" cy="2683478"/>
          </a:xfrm>
          <a:prstGeom prst="rect">
            <a:avLst/>
          </a:prstGeom>
        </p:spPr>
      </p:pic>
      <p:sp>
        <p:nvSpPr>
          <p:cNvPr id="5" name="Rounded Rectangular Callout 4"/>
          <p:cNvSpPr/>
          <p:nvPr/>
        </p:nvSpPr>
        <p:spPr>
          <a:xfrm>
            <a:off x="6934200" y="3276600"/>
            <a:ext cx="2278468" cy="609600"/>
          </a:xfrm>
          <a:prstGeom prst="wedgeRoundRectCallout">
            <a:avLst>
              <a:gd name="adj1" fmla="val -114334"/>
              <a:gd name="adj2" fmla="val 1753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Use cd to change to repo directory.</a:t>
            </a:r>
            <a:endParaRPr lang="en-US" dirty="0"/>
          </a:p>
        </p:txBody>
      </p:sp>
      <p:sp>
        <p:nvSpPr>
          <p:cNvPr id="6" name="Rounded Rectangular Callout 5"/>
          <p:cNvSpPr/>
          <p:nvPr/>
        </p:nvSpPr>
        <p:spPr>
          <a:xfrm>
            <a:off x="5486400" y="4191000"/>
            <a:ext cx="2895600" cy="609600"/>
          </a:xfrm>
          <a:prstGeom prst="wedgeRoundRectCallout">
            <a:avLst>
              <a:gd name="adj1" fmla="val -103823"/>
              <a:gd name="adj2" fmla="val -101066"/>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Use </a:t>
            </a:r>
            <a:r>
              <a:rPr lang="en-US" dirty="0" err="1" smtClean="0"/>
              <a:t>git</a:t>
            </a:r>
            <a:r>
              <a:rPr lang="en-US" dirty="0" smtClean="0"/>
              <a:t> </a:t>
            </a:r>
            <a:r>
              <a:rPr lang="en-US" dirty="0" err="1" smtClean="0"/>
              <a:t>init</a:t>
            </a:r>
            <a:r>
              <a:rPr lang="en-US" dirty="0" smtClean="0"/>
              <a:t> to setup directory as </a:t>
            </a:r>
            <a:r>
              <a:rPr lang="en-US" dirty="0" err="1" smtClean="0"/>
              <a:t>git</a:t>
            </a:r>
            <a:r>
              <a:rPr lang="en-US" dirty="0" smtClean="0"/>
              <a:t> repository.</a:t>
            </a:r>
            <a:endParaRPr lang="en-US" dirty="0"/>
          </a:p>
        </p:txBody>
      </p:sp>
    </p:spTree>
    <p:extLst>
      <p:ext uri="{BB962C8B-B14F-4D97-AF65-F5344CB8AC3E}">
        <p14:creationId xmlns:p14="http://schemas.microsoft.com/office/powerpoint/2010/main" val="31800762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fade">
                                      <p:cBhvr>
                                        <p:cTn id="13" dur="1000"/>
                                        <p:tgtEl>
                                          <p:spTgt spid="6"/>
                                        </p:tgtEl>
                                      </p:cBhvr>
                                    </p:animEffect>
                                    <p:anim calcmode="lin" valueType="num">
                                      <p:cBhvr>
                                        <p:cTn id="14" dur="1000" fill="hold"/>
                                        <p:tgtEl>
                                          <p:spTgt spid="6"/>
                                        </p:tgtEl>
                                        <p:attrNameLst>
                                          <p:attrName>ppt_x</p:attrName>
                                        </p:attrNameLst>
                                      </p:cBhvr>
                                      <p:tavLst>
                                        <p:tav tm="0">
                                          <p:val>
                                            <p:strVal val="#ppt_x"/>
                                          </p:val>
                                        </p:tav>
                                        <p:tav tm="100000">
                                          <p:val>
                                            <p:strVal val="#ppt_x"/>
                                          </p:val>
                                        </p:tav>
                                      </p:tavLst>
                                    </p:anim>
                                    <p:anim calcmode="lin" valueType="num">
                                      <p:cBhvr>
                                        <p:cTn id="15"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t>
            </a:r>
            <a:r>
              <a:rPr lang="en-US" dirty="0" err="1" smtClean="0"/>
              <a:t>git</a:t>
            </a:r>
            <a:r>
              <a:rPr lang="en-US" dirty="0" smtClean="0"/>
              <a:t> directory</a:t>
            </a:r>
            <a:endParaRPr lang="en-US" dirty="0"/>
          </a:p>
        </p:txBody>
      </p:sp>
      <p:sp>
        <p:nvSpPr>
          <p:cNvPr id="3" name="Content Placeholder 2"/>
          <p:cNvSpPr>
            <a:spLocks noGrp="1"/>
          </p:cNvSpPr>
          <p:nvPr>
            <p:ph idx="1"/>
          </p:nvPr>
        </p:nvSpPr>
        <p:spPr/>
        <p:txBody>
          <a:bodyPr>
            <a:normAutofit fontScale="92500"/>
          </a:bodyPr>
          <a:lstStyle/>
          <a:p>
            <a:r>
              <a:rPr lang="en-US" dirty="0" smtClean="0"/>
              <a:t>Contains </a:t>
            </a:r>
            <a:r>
              <a:rPr lang="en-US" dirty="0"/>
              <a:t>all of your necessary repository files – a </a:t>
            </a:r>
            <a:r>
              <a:rPr lang="en-US" dirty="0" err="1"/>
              <a:t>Git</a:t>
            </a:r>
            <a:r>
              <a:rPr lang="en-US" dirty="0"/>
              <a:t> repository skeleton. </a:t>
            </a:r>
            <a:endParaRPr lang="en-US" dirty="0" smtClean="0"/>
          </a:p>
          <a:p>
            <a:endParaRPr lang="en-US" dirty="0"/>
          </a:p>
          <a:p>
            <a:endParaRPr lang="en-US" dirty="0" smtClean="0"/>
          </a:p>
          <a:p>
            <a:endParaRPr lang="en-US" dirty="0"/>
          </a:p>
          <a:p>
            <a:endParaRPr lang="en-US" dirty="0" smtClean="0"/>
          </a:p>
          <a:p>
            <a:endParaRPr lang="en-US" dirty="0"/>
          </a:p>
          <a:p>
            <a:endParaRPr lang="en-US" dirty="0" smtClean="0"/>
          </a:p>
          <a:p>
            <a:r>
              <a:rPr lang="en-US" dirty="0" smtClean="0"/>
              <a:t>At </a:t>
            </a:r>
            <a:r>
              <a:rPr lang="en-US" dirty="0"/>
              <a:t>this point, nothing in your project is tracked yet. (See Chapter 10 for </a:t>
            </a:r>
            <a:r>
              <a:rPr lang="en-US" dirty="0" smtClean="0"/>
              <a:t>information </a:t>
            </a:r>
            <a:r>
              <a:rPr lang="en-US" dirty="0"/>
              <a:t>about </a:t>
            </a:r>
            <a:r>
              <a:rPr lang="en-US" dirty="0" smtClean="0"/>
              <a:t>what </a:t>
            </a:r>
            <a:r>
              <a:rPr lang="en-US" dirty="0"/>
              <a:t>files are contained in the .</a:t>
            </a:r>
            <a:r>
              <a:rPr lang="en-US" dirty="0" err="1"/>
              <a:t>git</a:t>
            </a:r>
            <a:r>
              <a:rPr lang="en-US" dirty="0"/>
              <a:t> </a:t>
            </a:r>
            <a:r>
              <a:rPr lang="en-US" dirty="0" smtClean="0"/>
              <a:t>directory.) </a:t>
            </a:r>
            <a:endParaRPr lang="en-US" dirty="0"/>
          </a:p>
        </p:txBody>
      </p:sp>
      <p:pic>
        <p:nvPicPr>
          <p:cNvPr id="4" name="Picture 3"/>
          <p:cNvPicPr>
            <a:picLocks noChangeAspect="1"/>
          </p:cNvPicPr>
          <p:nvPr/>
        </p:nvPicPr>
        <p:blipFill>
          <a:blip r:embed="rId2"/>
          <a:stretch>
            <a:fillRect/>
          </a:stretch>
        </p:blipFill>
        <p:spPr>
          <a:xfrm>
            <a:off x="2286000" y="2438400"/>
            <a:ext cx="4114800" cy="2490636"/>
          </a:xfrm>
          <a:prstGeom prst="rect">
            <a:avLst/>
          </a:prstGeom>
        </p:spPr>
      </p:pic>
    </p:spTree>
    <p:extLst>
      <p:ext uri="{BB962C8B-B14F-4D97-AF65-F5344CB8AC3E}">
        <p14:creationId xmlns:p14="http://schemas.microsoft.com/office/powerpoint/2010/main" val="38614358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Initializing a Repository in an Existing Directory</a:t>
            </a:r>
          </a:p>
        </p:txBody>
      </p:sp>
      <p:sp>
        <p:nvSpPr>
          <p:cNvPr id="3" name="Content Placeholder 2"/>
          <p:cNvSpPr>
            <a:spLocks noGrp="1"/>
          </p:cNvSpPr>
          <p:nvPr>
            <p:ph idx="1"/>
          </p:nvPr>
        </p:nvSpPr>
        <p:spPr/>
        <p:txBody>
          <a:bodyPr>
            <a:normAutofit/>
          </a:bodyPr>
          <a:lstStyle/>
          <a:p>
            <a:r>
              <a:rPr lang="en-US" dirty="0"/>
              <a:t>If you want to start version-controlling existing files (as opposed to an empty directory), you should probably begin tracking those files and do an initial commit</a:t>
            </a:r>
            <a:r>
              <a:rPr lang="en-US" dirty="0" smtClean="0"/>
              <a:t>.</a:t>
            </a:r>
          </a:p>
          <a:p>
            <a:r>
              <a:rPr lang="en-US" dirty="0" smtClean="0"/>
              <a:t>You </a:t>
            </a:r>
            <a:r>
              <a:rPr lang="en-US" dirty="0"/>
              <a:t>can accomplish that with a few </a:t>
            </a:r>
            <a:r>
              <a:rPr lang="en-US" dirty="0" err="1"/>
              <a:t>git</a:t>
            </a:r>
            <a:r>
              <a:rPr lang="en-US" dirty="0"/>
              <a:t> add commands that specify the files you want to track, followed by a </a:t>
            </a:r>
            <a:r>
              <a:rPr lang="en-US" dirty="0" err="1"/>
              <a:t>git</a:t>
            </a:r>
            <a:r>
              <a:rPr lang="en-US" dirty="0"/>
              <a:t> commit</a:t>
            </a:r>
            <a:r>
              <a:rPr lang="en-US" dirty="0" smtClean="0"/>
              <a:t>:</a:t>
            </a:r>
            <a:endParaRPr lang="en-US" dirty="0"/>
          </a:p>
          <a:p>
            <a:pPr marL="720000" lvl="2" indent="0">
              <a:buNone/>
            </a:pPr>
            <a:r>
              <a:rPr lang="en-US" dirty="0"/>
              <a:t>$ </a:t>
            </a:r>
            <a:r>
              <a:rPr lang="en-US" dirty="0" err="1"/>
              <a:t>git</a:t>
            </a:r>
            <a:r>
              <a:rPr lang="en-US" dirty="0"/>
              <a:t> add *.c</a:t>
            </a:r>
          </a:p>
          <a:p>
            <a:pPr marL="720000" lvl="2" indent="0">
              <a:buNone/>
            </a:pPr>
            <a:r>
              <a:rPr lang="en-US" dirty="0"/>
              <a:t>$ </a:t>
            </a:r>
            <a:r>
              <a:rPr lang="en-US" dirty="0" err="1"/>
              <a:t>git</a:t>
            </a:r>
            <a:r>
              <a:rPr lang="en-US" dirty="0"/>
              <a:t> add LICENSE</a:t>
            </a:r>
          </a:p>
          <a:p>
            <a:pPr marL="720000" lvl="2" indent="0">
              <a:buNone/>
            </a:pPr>
            <a:r>
              <a:rPr lang="en-US" dirty="0"/>
              <a:t>$ </a:t>
            </a:r>
            <a:r>
              <a:rPr lang="en-US" dirty="0" err="1"/>
              <a:t>git</a:t>
            </a:r>
            <a:r>
              <a:rPr lang="en-US" dirty="0"/>
              <a:t> commit -m 'initial project version'</a:t>
            </a:r>
          </a:p>
          <a:p>
            <a:r>
              <a:rPr lang="en-US" dirty="0"/>
              <a:t>We’ll go over what these commands do in just a minute. </a:t>
            </a:r>
            <a:endParaRPr lang="en-US" dirty="0" smtClean="0"/>
          </a:p>
          <a:p>
            <a:r>
              <a:rPr lang="en-US" dirty="0" smtClean="0"/>
              <a:t>At </a:t>
            </a:r>
            <a:r>
              <a:rPr lang="en-US" dirty="0"/>
              <a:t>this point, you have a </a:t>
            </a:r>
            <a:r>
              <a:rPr lang="en-US" dirty="0" err="1"/>
              <a:t>Git</a:t>
            </a:r>
            <a:r>
              <a:rPr lang="en-US" dirty="0"/>
              <a:t> repository with tracked files and an initial commit.</a:t>
            </a:r>
          </a:p>
        </p:txBody>
      </p:sp>
    </p:spTree>
    <p:extLst>
      <p:ext uri="{BB962C8B-B14F-4D97-AF65-F5344CB8AC3E}">
        <p14:creationId xmlns:p14="http://schemas.microsoft.com/office/powerpoint/2010/main" val="276773593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Cloning an Existing </a:t>
            </a:r>
            <a:r>
              <a:rPr lang="en-US" dirty="0" smtClean="0"/>
              <a:t>Repository</a:t>
            </a:r>
            <a:endParaRPr lang="en-US" dirty="0"/>
          </a:p>
        </p:txBody>
      </p:sp>
      <p:sp>
        <p:nvSpPr>
          <p:cNvPr id="3" name="Content Placeholder 2"/>
          <p:cNvSpPr>
            <a:spLocks noGrp="1"/>
          </p:cNvSpPr>
          <p:nvPr>
            <p:ph idx="1"/>
          </p:nvPr>
        </p:nvSpPr>
        <p:spPr/>
        <p:txBody>
          <a:bodyPr>
            <a:normAutofit/>
          </a:bodyPr>
          <a:lstStyle/>
          <a:p>
            <a:r>
              <a:rPr lang="en-US" sz="2800" dirty="0" smtClean="0"/>
              <a:t>To </a:t>
            </a:r>
            <a:r>
              <a:rPr lang="en-US" sz="2800" dirty="0"/>
              <a:t>get a copy of an existing </a:t>
            </a:r>
            <a:r>
              <a:rPr lang="en-US" sz="2800" dirty="0" err="1"/>
              <a:t>Git</a:t>
            </a:r>
            <a:r>
              <a:rPr lang="en-US" sz="2800" dirty="0"/>
              <a:t> repository u</a:t>
            </a:r>
            <a:r>
              <a:rPr lang="en-US" sz="2800" dirty="0" smtClean="0"/>
              <a:t>se </a:t>
            </a:r>
            <a:r>
              <a:rPr lang="en-US" sz="2800" dirty="0" err="1" smtClean="0">
                <a:solidFill>
                  <a:schemeClr val="accent1">
                    <a:lumMod val="60000"/>
                    <a:lumOff val="40000"/>
                  </a:schemeClr>
                </a:solidFill>
              </a:rPr>
              <a:t>git</a:t>
            </a:r>
            <a:r>
              <a:rPr lang="en-US" sz="2800" dirty="0" smtClean="0">
                <a:solidFill>
                  <a:schemeClr val="accent1">
                    <a:lumMod val="60000"/>
                    <a:lumOff val="40000"/>
                  </a:schemeClr>
                </a:solidFill>
              </a:rPr>
              <a:t> </a:t>
            </a:r>
            <a:r>
              <a:rPr lang="en-US" sz="2800" dirty="0">
                <a:solidFill>
                  <a:schemeClr val="accent1">
                    <a:lumMod val="60000"/>
                    <a:lumOff val="40000"/>
                  </a:schemeClr>
                </a:solidFill>
              </a:rPr>
              <a:t>clone</a:t>
            </a:r>
            <a:r>
              <a:rPr lang="en-US" sz="2800" dirty="0" smtClean="0"/>
              <a:t>.</a:t>
            </a:r>
          </a:p>
          <a:p>
            <a:r>
              <a:rPr lang="en-US" sz="2800" dirty="0" smtClean="0"/>
              <a:t>If </a:t>
            </a:r>
            <a:r>
              <a:rPr lang="en-US" sz="2800" dirty="0"/>
              <a:t>you’re familiar with other VCS systems </a:t>
            </a:r>
            <a:r>
              <a:rPr lang="en-US" sz="2800" dirty="0" smtClean="0"/>
              <a:t>notice </a:t>
            </a:r>
            <a:r>
              <a:rPr lang="en-US" sz="2800" dirty="0"/>
              <a:t>that the command is “clone” and not “checkout”. </a:t>
            </a:r>
            <a:endParaRPr lang="en-US" sz="2800" dirty="0" smtClean="0"/>
          </a:p>
          <a:p>
            <a:r>
              <a:rPr lang="en-US" sz="2800" dirty="0" smtClean="0"/>
              <a:t>Instead of </a:t>
            </a:r>
            <a:r>
              <a:rPr lang="en-US" sz="2800" dirty="0"/>
              <a:t>getting just a working copy, </a:t>
            </a:r>
            <a:r>
              <a:rPr lang="en-US" sz="2800" dirty="0" err="1"/>
              <a:t>Git</a:t>
            </a:r>
            <a:r>
              <a:rPr lang="en-US" sz="2800" dirty="0"/>
              <a:t> receives a full copy of nearly all data that the server has. </a:t>
            </a:r>
            <a:endParaRPr lang="en-US" sz="2800" dirty="0" smtClean="0"/>
          </a:p>
        </p:txBody>
      </p:sp>
    </p:spTree>
    <p:extLst>
      <p:ext uri="{BB962C8B-B14F-4D97-AF65-F5344CB8AC3E}">
        <p14:creationId xmlns:p14="http://schemas.microsoft.com/office/powerpoint/2010/main" val="127198198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Create a New Repository in GitHub</a:t>
            </a:r>
            <a:endParaRPr lang="en-US" dirty="0"/>
          </a:p>
        </p:txBody>
      </p:sp>
      <p:sp>
        <p:nvSpPr>
          <p:cNvPr id="3" name="Content Placeholder 2"/>
          <p:cNvSpPr>
            <a:spLocks noGrp="1"/>
          </p:cNvSpPr>
          <p:nvPr>
            <p:ph idx="1"/>
          </p:nvPr>
        </p:nvSpPr>
        <p:spPr/>
        <p:txBody>
          <a:bodyPr/>
          <a:lstStyle/>
          <a:p>
            <a:r>
              <a:rPr lang="en-US" dirty="0" smtClean="0"/>
              <a:t>Create an account on GitHub and sign in to it.</a:t>
            </a:r>
          </a:p>
          <a:p>
            <a:r>
              <a:rPr lang="en-US" dirty="0" smtClean="0"/>
              <a:t>Click on create new repository button:</a:t>
            </a:r>
          </a:p>
          <a:p>
            <a:endParaRPr lang="en-US" dirty="0"/>
          </a:p>
        </p:txBody>
      </p:sp>
      <p:pic>
        <p:nvPicPr>
          <p:cNvPr id="4" name="Picture 3"/>
          <p:cNvPicPr>
            <a:picLocks noChangeAspect="1"/>
          </p:cNvPicPr>
          <p:nvPr/>
        </p:nvPicPr>
        <p:blipFill rotWithShape="1">
          <a:blip r:embed="rId2"/>
          <a:srcRect l="4389" r="1427" b="4334"/>
          <a:stretch/>
        </p:blipFill>
        <p:spPr>
          <a:xfrm>
            <a:off x="2133600" y="2743201"/>
            <a:ext cx="4953000" cy="2253803"/>
          </a:xfrm>
          <a:prstGeom prst="rect">
            <a:avLst/>
          </a:prstGeom>
        </p:spPr>
      </p:pic>
      <p:pic>
        <p:nvPicPr>
          <p:cNvPr id="6" name="Picture 5"/>
          <p:cNvPicPr>
            <a:picLocks noChangeAspect="1"/>
          </p:cNvPicPr>
          <p:nvPr/>
        </p:nvPicPr>
        <p:blipFill rotWithShape="1">
          <a:blip r:embed="rId3"/>
          <a:srcRect r="7359"/>
          <a:stretch/>
        </p:blipFill>
        <p:spPr>
          <a:xfrm>
            <a:off x="2137144" y="2781767"/>
            <a:ext cx="4953000" cy="2176669"/>
          </a:xfrm>
          <a:prstGeom prst="rect">
            <a:avLst/>
          </a:prstGeom>
        </p:spPr>
      </p:pic>
    </p:spTree>
    <p:extLst>
      <p:ext uri="{BB962C8B-B14F-4D97-AF65-F5344CB8AC3E}">
        <p14:creationId xmlns:p14="http://schemas.microsoft.com/office/powerpoint/2010/main" val="21989180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fontScale="90000"/>
          </a:bodyPr>
          <a:lstStyle/>
          <a:p>
            <a:r>
              <a:rPr lang="en-US" dirty="0" smtClean="0"/>
              <a:t>Create a New Repository in GitHub</a:t>
            </a:r>
            <a:endParaRPr lang="en-US" dirty="0"/>
          </a:p>
        </p:txBody>
      </p:sp>
      <p:pic>
        <p:nvPicPr>
          <p:cNvPr id="6" name="Picture 5"/>
          <p:cNvPicPr>
            <a:picLocks noChangeAspect="1"/>
          </p:cNvPicPr>
          <p:nvPr/>
        </p:nvPicPr>
        <p:blipFill>
          <a:blip r:embed="rId2"/>
          <a:stretch>
            <a:fillRect/>
          </a:stretch>
        </p:blipFill>
        <p:spPr>
          <a:xfrm>
            <a:off x="609600" y="1676400"/>
            <a:ext cx="8062461" cy="4187958"/>
          </a:xfrm>
          <a:prstGeom prst="rect">
            <a:avLst/>
          </a:prstGeom>
        </p:spPr>
      </p:pic>
    </p:spTree>
    <p:extLst>
      <p:ext uri="{BB962C8B-B14F-4D97-AF65-F5344CB8AC3E}">
        <p14:creationId xmlns:p14="http://schemas.microsoft.com/office/powerpoint/2010/main" val="123212401"/>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a New Repository in GitHub</a:t>
            </a:r>
          </a:p>
        </p:txBody>
      </p:sp>
      <p:pic>
        <p:nvPicPr>
          <p:cNvPr id="3" name="Picture 2"/>
          <p:cNvPicPr>
            <a:picLocks noChangeAspect="1"/>
          </p:cNvPicPr>
          <p:nvPr/>
        </p:nvPicPr>
        <p:blipFill>
          <a:blip r:embed="rId2"/>
          <a:stretch>
            <a:fillRect/>
          </a:stretch>
        </p:blipFill>
        <p:spPr>
          <a:xfrm>
            <a:off x="1447800" y="1752600"/>
            <a:ext cx="6490464" cy="4038600"/>
          </a:xfrm>
          <a:prstGeom prst="rect">
            <a:avLst/>
          </a:prstGeom>
        </p:spPr>
      </p:pic>
      <p:pic>
        <p:nvPicPr>
          <p:cNvPr id="4" name="Picture 3"/>
          <p:cNvPicPr>
            <a:picLocks noChangeAspect="1"/>
          </p:cNvPicPr>
          <p:nvPr/>
        </p:nvPicPr>
        <p:blipFill>
          <a:blip r:embed="rId3"/>
          <a:stretch>
            <a:fillRect/>
          </a:stretch>
        </p:blipFill>
        <p:spPr>
          <a:xfrm>
            <a:off x="5715000" y="3389844"/>
            <a:ext cx="3048000" cy="2611120"/>
          </a:xfrm>
          <a:prstGeom prst="rect">
            <a:avLst/>
          </a:prstGeom>
          <a:ln>
            <a:noFill/>
          </a:ln>
          <a:effectLst>
            <a:outerShdw blurRad="292100" dist="139700" dir="2700000" algn="tl" rotWithShape="0">
              <a:srgbClr val="333333">
                <a:alpha val="65000"/>
              </a:srgbClr>
            </a:outerShdw>
          </a:effectLst>
        </p:spPr>
      </p:pic>
      <p:cxnSp>
        <p:nvCxnSpPr>
          <p:cNvPr id="6" name="Straight Connector 5"/>
          <p:cNvCxnSpPr/>
          <p:nvPr/>
        </p:nvCxnSpPr>
        <p:spPr>
          <a:xfrm>
            <a:off x="5791200" y="2895600"/>
            <a:ext cx="0" cy="0"/>
          </a:xfrm>
          <a:prstGeom prst="line">
            <a:avLst/>
          </a:prstGeom>
        </p:spPr>
        <p:style>
          <a:lnRef idx="1">
            <a:schemeClr val="accent1"/>
          </a:lnRef>
          <a:fillRef idx="0">
            <a:schemeClr val="accent1"/>
          </a:fillRef>
          <a:effectRef idx="0">
            <a:schemeClr val="accent1"/>
          </a:effectRef>
          <a:fontRef idx="minor">
            <a:schemeClr val="tx1"/>
          </a:fontRef>
        </p:style>
      </p:cxnSp>
      <p:sp>
        <p:nvSpPr>
          <p:cNvPr id="17" name="Rounded Rectangular Callout 16"/>
          <p:cNvSpPr/>
          <p:nvPr/>
        </p:nvSpPr>
        <p:spPr>
          <a:xfrm>
            <a:off x="2033564" y="4085804"/>
            <a:ext cx="2659468" cy="609600"/>
          </a:xfrm>
          <a:prstGeom prst="wedgeRoundRectCallout">
            <a:avLst>
              <a:gd name="adj1" fmla="val 104682"/>
              <a:gd name="adj2" fmla="val -52228"/>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Use this URL to clone from command line.</a:t>
            </a:r>
            <a:endParaRPr lang="en-US" dirty="0"/>
          </a:p>
        </p:txBody>
      </p:sp>
      <p:sp>
        <p:nvSpPr>
          <p:cNvPr id="18" name="Rounded Rectangular Callout 17"/>
          <p:cNvSpPr/>
          <p:nvPr/>
        </p:nvSpPr>
        <p:spPr>
          <a:xfrm>
            <a:off x="1981200" y="5181600"/>
            <a:ext cx="2659468" cy="609600"/>
          </a:xfrm>
          <a:prstGeom prst="wedgeRoundRectCallout">
            <a:avLst>
              <a:gd name="adj1" fmla="val 104682"/>
              <a:gd name="adj2" fmla="val -52228"/>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Use this to clone directly from GitHub</a:t>
            </a:r>
            <a:endParaRPr lang="en-US" dirty="0"/>
          </a:p>
        </p:txBody>
      </p:sp>
    </p:spTree>
    <p:extLst>
      <p:ext uri="{BB962C8B-B14F-4D97-AF65-F5344CB8AC3E}">
        <p14:creationId xmlns:p14="http://schemas.microsoft.com/office/powerpoint/2010/main" val="3329754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p:cTn id="7" dur="500" fill="hold"/>
                                        <p:tgtEl>
                                          <p:spTgt spid="4"/>
                                        </p:tgtEl>
                                        <p:attrNameLst>
                                          <p:attrName>ppt_w</p:attrName>
                                        </p:attrNameLst>
                                      </p:cBhvr>
                                      <p:tavLst>
                                        <p:tav tm="0">
                                          <p:val>
                                            <p:fltVal val="0"/>
                                          </p:val>
                                        </p:tav>
                                        <p:tav tm="100000">
                                          <p:val>
                                            <p:strVal val="#ppt_w"/>
                                          </p:val>
                                        </p:tav>
                                      </p:tavLst>
                                    </p:anim>
                                    <p:anim calcmode="lin" valueType="num">
                                      <p:cBhvr>
                                        <p:cTn id="8" dur="500" fill="hold"/>
                                        <p:tgtEl>
                                          <p:spTgt spid="4"/>
                                        </p:tgtEl>
                                        <p:attrNameLst>
                                          <p:attrName>ppt_h</p:attrName>
                                        </p:attrNameLst>
                                      </p:cBhvr>
                                      <p:tavLst>
                                        <p:tav tm="0">
                                          <p:val>
                                            <p:fltVal val="0"/>
                                          </p:val>
                                        </p:tav>
                                        <p:tav tm="100000">
                                          <p:val>
                                            <p:strVal val="#ppt_h"/>
                                          </p:val>
                                        </p:tav>
                                      </p:tavLst>
                                    </p:anim>
                                    <p:animEffect transition="in" filter="fade">
                                      <p:cBhvr>
                                        <p:cTn id="9" dur="500"/>
                                        <p:tgtEl>
                                          <p:spTgt spid="4"/>
                                        </p:tgtEl>
                                      </p:cBhvr>
                                    </p:animEffect>
                                  </p:childTnLst>
                                </p:cTn>
                              </p:par>
                            </p:childTnLst>
                          </p:cTn>
                        </p:par>
                        <p:par>
                          <p:cTn id="10" fill="hold">
                            <p:stCondLst>
                              <p:cond delay="500"/>
                            </p:stCondLst>
                            <p:childTnLst>
                              <p:par>
                                <p:cTn id="11" presetID="42" presetClass="entr" presetSubtype="0" fill="hold" grpId="0" nodeType="afterEffect">
                                  <p:stCondLst>
                                    <p:cond delay="0"/>
                                  </p:stCondLst>
                                  <p:childTnLst>
                                    <p:set>
                                      <p:cBhvr>
                                        <p:cTn id="12" dur="1" fill="hold">
                                          <p:stCondLst>
                                            <p:cond delay="0"/>
                                          </p:stCondLst>
                                        </p:cTn>
                                        <p:tgtEl>
                                          <p:spTgt spid="17"/>
                                        </p:tgtEl>
                                        <p:attrNameLst>
                                          <p:attrName>style.visibility</p:attrName>
                                        </p:attrNameLst>
                                      </p:cBhvr>
                                      <p:to>
                                        <p:strVal val="visible"/>
                                      </p:to>
                                    </p:set>
                                    <p:animEffect transition="in" filter="fade">
                                      <p:cBhvr>
                                        <p:cTn id="13" dur="1000"/>
                                        <p:tgtEl>
                                          <p:spTgt spid="17"/>
                                        </p:tgtEl>
                                      </p:cBhvr>
                                    </p:animEffect>
                                    <p:anim calcmode="lin" valueType="num">
                                      <p:cBhvr>
                                        <p:cTn id="14" dur="1000" fill="hold"/>
                                        <p:tgtEl>
                                          <p:spTgt spid="17"/>
                                        </p:tgtEl>
                                        <p:attrNameLst>
                                          <p:attrName>ppt_x</p:attrName>
                                        </p:attrNameLst>
                                      </p:cBhvr>
                                      <p:tavLst>
                                        <p:tav tm="0">
                                          <p:val>
                                            <p:strVal val="#ppt_x"/>
                                          </p:val>
                                        </p:tav>
                                        <p:tav tm="100000">
                                          <p:val>
                                            <p:strVal val="#ppt_x"/>
                                          </p:val>
                                        </p:tav>
                                      </p:tavLst>
                                    </p:anim>
                                    <p:anim calcmode="lin" valueType="num">
                                      <p:cBhvr>
                                        <p:cTn id="15" dur="1000" fill="hold"/>
                                        <p:tgtEl>
                                          <p:spTgt spid="17"/>
                                        </p:tgtEl>
                                        <p:attrNameLst>
                                          <p:attrName>ppt_y</p:attrName>
                                        </p:attrNameLst>
                                      </p:cBhvr>
                                      <p:tavLst>
                                        <p:tav tm="0">
                                          <p:val>
                                            <p:strVal val="#ppt_y+.1"/>
                                          </p:val>
                                        </p:tav>
                                        <p:tav tm="100000">
                                          <p:val>
                                            <p:strVal val="#ppt_y"/>
                                          </p:val>
                                        </p:tav>
                                      </p:tavLst>
                                    </p:anim>
                                  </p:childTnLst>
                                </p:cTn>
                              </p:par>
                            </p:childTnLst>
                          </p:cTn>
                        </p:par>
                        <p:par>
                          <p:cTn id="16" fill="hold">
                            <p:stCondLst>
                              <p:cond delay="1500"/>
                            </p:stCondLst>
                            <p:childTnLst>
                              <p:par>
                                <p:cTn id="17" presetID="42" presetClass="entr" presetSubtype="0" fill="hold" grpId="0" nodeType="afterEffect">
                                  <p:stCondLst>
                                    <p:cond delay="0"/>
                                  </p:stCondLst>
                                  <p:childTnLst>
                                    <p:set>
                                      <p:cBhvr>
                                        <p:cTn id="18" dur="1" fill="hold">
                                          <p:stCondLst>
                                            <p:cond delay="0"/>
                                          </p:stCondLst>
                                        </p:cTn>
                                        <p:tgtEl>
                                          <p:spTgt spid="18"/>
                                        </p:tgtEl>
                                        <p:attrNameLst>
                                          <p:attrName>style.visibility</p:attrName>
                                        </p:attrNameLst>
                                      </p:cBhvr>
                                      <p:to>
                                        <p:strVal val="visible"/>
                                      </p:to>
                                    </p:set>
                                    <p:animEffect transition="in" filter="fade">
                                      <p:cBhvr>
                                        <p:cTn id="19" dur="1000"/>
                                        <p:tgtEl>
                                          <p:spTgt spid="18"/>
                                        </p:tgtEl>
                                      </p:cBhvr>
                                    </p:animEffect>
                                    <p:anim calcmode="lin" valueType="num">
                                      <p:cBhvr>
                                        <p:cTn id="20" dur="1000" fill="hold"/>
                                        <p:tgtEl>
                                          <p:spTgt spid="18"/>
                                        </p:tgtEl>
                                        <p:attrNameLst>
                                          <p:attrName>ppt_x</p:attrName>
                                        </p:attrNameLst>
                                      </p:cBhvr>
                                      <p:tavLst>
                                        <p:tav tm="0">
                                          <p:val>
                                            <p:strVal val="#ppt_x"/>
                                          </p:val>
                                        </p:tav>
                                        <p:tav tm="100000">
                                          <p:val>
                                            <p:strVal val="#ppt_x"/>
                                          </p:val>
                                        </p:tav>
                                      </p:tavLst>
                                    </p:anim>
                                    <p:anim calcmode="lin" valueType="num">
                                      <p:cBhvr>
                                        <p:cTn id="21" dur="1000" fill="hold"/>
                                        <p:tgtEl>
                                          <p:spTgt spid="1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a New Repository in GitHub</a:t>
            </a:r>
          </a:p>
        </p:txBody>
      </p:sp>
      <p:sp>
        <p:nvSpPr>
          <p:cNvPr id="3" name="Content Placeholder 2"/>
          <p:cNvSpPr>
            <a:spLocks noGrp="1"/>
          </p:cNvSpPr>
          <p:nvPr>
            <p:ph idx="1"/>
          </p:nvPr>
        </p:nvSpPr>
        <p:spPr/>
        <p:txBody>
          <a:bodyPr/>
          <a:lstStyle/>
          <a:p>
            <a:r>
              <a:rPr lang="en-US" dirty="0"/>
              <a:t>You clone a repository with </a:t>
            </a:r>
            <a:r>
              <a:rPr lang="en-US" dirty="0" err="1">
                <a:solidFill>
                  <a:schemeClr val="accent1">
                    <a:lumMod val="60000"/>
                    <a:lumOff val="40000"/>
                  </a:schemeClr>
                </a:solidFill>
              </a:rPr>
              <a:t>git</a:t>
            </a:r>
            <a:r>
              <a:rPr lang="en-US" dirty="0">
                <a:solidFill>
                  <a:schemeClr val="accent1">
                    <a:lumMod val="60000"/>
                    <a:lumOff val="40000"/>
                  </a:schemeClr>
                </a:solidFill>
              </a:rPr>
              <a:t> clone [</a:t>
            </a:r>
            <a:r>
              <a:rPr lang="en-US" dirty="0" err="1">
                <a:solidFill>
                  <a:schemeClr val="accent1">
                    <a:lumMod val="60000"/>
                    <a:lumOff val="40000"/>
                  </a:schemeClr>
                </a:solidFill>
              </a:rPr>
              <a:t>url</a:t>
            </a:r>
            <a:r>
              <a:rPr lang="en-US" dirty="0">
                <a:solidFill>
                  <a:schemeClr val="accent1">
                    <a:lumMod val="60000"/>
                    <a:lumOff val="40000"/>
                  </a:schemeClr>
                </a:solidFill>
              </a:rPr>
              <a:t>]</a:t>
            </a:r>
            <a:r>
              <a:rPr lang="en-US" dirty="0"/>
              <a:t>. </a:t>
            </a:r>
            <a:endParaRPr lang="en-US" dirty="0" smtClean="0"/>
          </a:p>
          <a:p>
            <a:r>
              <a:rPr lang="en-US" dirty="0" smtClean="0"/>
              <a:t>For </a:t>
            </a:r>
            <a:r>
              <a:rPr lang="en-US" dirty="0"/>
              <a:t>example, if you want to clone the </a:t>
            </a:r>
            <a:r>
              <a:rPr lang="en-US" dirty="0" err="1"/>
              <a:t>Git</a:t>
            </a:r>
            <a:r>
              <a:rPr lang="en-US" dirty="0"/>
              <a:t> linkable library called libgit2, you can do so like this</a:t>
            </a:r>
            <a:r>
              <a:rPr lang="en-US" dirty="0" smtClean="0"/>
              <a:t>:</a:t>
            </a:r>
            <a:endParaRPr lang="en-US" dirty="0"/>
          </a:p>
          <a:p>
            <a:pPr marL="36900" indent="0" algn="ctr">
              <a:buNone/>
            </a:pPr>
            <a:r>
              <a:rPr lang="en-US" dirty="0"/>
              <a:t>$ </a:t>
            </a:r>
            <a:r>
              <a:rPr lang="en-US" dirty="0" err="1"/>
              <a:t>git</a:t>
            </a:r>
            <a:r>
              <a:rPr lang="en-US" dirty="0"/>
              <a:t> clone https://github.com/libgit2/libgit2</a:t>
            </a:r>
          </a:p>
          <a:p>
            <a:r>
              <a:rPr lang="en-US" dirty="0" smtClean="0"/>
              <a:t>Accomplishes following:</a:t>
            </a:r>
          </a:p>
          <a:p>
            <a:pPr lvl="1"/>
            <a:r>
              <a:rPr lang="en-US" dirty="0" smtClean="0"/>
              <a:t>creates </a:t>
            </a:r>
            <a:r>
              <a:rPr lang="en-US" dirty="0"/>
              <a:t>a directory named “libgit2</a:t>
            </a:r>
            <a:r>
              <a:rPr lang="en-US" dirty="0" smtClean="0"/>
              <a:t>”</a:t>
            </a:r>
          </a:p>
          <a:p>
            <a:pPr lvl="1"/>
            <a:r>
              <a:rPr lang="en-US" dirty="0" smtClean="0"/>
              <a:t>initializes </a:t>
            </a:r>
            <a:r>
              <a:rPr lang="en-US" dirty="0"/>
              <a:t>a .</a:t>
            </a:r>
            <a:r>
              <a:rPr lang="en-US" dirty="0" err="1"/>
              <a:t>git</a:t>
            </a:r>
            <a:r>
              <a:rPr lang="en-US" dirty="0"/>
              <a:t> directory inside </a:t>
            </a:r>
            <a:r>
              <a:rPr lang="en-US" dirty="0" smtClean="0"/>
              <a:t>it</a:t>
            </a:r>
          </a:p>
          <a:p>
            <a:pPr lvl="1"/>
            <a:r>
              <a:rPr lang="en-US" dirty="0" smtClean="0"/>
              <a:t>pulls </a:t>
            </a:r>
            <a:r>
              <a:rPr lang="en-US" dirty="0"/>
              <a:t>down all the data for that </a:t>
            </a:r>
            <a:r>
              <a:rPr lang="en-US" dirty="0" smtClean="0"/>
              <a:t>repository</a:t>
            </a:r>
          </a:p>
          <a:p>
            <a:pPr lvl="1"/>
            <a:r>
              <a:rPr lang="en-US" dirty="0" smtClean="0"/>
              <a:t>checks </a:t>
            </a:r>
            <a:r>
              <a:rPr lang="en-US" dirty="0"/>
              <a:t>out a working copy of the latest </a:t>
            </a:r>
            <a:r>
              <a:rPr lang="en-US" dirty="0" smtClean="0"/>
              <a:t>version</a:t>
            </a:r>
            <a:endParaRPr lang="en-US" dirty="0"/>
          </a:p>
        </p:txBody>
      </p:sp>
    </p:spTree>
    <p:extLst>
      <p:ext uri="{BB962C8B-B14F-4D97-AF65-F5344CB8AC3E}">
        <p14:creationId xmlns:p14="http://schemas.microsoft.com/office/powerpoint/2010/main" val="72762135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Create a New Repository in GitHub</a:t>
            </a:r>
          </a:p>
        </p:txBody>
      </p:sp>
      <p:sp>
        <p:nvSpPr>
          <p:cNvPr id="3" name="Content Placeholder 2"/>
          <p:cNvSpPr>
            <a:spLocks noGrp="1"/>
          </p:cNvSpPr>
          <p:nvPr>
            <p:ph idx="1"/>
          </p:nvPr>
        </p:nvSpPr>
        <p:spPr/>
        <p:txBody>
          <a:bodyPr>
            <a:normAutofit/>
          </a:bodyPr>
          <a:lstStyle/>
          <a:p>
            <a:r>
              <a:rPr lang="en-US" dirty="0" smtClean="0"/>
              <a:t>If </a:t>
            </a:r>
            <a:r>
              <a:rPr lang="en-US" dirty="0"/>
              <a:t>you want to clone the repository into a directory named something other than “libgit2”, you can specify that as the next command-line option</a:t>
            </a:r>
            <a:r>
              <a:rPr lang="en-US" dirty="0" smtClean="0"/>
              <a:t>:</a:t>
            </a:r>
            <a:endParaRPr lang="en-US" dirty="0"/>
          </a:p>
          <a:p>
            <a:pPr marL="36900" indent="0" algn="ctr">
              <a:buNone/>
            </a:pPr>
            <a:r>
              <a:rPr lang="en-US" dirty="0"/>
              <a:t>$ </a:t>
            </a:r>
            <a:r>
              <a:rPr lang="en-US" dirty="0" err="1"/>
              <a:t>git</a:t>
            </a:r>
            <a:r>
              <a:rPr lang="en-US" dirty="0"/>
              <a:t> clone https://github.com/libgit2/libgit2 </a:t>
            </a:r>
            <a:r>
              <a:rPr lang="en-US" dirty="0" err="1"/>
              <a:t>mylibgit</a:t>
            </a:r>
            <a:endParaRPr lang="en-US" dirty="0"/>
          </a:p>
          <a:p>
            <a:r>
              <a:rPr lang="en-US" dirty="0"/>
              <a:t>That command does the same thing as the previous one, but the target directory is called </a:t>
            </a:r>
            <a:r>
              <a:rPr lang="en-US" dirty="0" err="1"/>
              <a:t>mylibgit</a:t>
            </a:r>
            <a:r>
              <a:rPr lang="en-US" dirty="0" smtClean="0"/>
              <a:t>.</a:t>
            </a:r>
            <a:endParaRPr lang="en-US" dirty="0"/>
          </a:p>
        </p:txBody>
      </p:sp>
    </p:spTree>
    <p:extLst>
      <p:ext uri="{BB962C8B-B14F-4D97-AF65-F5344CB8AC3E}">
        <p14:creationId xmlns:p14="http://schemas.microsoft.com/office/powerpoint/2010/main" val="3963305469"/>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Recording Changes to the </a:t>
            </a:r>
            <a:r>
              <a:rPr lang="en-US" dirty="0" smtClean="0"/>
              <a:t>Repository</a:t>
            </a:r>
            <a:endParaRPr lang="en-US" dirty="0"/>
          </a:p>
        </p:txBody>
      </p:sp>
      <p:sp>
        <p:nvSpPr>
          <p:cNvPr id="5" name="Text Placeholder 4"/>
          <p:cNvSpPr>
            <a:spLocks noGrp="1"/>
          </p:cNvSpPr>
          <p:nvPr>
            <p:ph type="body" idx="1"/>
          </p:nvPr>
        </p:nvSpPr>
        <p:spPr/>
        <p:txBody>
          <a:bodyPr/>
          <a:lstStyle/>
          <a:p>
            <a:r>
              <a:rPr lang="en-US" dirty="0"/>
              <a:t>2.2 </a:t>
            </a:r>
            <a:r>
              <a:rPr lang="en-US" dirty="0" err="1"/>
              <a:t>Git</a:t>
            </a:r>
            <a:r>
              <a:rPr lang="en-US" dirty="0"/>
              <a:t> </a:t>
            </a:r>
            <a:r>
              <a:rPr lang="en-US" dirty="0" smtClean="0"/>
              <a:t>Basics</a:t>
            </a:r>
            <a:endParaRPr lang="en-US" dirty="0"/>
          </a:p>
        </p:txBody>
      </p:sp>
    </p:spTree>
    <p:extLst>
      <p:ext uri="{BB962C8B-B14F-4D97-AF65-F5344CB8AC3E}">
        <p14:creationId xmlns:p14="http://schemas.microsoft.com/office/powerpoint/2010/main" val="17585835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Recording Changes to the </a:t>
            </a:r>
            <a:r>
              <a:rPr lang="en-US" dirty="0" smtClean="0"/>
              <a:t>Repository</a:t>
            </a:r>
            <a:endParaRPr lang="en-US" dirty="0"/>
          </a:p>
        </p:txBody>
      </p:sp>
      <p:sp>
        <p:nvSpPr>
          <p:cNvPr id="3" name="Content Placeholder 2"/>
          <p:cNvSpPr>
            <a:spLocks noGrp="1"/>
          </p:cNvSpPr>
          <p:nvPr>
            <p:ph idx="1"/>
          </p:nvPr>
        </p:nvSpPr>
        <p:spPr/>
        <p:txBody>
          <a:bodyPr>
            <a:normAutofit/>
          </a:bodyPr>
          <a:lstStyle/>
          <a:p>
            <a:r>
              <a:rPr lang="en-US" dirty="0" smtClean="0"/>
              <a:t>You </a:t>
            </a:r>
            <a:r>
              <a:rPr lang="en-US" dirty="0"/>
              <a:t>have a </a:t>
            </a:r>
            <a:r>
              <a:rPr lang="en-US" dirty="0" err="1" smtClean="0"/>
              <a:t>Git</a:t>
            </a:r>
            <a:r>
              <a:rPr lang="en-US" dirty="0" smtClean="0"/>
              <a:t> repository</a:t>
            </a:r>
          </a:p>
          <a:p>
            <a:r>
              <a:rPr lang="en-US" dirty="0" smtClean="0"/>
              <a:t>A checkout </a:t>
            </a:r>
            <a:r>
              <a:rPr lang="en-US" dirty="0"/>
              <a:t>or working copy of the files for that project. </a:t>
            </a:r>
            <a:endParaRPr lang="en-US" dirty="0" smtClean="0"/>
          </a:p>
          <a:p>
            <a:r>
              <a:rPr lang="en-US" dirty="0" smtClean="0"/>
              <a:t>You </a:t>
            </a:r>
            <a:r>
              <a:rPr lang="en-US" dirty="0"/>
              <a:t>need to make some changes and commit snapshots of those changes into your repository each time the project reaches a state you want to record</a:t>
            </a:r>
            <a:r>
              <a:rPr lang="en-US" dirty="0" smtClean="0"/>
              <a:t>.</a:t>
            </a:r>
            <a:endParaRPr lang="en-US" dirty="0"/>
          </a:p>
        </p:txBody>
      </p:sp>
    </p:spTree>
    <p:extLst>
      <p:ext uri="{BB962C8B-B14F-4D97-AF65-F5344CB8AC3E}">
        <p14:creationId xmlns:p14="http://schemas.microsoft.com/office/powerpoint/2010/main" val="1517558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Recording Changes to the </a:t>
            </a:r>
            <a:r>
              <a:rPr lang="en-US" dirty="0" smtClean="0"/>
              <a:t>Repository</a:t>
            </a:r>
            <a:endParaRPr lang="en-US" dirty="0"/>
          </a:p>
        </p:txBody>
      </p:sp>
      <p:sp>
        <p:nvSpPr>
          <p:cNvPr id="3" name="Content Placeholder 2"/>
          <p:cNvSpPr>
            <a:spLocks noGrp="1"/>
          </p:cNvSpPr>
          <p:nvPr>
            <p:ph idx="1"/>
          </p:nvPr>
        </p:nvSpPr>
        <p:spPr/>
        <p:txBody>
          <a:bodyPr>
            <a:normAutofit/>
          </a:bodyPr>
          <a:lstStyle/>
          <a:p>
            <a:r>
              <a:rPr lang="en-US" dirty="0" smtClean="0"/>
              <a:t>Remember </a:t>
            </a:r>
            <a:r>
              <a:rPr lang="en-US" dirty="0"/>
              <a:t>that each file in your working directory can be in one of two states: </a:t>
            </a:r>
            <a:endParaRPr lang="en-US" dirty="0" smtClean="0"/>
          </a:p>
          <a:p>
            <a:pPr lvl="1"/>
            <a:r>
              <a:rPr lang="en-US" dirty="0" smtClean="0"/>
              <a:t>Tracked: files </a:t>
            </a:r>
            <a:r>
              <a:rPr lang="en-US" dirty="0"/>
              <a:t>that were in the last snapshot; they can be unmodified, modified, or staged.</a:t>
            </a:r>
            <a:endParaRPr lang="en-US" dirty="0" smtClean="0"/>
          </a:p>
          <a:p>
            <a:pPr lvl="1"/>
            <a:r>
              <a:rPr lang="en-US" dirty="0" smtClean="0"/>
              <a:t>Untracked: Everything </a:t>
            </a:r>
            <a:r>
              <a:rPr lang="en-US" dirty="0"/>
              <a:t>else – any files in your working directory that were not in your last snapshot and are not in your staging area. </a:t>
            </a:r>
            <a:endParaRPr lang="en-US" dirty="0" smtClean="0"/>
          </a:p>
          <a:p>
            <a:r>
              <a:rPr lang="en-US" dirty="0" smtClean="0"/>
              <a:t>When </a:t>
            </a:r>
            <a:r>
              <a:rPr lang="en-US" dirty="0"/>
              <a:t>you first clone a repository, all of your files will be tracked and unmodified because you just checked them out and haven’t edited anything.</a:t>
            </a:r>
          </a:p>
        </p:txBody>
      </p:sp>
    </p:spTree>
    <p:extLst>
      <p:ext uri="{BB962C8B-B14F-4D97-AF65-F5344CB8AC3E}">
        <p14:creationId xmlns:p14="http://schemas.microsoft.com/office/powerpoint/2010/main" val="403778969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Lifecycle Status of Files</a:t>
            </a:r>
            <a:endParaRPr lang="en-US" dirty="0"/>
          </a:p>
        </p:txBody>
      </p:sp>
      <p:sp>
        <p:nvSpPr>
          <p:cNvPr id="3" name="Content Placeholder 2"/>
          <p:cNvSpPr>
            <a:spLocks noGrp="1"/>
          </p:cNvSpPr>
          <p:nvPr>
            <p:ph idx="1"/>
          </p:nvPr>
        </p:nvSpPr>
        <p:spPr>
          <a:xfrm>
            <a:off x="838200" y="4724400"/>
            <a:ext cx="7849054" cy="1239350"/>
          </a:xfrm>
        </p:spPr>
        <p:txBody>
          <a:bodyPr/>
          <a:lstStyle/>
          <a:p>
            <a:r>
              <a:rPr lang="en-US" dirty="0"/>
              <a:t>As you edit files, </a:t>
            </a:r>
            <a:r>
              <a:rPr lang="en-US" dirty="0" err="1"/>
              <a:t>Git</a:t>
            </a:r>
            <a:r>
              <a:rPr lang="en-US" dirty="0"/>
              <a:t> sees them as modified, because you’ve changed them since your last commit. You stage these modified files and then commit all your staged changes, and the cycle repeats.</a:t>
            </a:r>
          </a:p>
        </p:txBody>
      </p:sp>
      <p:pic>
        <p:nvPicPr>
          <p:cNvPr id="1026" name="Picture 2" descr="The lifecycle of the status of your files."/>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599" y="1752600"/>
            <a:ext cx="6758643" cy="278990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2836587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Checking the Status of Your </a:t>
            </a:r>
            <a:r>
              <a:rPr lang="en-US" dirty="0" smtClean="0"/>
              <a:t>Files</a:t>
            </a:r>
            <a:endParaRPr lang="en-US" dirty="0"/>
          </a:p>
        </p:txBody>
      </p:sp>
      <p:sp>
        <p:nvSpPr>
          <p:cNvPr id="3" name="Content Placeholder 2"/>
          <p:cNvSpPr>
            <a:spLocks noGrp="1"/>
          </p:cNvSpPr>
          <p:nvPr>
            <p:ph idx="1"/>
          </p:nvPr>
        </p:nvSpPr>
        <p:spPr/>
        <p:txBody>
          <a:bodyPr>
            <a:normAutofit/>
          </a:bodyPr>
          <a:lstStyle/>
          <a:p>
            <a:r>
              <a:rPr lang="en-US" dirty="0" smtClean="0"/>
              <a:t>The </a:t>
            </a:r>
            <a:r>
              <a:rPr lang="en-US" dirty="0"/>
              <a:t>main tool you use to determine which files are in which state is the </a:t>
            </a:r>
            <a:r>
              <a:rPr lang="en-US" dirty="0" err="1"/>
              <a:t>git</a:t>
            </a:r>
            <a:r>
              <a:rPr lang="en-US" dirty="0"/>
              <a:t> status command. </a:t>
            </a:r>
            <a:endParaRPr lang="en-US" dirty="0" smtClean="0"/>
          </a:p>
          <a:p>
            <a:r>
              <a:rPr lang="en-US" dirty="0" smtClean="0"/>
              <a:t>If </a:t>
            </a:r>
            <a:r>
              <a:rPr lang="en-US" dirty="0"/>
              <a:t>you run this command directly after a clone, you should see something like this:</a:t>
            </a:r>
          </a:p>
          <a:p>
            <a:endParaRPr lang="en-US" dirty="0"/>
          </a:p>
          <a:p>
            <a:endParaRPr lang="en-US" dirty="0" smtClean="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1648725" y="3276601"/>
            <a:ext cx="5846550" cy="2209799"/>
          </a:xfrm>
          <a:prstGeom prst="rect">
            <a:avLst/>
          </a:prstGeom>
        </p:spPr>
      </p:pic>
    </p:spTree>
    <p:extLst>
      <p:ext uri="{BB962C8B-B14F-4D97-AF65-F5344CB8AC3E}">
        <p14:creationId xmlns:p14="http://schemas.microsoft.com/office/powerpoint/2010/main" val="32732121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nodeType="clickEffect">
                                  <p:stCondLst>
                                    <p:cond delay="0"/>
                                  </p:stCondLst>
                                  <p:childTnLst>
                                    <p:animScale>
                                      <p:cBhvr>
                                        <p:cTn id="6" dur="2000" fill="hold"/>
                                        <p:tgtEl>
                                          <p:spTgt spid="4"/>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Checking the Status of Your </a:t>
            </a:r>
            <a:r>
              <a:rPr lang="en-US" dirty="0" smtClean="0"/>
              <a:t>Files</a:t>
            </a:r>
            <a:endParaRPr lang="en-US" dirty="0"/>
          </a:p>
        </p:txBody>
      </p:sp>
      <p:sp>
        <p:nvSpPr>
          <p:cNvPr id="3" name="Content Placeholder 2"/>
          <p:cNvSpPr>
            <a:spLocks noGrp="1"/>
          </p:cNvSpPr>
          <p:nvPr>
            <p:ph idx="1"/>
          </p:nvPr>
        </p:nvSpPr>
        <p:spPr/>
        <p:txBody>
          <a:bodyPr>
            <a:normAutofit/>
          </a:bodyPr>
          <a:lstStyle/>
          <a:p>
            <a:r>
              <a:rPr lang="en-US" dirty="0" smtClean="0"/>
              <a:t>This </a:t>
            </a:r>
            <a:r>
              <a:rPr lang="en-US" dirty="0"/>
              <a:t>means you have a clean working directory – in other words, there are no tracked and modified files. </a:t>
            </a:r>
            <a:endParaRPr lang="en-US" dirty="0" smtClean="0"/>
          </a:p>
          <a:p>
            <a:r>
              <a:rPr lang="en-US" dirty="0" err="1" smtClean="0"/>
              <a:t>Git</a:t>
            </a:r>
            <a:r>
              <a:rPr lang="en-US" dirty="0" smtClean="0"/>
              <a:t> </a:t>
            </a:r>
            <a:r>
              <a:rPr lang="en-US" dirty="0"/>
              <a:t>also doesn’t see any untracked files, or they would be listed here. </a:t>
            </a:r>
            <a:endParaRPr lang="en-US" dirty="0" smtClean="0"/>
          </a:p>
          <a:p>
            <a:r>
              <a:rPr lang="en-US" dirty="0" smtClean="0"/>
              <a:t>Finally</a:t>
            </a:r>
            <a:r>
              <a:rPr lang="en-US" dirty="0"/>
              <a:t>, the command tells you which branch you’re on and informs you that it has not diverged from the same branch on the server</a:t>
            </a:r>
            <a:r>
              <a:rPr lang="en-US" dirty="0" smtClean="0"/>
              <a:t>.</a:t>
            </a:r>
          </a:p>
          <a:p>
            <a:r>
              <a:rPr lang="en-US" dirty="0" smtClean="0"/>
              <a:t>For </a:t>
            </a:r>
            <a:r>
              <a:rPr lang="en-US" dirty="0"/>
              <a:t>now, that branch is always “master”, which is the default; you won’t worry about it here. </a:t>
            </a:r>
            <a:endParaRPr lang="en-US" dirty="0" smtClean="0"/>
          </a:p>
          <a:p>
            <a:r>
              <a:rPr lang="en-US" dirty="0" smtClean="0"/>
              <a:t>Chapter </a:t>
            </a:r>
            <a:r>
              <a:rPr lang="en-US" dirty="0"/>
              <a:t>3 will go over branches and references in detail.</a:t>
            </a:r>
          </a:p>
        </p:txBody>
      </p:sp>
    </p:spTree>
    <p:extLst>
      <p:ext uri="{BB962C8B-B14F-4D97-AF65-F5344CB8AC3E}">
        <p14:creationId xmlns:p14="http://schemas.microsoft.com/office/powerpoint/2010/main" val="394723726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 a New Text Document</a:t>
            </a:r>
            <a:endParaRPr lang="en-US" dirty="0"/>
          </a:p>
        </p:txBody>
      </p:sp>
      <p:pic>
        <p:nvPicPr>
          <p:cNvPr id="7" name="Picture 6"/>
          <p:cNvPicPr>
            <a:picLocks noChangeAspect="1"/>
          </p:cNvPicPr>
          <p:nvPr/>
        </p:nvPicPr>
        <p:blipFill>
          <a:blip r:embed="rId2"/>
          <a:stretch>
            <a:fillRect/>
          </a:stretch>
        </p:blipFill>
        <p:spPr>
          <a:xfrm>
            <a:off x="762000" y="1580050"/>
            <a:ext cx="6305874" cy="3511730"/>
          </a:xfrm>
          <a:prstGeom prst="rect">
            <a:avLst/>
          </a:prstGeom>
        </p:spPr>
      </p:pic>
      <p:pic>
        <p:nvPicPr>
          <p:cNvPr id="8" name="Picture 7"/>
          <p:cNvPicPr>
            <a:picLocks noChangeAspect="1"/>
          </p:cNvPicPr>
          <p:nvPr/>
        </p:nvPicPr>
        <p:blipFill>
          <a:blip r:embed="rId3"/>
          <a:stretch>
            <a:fillRect/>
          </a:stretch>
        </p:blipFill>
        <p:spPr>
          <a:xfrm>
            <a:off x="3914937" y="4231311"/>
            <a:ext cx="4153113" cy="1720938"/>
          </a:xfrm>
          <a:prstGeom prst="rect">
            <a:avLst/>
          </a:prstGeom>
        </p:spPr>
      </p:pic>
    </p:spTree>
    <p:extLst>
      <p:ext uri="{BB962C8B-B14F-4D97-AF65-F5344CB8AC3E}">
        <p14:creationId xmlns:p14="http://schemas.microsoft.com/office/powerpoint/2010/main" val="112728852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stretch>
            <a:fillRect/>
          </a:stretch>
        </p:blipFill>
        <p:spPr>
          <a:xfrm>
            <a:off x="1015817" y="2286002"/>
            <a:ext cx="7112366" cy="2832246"/>
          </a:xfrm>
          <a:prstGeom prst="rect">
            <a:avLst/>
          </a:prstGeom>
        </p:spPr>
      </p:pic>
      <p:sp>
        <p:nvSpPr>
          <p:cNvPr id="2" name="Title 1"/>
          <p:cNvSpPr>
            <a:spLocks noGrp="1"/>
          </p:cNvSpPr>
          <p:nvPr>
            <p:ph type="title"/>
          </p:nvPr>
        </p:nvSpPr>
        <p:spPr/>
        <p:txBody>
          <a:bodyPr/>
          <a:lstStyle/>
          <a:p>
            <a:r>
              <a:rPr lang="en-US" dirty="0" smtClean="0"/>
              <a:t>Add a New Text Document</a:t>
            </a:r>
            <a:endParaRPr lang="en-US" dirty="0"/>
          </a:p>
        </p:txBody>
      </p:sp>
      <p:sp>
        <p:nvSpPr>
          <p:cNvPr id="3" name="Content Placeholder 2"/>
          <p:cNvSpPr>
            <a:spLocks noGrp="1"/>
          </p:cNvSpPr>
          <p:nvPr>
            <p:ph idx="1"/>
          </p:nvPr>
        </p:nvSpPr>
        <p:spPr>
          <a:xfrm>
            <a:off x="685346" y="1732451"/>
            <a:ext cx="7765322" cy="401150"/>
          </a:xfrm>
        </p:spPr>
        <p:txBody>
          <a:bodyPr/>
          <a:lstStyle/>
          <a:p>
            <a:r>
              <a:rPr lang="en-US" dirty="0" smtClean="0"/>
              <a:t>Execute </a:t>
            </a:r>
            <a:r>
              <a:rPr lang="en-US" dirty="0" err="1" smtClean="0"/>
              <a:t>git</a:t>
            </a:r>
            <a:r>
              <a:rPr lang="en-US" dirty="0" smtClean="0"/>
              <a:t> status</a:t>
            </a:r>
            <a:endParaRPr lang="en-US" dirty="0"/>
          </a:p>
        </p:txBody>
      </p:sp>
      <p:sp>
        <p:nvSpPr>
          <p:cNvPr id="6" name="Rounded Rectangular Callout 5"/>
          <p:cNvSpPr/>
          <p:nvPr/>
        </p:nvSpPr>
        <p:spPr>
          <a:xfrm>
            <a:off x="6324600" y="3352800"/>
            <a:ext cx="2659468" cy="304800"/>
          </a:xfrm>
          <a:prstGeom prst="wedgeRoundRectCallout">
            <a:avLst>
              <a:gd name="adj1" fmla="val -42156"/>
              <a:gd name="adj2" fmla="val -75912"/>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Command </a:t>
            </a:r>
            <a:r>
              <a:rPr lang="en-US" dirty="0" err="1" smtClean="0"/>
              <a:t>git</a:t>
            </a:r>
            <a:r>
              <a:rPr lang="en-US" dirty="0" smtClean="0"/>
              <a:t> status.</a:t>
            </a:r>
            <a:endParaRPr lang="en-US" dirty="0"/>
          </a:p>
        </p:txBody>
      </p:sp>
      <p:sp>
        <p:nvSpPr>
          <p:cNvPr id="7" name="Rounded Rectangular Callout 6"/>
          <p:cNvSpPr/>
          <p:nvPr/>
        </p:nvSpPr>
        <p:spPr>
          <a:xfrm>
            <a:off x="5867400" y="3817926"/>
            <a:ext cx="3116668" cy="304800"/>
          </a:xfrm>
          <a:prstGeom prst="wedgeRoundRectCallout">
            <a:avLst>
              <a:gd name="adj1" fmla="val -139490"/>
              <a:gd name="adj2" fmla="val 23353"/>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NewDoc.txt is untracked.</a:t>
            </a:r>
            <a:endParaRPr lang="en-US" dirty="0"/>
          </a:p>
        </p:txBody>
      </p:sp>
    </p:spTree>
    <p:extLst>
      <p:ext uri="{BB962C8B-B14F-4D97-AF65-F5344CB8AC3E}">
        <p14:creationId xmlns:p14="http://schemas.microsoft.com/office/powerpoint/2010/main" val="2021201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Add a New Text Document</a:t>
            </a:r>
          </a:p>
        </p:txBody>
      </p:sp>
      <p:sp>
        <p:nvSpPr>
          <p:cNvPr id="3" name="Content Placeholder 2"/>
          <p:cNvSpPr>
            <a:spLocks noGrp="1"/>
          </p:cNvSpPr>
          <p:nvPr>
            <p:ph idx="1"/>
          </p:nvPr>
        </p:nvSpPr>
        <p:spPr/>
        <p:txBody>
          <a:bodyPr/>
          <a:lstStyle/>
          <a:p>
            <a:r>
              <a:rPr lang="en-US" dirty="0" smtClean="0">
                <a:effectLst/>
              </a:rPr>
              <a:t>NewDoc.txt is </a:t>
            </a:r>
            <a:r>
              <a:rPr lang="en-US" dirty="0">
                <a:effectLst/>
              </a:rPr>
              <a:t>untracked, because it’s under the “Untracked files” heading in your status output. </a:t>
            </a:r>
            <a:endParaRPr lang="en-US" dirty="0" smtClean="0">
              <a:effectLst/>
            </a:endParaRPr>
          </a:p>
          <a:p>
            <a:r>
              <a:rPr lang="en-US" dirty="0" smtClean="0">
                <a:effectLst/>
              </a:rPr>
              <a:t>Untracked </a:t>
            </a:r>
            <a:r>
              <a:rPr lang="en-US" dirty="0">
                <a:effectLst/>
              </a:rPr>
              <a:t>basically means that </a:t>
            </a:r>
            <a:r>
              <a:rPr lang="en-US" dirty="0" err="1">
                <a:effectLst/>
              </a:rPr>
              <a:t>Git</a:t>
            </a:r>
            <a:r>
              <a:rPr lang="en-US" dirty="0">
                <a:effectLst/>
              </a:rPr>
              <a:t> sees a file you didn’t have in the previous snapshot (commit); </a:t>
            </a:r>
            <a:endParaRPr lang="en-US" dirty="0" smtClean="0">
              <a:effectLst/>
            </a:endParaRPr>
          </a:p>
          <a:p>
            <a:r>
              <a:rPr lang="en-US" dirty="0" err="1" smtClean="0">
                <a:effectLst/>
              </a:rPr>
              <a:t>Git</a:t>
            </a:r>
            <a:r>
              <a:rPr lang="en-US" dirty="0" smtClean="0">
                <a:effectLst/>
              </a:rPr>
              <a:t> </a:t>
            </a:r>
            <a:r>
              <a:rPr lang="en-US" dirty="0">
                <a:effectLst/>
              </a:rPr>
              <a:t>won’t start including it in your commit snapshots until you explicitly tell it to do so. </a:t>
            </a:r>
            <a:endParaRPr lang="en-US" dirty="0" smtClean="0">
              <a:effectLst/>
            </a:endParaRPr>
          </a:p>
          <a:p>
            <a:r>
              <a:rPr lang="en-US" dirty="0" smtClean="0">
                <a:effectLst/>
              </a:rPr>
              <a:t>It </a:t>
            </a:r>
            <a:r>
              <a:rPr lang="en-US" dirty="0">
                <a:effectLst/>
              </a:rPr>
              <a:t>does this so you don’t accidentally begin including generated binary files or other files that you did not mean to include. </a:t>
            </a:r>
            <a:endParaRPr lang="en-US" dirty="0" smtClean="0">
              <a:effectLst/>
            </a:endParaRPr>
          </a:p>
          <a:p>
            <a:r>
              <a:rPr lang="en-US" dirty="0" smtClean="0">
                <a:effectLst/>
              </a:rPr>
              <a:t>You </a:t>
            </a:r>
            <a:r>
              <a:rPr lang="en-US" dirty="0">
                <a:effectLst/>
              </a:rPr>
              <a:t>do want to start including </a:t>
            </a:r>
            <a:r>
              <a:rPr lang="en-US" dirty="0" smtClean="0">
                <a:effectLst/>
              </a:rPr>
              <a:t>NewDoc.txt, </a:t>
            </a:r>
            <a:r>
              <a:rPr lang="en-US" dirty="0">
                <a:effectLst/>
              </a:rPr>
              <a:t>so let’s start tracking the file.</a:t>
            </a:r>
            <a:endParaRPr lang="en-US" dirty="0"/>
          </a:p>
        </p:txBody>
      </p:sp>
    </p:spTree>
    <p:extLst>
      <p:ext uri="{BB962C8B-B14F-4D97-AF65-F5344CB8AC3E}">
        <p14:creationId xmlns:p14="http://schemas.microsoft.com/office/powerpoint/2010/main" val="2609352551"/>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Tracking New </a:t>
            </a:r>
            <a:r>
              <a:rPr lang="en-US" dirty="0" smtClean="0"/>
              <a:t>Files</a:t>
            </a:r>
            <a:endParaRPr lang="en-US" dirty="0"/>
          </a:p>
        </p:txBody>
      </p:sp>
      <p:sp>
        <p:nvSpPr>
          <p:cNvPr id="3" name="Content Placeholder 2"/>
          <p:cNvSpPr>
            <a:spLocks noGrp="1"/>
          </p:cNvSpPr>
          <p:nvPr>
            <p:ph idx="1"/>
          </p:nvPr>
        </p:nvSpPr>
        <p:spPr/>
        <p:txBody>
          <a:bodyPr/>
          <a:lstStyle/>
          <a:p>
            <a:r>
              <a:rPr lang="en-US" dirty="0" smtClean="0"/>
              <a:t>In </a:t>
            </a:r>
            <a:r>
              <a:rPr lang="en-US" dirty="0"/>
              <a:t>order to begin tracking a new file, you use the command </a:t>
            </a:r>
            <a:r>
              <a:rPr lang="en-US" dirty="0" err="1">
                <a:solidFill>
                  <a:schemeClr val="accent1">
                    <a:lumMod val="60000"/>
                    <a:lumOff val="40000"/>
                  </a:schemeClr>
                </a:solidFill>
              </a:rPr>
              <a:t>git</a:t>
            </a:r>
            <a:r>
              <a:rPr lang="en-US" dirty="0">
                <a:solidFill>
                  <a:schemeClr val="accent1">
                    <a:lumMod val="60000"/>
                    <a:lumOff val="40000"/>
                  </a:schemeClr>
                </a:solidFill>
              </a:rPr>
              <a:t> add. </a:t>
            </a:r>
            <a:endParaRPr lang="en-US" dirty="0" smtClean="0">
              <a:solidFill>
                <a:schemeClr val="accent1">
                  <a:lumMod val="60000"/>
                  <a:lumOff val="40000"/>
                </a:schemeClr>
              </a:solidFill>
            </a:endParaRPr>
          </a:p>
          <a:p>
            <a:r>
              <a:rPr lang="en-US" dirty="0" smtClean="0"/>
              <a:t>To </a:t>
            </a:r>
            <a:r>
              <a:rPr lang="en-US" dirty="0"/>
              <a:t>begin tracking the README file, you can run this:</a:t>
            </a:r>
          </a:p>
        </p:txBody>
      </p:sp>
      <p:pic>
        <p:nvPicPr>
          <p:cNvPr id="6" name="Picture 5"/>
          <p:cNvPicPr>
            <a:picLocks noChangeAspect="1"/>
          </p:cNvPicPr>
          <p:nvPr/>
        </p:nvPicPr>
        <p:blipFill>
          <a:blip r:embed="rId2"/>
          <a:stretch>
            <a:fillRect/>
          </a:stretch>
        </p:blipFill>
        <p:spPr>
          <a:xfrm>
            <a:off x="897518" y="2667000"/>
            <a:ext cx="7340977" cy="2959252"/>
          </a:xfrm>
          <a:prstGeom prst="rect">
            <a:avLst/>
          </a:prstGeom>
        </p:spPr>
      </p:pic>
      <p:pic>
        <p:nvPicPr>
          <p:cNvPr id="7" name="Picture 6"/>
          <p:cNvPicPr>
            <a:picLocks noChangeAspect="1"/>
          </p:cNvPicPr>
          <p:nvPr/>
        </p:nvPicPr>
        <p:blipFill>
          <a:blip r:embed="rId3"/>
          <a:stretch>
            <a:fillRect/>
          </a:stretch>
        </p:blipFill>
        <p:spPr>
          <a:xfrm>
            <a:off x="897517" y="2667000"/>
            <a:ext cx="7340977" cy="2959252"/>
          </a:xfrm>
          <a:prstGeom prst="rect">
            <a:avLst/>
          </a:prstGeom>
        </p:spPr>
      </p:pic>
      <p:sp>
        <p:nvSpPr>
          <p:cNvPr id="9" name="Rounded Rectangular Callout 8"/>
          <p:cNvSpPr/>
          <p:nvPr/>
        </p:nvSpPr>
        <p:spPr>
          <a:xfrm>
            <a:off x="5943600" y="4038600"/>
            <a:ext cx="3116668" cy="609600"/>
          </a:xfrm>
          <a:prstGeom prst="wedgeRoundRectCallout">
            <a:avLst>
              <a:gd name="adj1" fmla="val -130645"/>
              <a:gd name="adj2" fmla="val 34382"/>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NewDoc.txt is now ready to be committed.</a:t>
            </a:r>
            <a:endParaRPr lang="en-US" dirty="0"/>
          </a:p>
        </p:txBody>
      </p:sp>
    </p:spTree>
    <p:extLst>
      <p:ext uri="{BB962C8B-B14F-4D97-AF65-F5344CB8AC3E}">
        <p14:creationId xmlns:p14="http://schemas.microsoft.com/office/powerpoint/2010/main" val="4192516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Tracking New Files</a:t>
            </a:r>
          </a:p>
        </p:txBody>
      </p:sp>
      <p:sp>
        <p:nvSpPr>
          <p:cNvPr id="3" name="Content Placeholder 2"/>
          <p:cNvSpPr>
            <a:spLocks noGrp="1"/>
          </p:cNvSpPr>
          <p:nvPr>
            <p:ph idx="1"/>
          </p:nvPr>
        </p:nvSpPr>
        <p:spPr/>
        <p:txBody>
          <a:bodyPr/>
          <a:lstStyle/>
          <a:p>
            <a:r>
              <a:rPr lang="en-US" dirty="0"/>
              <a:t>You can tell that it’s staged because it’s under the “Changes to be committed” heading</a:t>
            </a:r>
            <a:r>
              <a:rPr lang="en-US" dirty="0" smtClean="0"/>
              <a:t>.</a:t>
            </a:r>
          </a:p>
          <a:p>
            <a:r>
              <a:rPr lang="en-US" dirty="0" smtClean="0"/>
              <a:t>If </a:t>
            </a:r>
            <a:r>
              <a:rPr lang="en-US" dirty="0"/>
              <a:t>you commit at this point, the version of the file at the time you ran </a:t>
            </a:r>
            <a:r>
              <a:rPr lang="en-US" dirty="0" err="1"/>
              <a:t>git</a:t>
            </a:r>
            <a:r>
              <a:rPr lang="en-US" dirty="0"/>
              <a:t> add is what will be in the historical snapshot. </a:t>
            </a:r>
            <a:endParaRPr lang="en-US" dirty="0" smtClean="0"/>
          </a:p>
          <a:p>
            <a:r>
              <a:rPr lang="en-US" dirty="0" smtClean="0"/>
              <a:t>The </a:t>
            </a:r>
            <a:r>
              <a:rPr lang="en-US" dirty="0" err="1"/>
              <a:t>git</a:t>
            </a:r>
            <a:r>
              <a:rPr lang="en-US" dirty="0"/>
              <a:t> add command takes a path name for either a file or a directory; if it’s a directory, the command adds all the files in that directory recursively.</a:t>
            </a:r>
          </a:p>
        </p:txBody>
      </p:sp>
    </p:spTree>
    <p:extLst>
      <p:ext uri="{BB962C8B-B14F-4D97-AF65-F5344CB8AC3E}">
        <p14:creationId xmlns:p14="http://schemas.microsoft.com/office/powerpoint/2010/main" val="72795796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Exercises</a:t>
            </a:r>
            <a:endParaRPr lang="en-US" dirty="0"/>
          </a:p>
        </p:txBody>
      </p:sp>
      <p:sp>
        <p:nvSpPr>
          <p:cNvPr id="3" name="Content Placeholder 2"/>
          <p:cNvSpPr>
            <a:spLocks noGrp="1"/>
          </p:cNvSpPr>
          <p:nvPr>
            <p:ph idx="1"/>
          </p:nvPr>
        </p:nvSpPr>
        <p:spPr/>
        <p:txBody>
          <a:bodyPr/>
          <a:lstStyle/>
          <a:p>
            <a:r>
              <a:rPr lang="en-US" dirty="0" smtClean="0"/>
              <a:t>Add another file to the directory</a:t>
            </a:r>
          </a:p>
          <a:p>
            <a:r>
              <a:rPr lang="en-US" dirty="0" smtClean="0"/>
              <a:t>Create a sub directory with at least two files in it.</a:t>
            </a:r>
          </a:p>
        </p:txBody>
      </p:sp>
    </p:spTree>
    <p:extLst>
      <p:ext uri="{BB962C8B-B14F-4D97-AF65-F5344CB8AC3E}">
        <p14:creationId xmlns:p14="http://schemas.microsoft.com/office/powerpoint/2010/main" val="14263935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Git</a:t>
            </a:r>
            <a:r>
              <a:rPr lang="en-US" dirty="0" smtClean="0"/>
              <a:t> Status</a:t>
            </a:r>
            <a:endParaRPr lang="en-US" dirty="0"/>
          </a:p>
        </p:txBody>
      </p:sp>
      <p:pic>
        <p:nvPicPr>
          <p:cNvPr id="5" name="Picture 4"/>
          <p:cNvPicPr>
            <a:picLocks noChangeAspect="1"/>
          </p:cNvPicPr>
          <p:nvPr/>
        </p:nvPicPr>
        <p:blipFill>
          <a:blip r:embed="rId2"/>
          <a:stretch>
            <a:fillRect/>
          </a:stretch>
        </p:blipFill>
        <p:spPr>
          <a:xfrm>
            <a:off x="711001" y="1631857"/>
            <a:ext cx="7721997" cy="3594285"/>
          </a:xfrm>
          <a:prstGeom prst="rect">
            <a:avLst/>
          </a:prstGeom>
        </p:spPr>
      </p:pic>
      <p:sp>
        <p:nvSpPr>
          <p:cNvPr id="6" name="Rounded Rectangular Callout 5"/>
          <p:cNvSpPr/>
          <p:nvPr/>
        </p:nvSpPr>
        <p:spPr>
          <a:xfrm>
            <a:off x="5943600" y="3431240"/>
            <a:ext cx="3116668" cy="609600"/>
          </a:xfrm>
          <a:prstGeom prst="wedgeRoundRectCallout">
            <a:avLst>
              <a:gd name="adj1" fmla="val -130645"/>
              <a:gd name="adj2" fmla="val 34382"/>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New documents and directory untracked.</a:t>
            </a:r>
            <a:endParaRPr lang="en-US" dirty="0"/>
          </a:p>
        </p:txBody>
      </p:sp>
    </p:spTree>
    <p:extLst>
      <p:ext uri="{BB962C8B-B14F-4D97-AF65-F5344CB8AC3E}">
        <p14:creationId xmlns:p14="http://schemas.microsoft.com/office/powerpoint/2010/main" val="18745866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t>
            </a:r>
            <a:endParaRPr lang="en-US" dirty="0"/>
          </a:p>
        </p:txBody>
      </p:sp>
      <p:sp>
        <p:nvSpPr>
          <p:cNvPr id="3" name="Content Placeholder 2"/>
          <p:cNvSpPr>
            <a:spLocks noGrp="1"/>
          </p:cNvSpPr>
          <p:nvPr>
            <p:ph idx="1"/>
          </p:nvPr>
        </p:nvSpPr>
        <p:spPr>
          <a:xfrm>
            <a:off x="685346" y="1732451"/>
            <a:ext cx="7765322" cy="477350"/>
          </a:xfrm>
        </p:spPr>
        <p:txBody>
          <a:bodyPr/>
          <a:lstStyle/>
          <a:p>
            <a:r>
              <a:rPr lang="en-US" dirty="0" smtClean="0"/>
              <a:t>Use </a:t>
            </a:r>
            <a:r>
              <a:rPr lang="en-US" dirty="0" err="1" smtClean="0"/>
              <a:t>git</a:t>
            </a:r>
            <a:r>
              <a:rPr lang="en-US" dirty="0" smtClean="0"/>
              <a:t> * to add everything:</a:t>
            </a:r>
            <a:endParaRPr lang="en-US" dirty="0"/>
          </a:p>
        </p:txBody>
      </p:sp>
      <p:pic>
        <p:nvPicPr>
          <p:cNvPr id="4" name="Picture 3"/>
          <p:cNvPicPr>
            <a:picLocks noChangeAspect="1"/>
          </p:cNvPicPr>
          <p:nvPr/>
        </p:nvPicPr>
        <p:blipFill>
          <a:blip r:embed="rId2"/>
          <a:stretch>
            <a:fillRect/>
          </a:stretch>
        </p:blipFill>
        <p:spPr>
          <a:xfrm>
            <a:off x="749103" y="2346269"/>
            <a:ext cx="7645793" cy="2165461"/>
          </a:xfrm>
          <a:prstGeom prst="rect">
            <a:avLst/>
          </a:prstGeom>
        </p:spPr>
      </p:pic>
      <p:sp>
        <p:nvSpPr>
          <p:cNvPr id="5" name="Rounded Rectangular Callout 4"/>
          <p:cNvSpPr/>
          <p:nvPr/>
        </p:nvSpPr>
        <p:spPr>
          <a:xfrm>
            <a:off x="5943600" y="3431240"/>
            <a:ext cx="3116668" cy="609600"/>
          </a:xfrm>
          <a:prstGeom prst="wedgeRoundRectCallout">
            <a:avLst>
              <a:gd name="adj1" fmla="val -63985"/>
              <a:gd name="adj2" fmla="val 11220"/>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Everything is now ready to be </a:t>
            </a:r>
            <a:r>
              <a:rPr lang="en-US" dirty="0" err="1" smtClean="0"/>
              <a:t>commited</a:t>
            </a:r>
            <a:r>
              <a:rPr lang="en-US" dirty="0" smtClean="0"/>
              <a:t>.</a:t>
            </a:r>
            <a:endParaRPr lang="en-US" dirty="0"/>
          </a:p>
        </p:txBody>
      </p:sp>
    </p:spTree>
    <p:extLst>
      <p:ext uri="{BB962C8B-B14F-4D97-AF65-F5344CB8AC3E}">
        <p14:creationId xmlns:p14="http://schemas.microsoft.com/office/powerpoint/2010/main" val="4003522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Making Changes Before Commit</a:t>
            </a:r>
            <a:endParaRPr lang="en-US" dirty="0"/>
          </a:p>
        </p:txBody>
      </p:sp>
      <p:sp>
        <p:nvSpPr>
          <p:cNvPr id="3" name="Content Placeholder 2"/>
          <p:cNvSpPr>
            <a:spLocks noGrp="1"/>
          </p:cNvSpPr>
          <p:nvPr>
            <p:ph idx="1"/>
          </p:nvPr>
        </p:nvSpPr>
        <p:spPr>
          <a:xfrm>
            <a:off x="685346" y="1732451"/>
            <a:ext cx="7765322" cy="477350"/>
          </a:xfrm>
        </p:spPr>
        <p:txBody>
          <a:bodyPr/>
          <a:lstStyle/>
          <a:p>
            <a:r>
              <a:rPr lang="en-US" dirty="0" smtClean="0"/>
              <a:t>Modify our original file and save it.</a:t>
            </a:r>
            <a:endParaRPr lang="en-US" dirty="0"/>
          </a:p>
        </p:txBody>
      </p:sp>
      <p:pic>
        <p:nvPicPr>
          <p:cNvPr id="4" name="Picture 3"/>
          <p:cNvPicPr>
            <a:picLocks noChangeAspect="1"/>
          </p:cNvPicPr>
          <p:nvPr/>
        </p:nvPicPr>
        <p:blipFill>
          <a:blip r:embed="rId2"/>
          <a:stretch>
            <a:fillRect/>
          </a:stretch>
        </p:blipFill>
        <p:spPr>
          <a:xfrm>
            <a:off x="1752600" y="2391336"/>
            <a:ext cx="5998129" cy="2485463"/>
          </a:xfrm>
          <a:prstGeom prst="rect">
            <a:avLst/>
          </a:prstGeom>
        </p:spPr>
      </p:pic>
    </p:spTree>
    <p:extLst>
      <p:ext uri="{BB962C8B-B14F-4D97-AF65-F5344CB8AC3E}">
        <p14:creationId xmlns:p14="http://schemas.microsoft.com/office/powerpoint/2010/main" val="4154171890"/>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a:t>
            </a:r>
            <a:endParaRPr lang="en-US" dirty="0"/>
          </a:p>
        </p:txBody>
      </p:sp>
      <p:sp>
        <p:nvSpPr>
          <p:cNvPr id="3" name="Content Placeholder 2"/>
          <p:cNvSpPr>
            <a:spLocks noGrp="1"/>
          </p:cNvSpPr>
          <p:nvPr>
            <p:ph idx="1"/>
          </p:nvPr>
        </p:nvSpPr>
        <p:spPr>
          <a:xfrm>
            <a:off x="609600" y="4191000"/>
            <a:ext cx="7765322" cy="1905000"/>
          </a:xfrm>
        </p:spPr>
        <p:txBody>
          <a:bodyPr>
            <a:normAutofit/>
          </a:bodyPr>
          <a:lstStyle/>
          <a:p>
            <a:r>
              <a:rPr lang="en-US" dirty="0" smtClean="0"/>
              <a:t>When you change a file, it does not affect the version that is ready to be committed!</a:t>
            </a:r>
          </a:p>
          <a:p>
            <a:r>
              <a:rPr lang="en-US" dirty="0" smtClean="0"/>
              <a:t>You must </a:t>
            </a:r>
            <a:r>
              <a:rPr lang="en-US" dirty="0" err="1" smtClean="0"/>
              <a:t>git</a:t>
            </a:r>
            <a:r>
              <a:rPr lang="en-US" dirty="0" smtClean="0"/>
              <a:t> add the modified file to make the modified version part of the next commit.</a:t>
            </a:r>
            <a:endParaRPr lang="en-US" dirty="0"/>
          </a:p>
        </p:txBody>
      </p:sp>
      <p:pic>
        <p:nvPicPr>
          <p:cNvPr id="5" name="Picture 4"/>
          <p:cNvPicPr>
            <a:picLocks noChangeAspect="1"/>
          </p:cNvPicPr>
          <p:nvPr/>
        </p:nvPicPr>
        <p:blipFill>
          <a:blip r:embed="rId2"/>
          <a:stretch>
            <a:fillRect/>
          </a:stretch>
        </p:blipFill>
        <p:spPr>
          <a:xfrm>
            <a:off x="767229" y="1447800"/>
            <a:ext cx="7645793" cy="2552831"/>
          </a:xfrm>
          <a:prstGeom prst="rect">
            <a:avLst/>
          </a:prstGeom>
        </p:spPr>
      </p:pic>
      <p:sp>
        <p:nvSpPr>
          <p:cNvPr id="6" name="Rounded Rectangular Callout 5"/>
          <p:cNvSpPr/>
          <p:nvPr/>
        </p:nvSpPr>
        <p:spPr>
          <a:xfrm>
            <a:off x="4587884" y="1869347"/>
            <a:ext cx="3116668" cy="609600"/>
          </a:xfrm>
          <a:prstGeom prst="wedgeRoundRectCallout">
            <a:avLst>
              <a:gd name="adj1" fmla="val -87715"/>
              <a:gd name="adj2" fmla="val 36588"/>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Original NewDoc.txt is still in committed.</a:t>
            </a:r>
            <a:endParaRPr lang="en-US" dirty="0"/>
          </a:p>
        </p:txBody>
      </p:sp>
      <p:sp>
        <p:nvSpPr>
          <p:cNvPr id="7" name="Rounded Rectangular Callout 6"/>
          <p:cNvSpPr/>
          <p:nvPr/>
        </p:nvSpPr>
        <p:spPr>
          <a:xfrm>
            <a:off x="4267200" y="3355116"/>
            <a:ext cx="4495800" cy="342769"/>
          </a:xfrm>
          <a:prstGeom prst="wedgeRoundRectCallout">
            <a:avLst>
              <a:gd name="adj1" fmla="val -71863"/>
              <a:gd name="adj2" fmla="val 2481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This NewDoc.txt is your modified one!</a:t>
            </a:r>
            <a:endParaRPr lang="en-US" dirty="0"/>
          </a:p>
        </p:txBody>
      </p:sp>
    </p:spTree>
    <p:extLst>
      <p:ext uri="{BB962C8B-B14F-4D97-AF65-F5344CB8AC3E}">
        <p14:creationId xmlns:p14="http://schemas.microsoft.com/office/powerpoint/2010/main" val="1516428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par>
                          <p:cTn id="10" fill="hold">
                            <p:stCondLst>
                              <p:cond delay="1000"/>
                            </p:stCondLst>
                            <p:childTnLst>
                              <p:par>
                                <p:cTn id="11" presetID="42"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1000"/>
                                        <p:tgtEl>
                                          <p:spTgt spid="7"/>
                                        </p:tgtEl>
                                      </p:cBhvr>
                                    </p:animEffect>
                                    <p:anim calcmode="lin" valueType="num">
                                      <p:cBhvr>
                                        <p:cTn id="14" dur="1000" fill="hold"/>
                                        <p:tgtEl>
                                          <p:spTgt spid="7"/>
                                        </p:tgtEl>
                                        <p:attrNameLst>
                                          <p:attrName>ppt_x</p:attrName>
                                        </p:attrNameLst>
                                      </p:cBhvr>
                                      <p:tavLst>
                                        <p:tav tm="0">
                                          <p:val>
                                            <p:strVal val="#ppt_x"/>
                                          </p:val>
                                        </p:tav>
                                        <p:tav tm="100000">
                                          <p:val>
                                            <p:strVal val="#ppt_x"/>
                                          </p:val>
                                        </p:tav>
                                      </p:tavLst>
                                    </p:anim>
                                    <p:anim calcmode="lin" valueType="num">
                                      <p:cBhvr>
                                        <p:cTn id="15"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Do another </a:t>
            </a:r>
            <a:r>
              <a:rPr lang="en-US" dirty="0" err="1" smtClean="0"/>
              <a:t>git</a:t>
            </a:r>
            <a:r>
              <a:rPr lang="en-US" dirty="0" smtClean="0"/>
              <a:t> add *</a:t>
            </a:r>
            <a:endParaRPr lang="en-US" dirty="0"/>
          </a:p>
        </p:txBody>
      </p:sp>
      <p:sp>
        <p:nvSpPr>
          <p:cNvPr id="3" name="Content Placeholder 2"/>
          <p:cNvSpPr>
            <a:spLocks noGrp="1"/>
          </p:cNvSpPr>
          <p:nvPr>
            <p:ph idx="1"/>
          </p:nvPr>
        </p:nvSpPr>
        <p:spPr>
          <a:xfrm>
            <a:off x="685346" y="4191000"/>
            <a:ext cx="7765322" cy="1600201"/>
          </a:xfrm>
        </p:spPr>
        <p:txBody>
          <a:bodyPr/>
          <a:lstStyle/>
          <a:p>
            <a:r>
              <a:rPr lang="en-US" dirty="0" smtClean="0"/>
              <a:t>Doing another </a:t>
            </a:r>
            <a:r>
              <a:rPr lang="en-US" dirty="0" err="1" smtClean="0"/>
              <a:t>git</a:t>
            </a:r>
            <a:r>
              <a:rPr lang="en-US" dirty="0" smtClean="0"/>
              <a:t> add will add the modified file to the staged files and replace the previous one.</a:t>
            </a:r>
            <a:endParaRPr lang="en-US" dirty="0"/>
          </a:p>
        </p:txBody>
      </p:sp>
      <p:pic>
        <p:nvPicPr>
          <p:cNvPr id="4" name="Picture 3"/>
          <p:cNvPicPr>
            <a:picLocks noChangeAspect="1"/>
          </p:cNvPicPr>
          <p:nvPr/>
        </p:nvPicPr>
        <p:blipFill>
          <a:blip r:embed="rId2"/>
          <a:stretch>
            <a:fillRect/>
          </a:stretch>
        </p:blipFill>
        <p:spPr>
          <a:xfrm>
            <a:off x="745110" y="1676400"/>
            <a:ext cx="7645793" cy="2114659"/>
          </a:xfrm>
          <a:prstGeom prst="rect">
            <a:avLst/>
          </a:prstGeom>
        </p:spPr>
      </p:pic>
      <p:sp>
        <p:nvSpPr>
          <p:cNvPr id="5" name="Rounded Rectangular Callout 4"/>
          <p:cNvSpPr/>
          <p:nvPr/>
        </p:nvSpPr>
        <p:spPr>
          <a:xfrm>
            <a:off x="4419600" y="2562344"/>
            <a:ext cx="4495800" cy="342769"/>
          </a:xfrm>
          <a:prstGeom prst="wedgeRoundRectCallout">
            <a:avLst>
              <a:gd name="adj1" fmla="val -71863"/>
              <a:gd name="adj2" fmla="val 2481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This NewDoc.txt is your modified one!</a:t>
            </a:r>
            <a:endParaRPr lang="en-US" dirty="0"/>
          </a:p>
        </p:txBody>
      </p:sp>
    </p:spTree>
    <p:extLst>
      <p:ext uri="{BB962C8B-B14F-4D97-AF65-F5344CB8AC3E}">
        <p14:creationId xmlns:p14="http://schemas.microsoft.com/office/powerpoint/2010/main" val="29087337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1000"/>
                                        <p:tgtEl>
                                          <p:spTgt spid="5"/>
                                        </p:tgtEl>
                                      </p:cBhvr>
                                    </p:animEffect>
                                    <p:anim calcmode="lin" valueType="num">
                                      <p:cBhvr>
                                        <p:cTn id="8" dur="1000" fill="hold"/>
                                        <p:tgtEl>
                                          <p:spTgt spid="5"/>
                                        </p:tgtEl>
                                        <p:attrNameLst>
                                          <p:attrName>ppt_x</p:attrName>
                                        </p:attrNameLst>
                                      </p:cBhvr>
                                      <p:tavLst>
                                        <p:tav tm="0">
                                          <p:val>
                                            <p:strVal val="#ppt_x"/>
                                          </p:val>
                                        </p:tav>
                                        <p:tav tm="100000">
                                          <p:val>
                                            <p:strVal val="#ppt_x"/>
                                          </p:val>
                                        </p:tav>
                                      </p:tavLst>
                                    </p:anim>
                                    <p:anim calcmode="lin" valueType="num">
                                      <p:cBhvr>
                                        <p:cTn id="9" dur="1000" fill="hold"/>
                                        <p:tgtEl>
                                          <p:spTgt spid="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Short Status</a:t>
            </a:r>
            <a:endParaRPr lang="en-US" dirty="0"/>
          </a:p>
        </p:txBody>
      </p:sp>
      <p:sp>
        <p:nvSpPr>
          <p:cNvPr id="3" name="Content Placeholder 2"/>
          <p:cNvSpPr>
            <a:spLocks noGrp="1"/>
          </p:cNvSpPr>
          <p:nvPr>
            <p:ph idx="1"/>
          </p:nvPr>
        </p:nvSpPr>
        <p:spPr/>
        <p:txBody>
          <a:bodyPr/>
          <a:lstStyle/>
          <a:p>
            <a:r>
              <a:rPr lang="en-US" dirty="0" smtClean="0"/>
              <a:t>Shorter format for status</a:t>
            </a:r>
          </a:p>
          <a:p>
            <a:pPr marL="450000" lvl="1" indent="0">
              <a:buNone/>
            </a:pPr>
            <a:r>
              <a:rPr lang="en-US" dirty="0" err="1" smtClean="0"/>
              <a:t>git</a:t>
            </a:r>
            <a:r>
              <a:rPr lang="en-US" dirty="0" smtClean="0"/>
              <a:t> status –short</a:t>
            </a:r>
          </a:p>
          <a:p>
            <a:pPr marL="450000" lvl="1" indent="0">
              <a:buNone/>
            </a:pPr>
            <a:r>
              <a:rPr lang="en-US" dirty="0" err="1" smtClean="0"/>
              <a:t>git</a:t>
            </a:r>
            <a:r>
              <a:rPr lang="en-US" dirty="0" smtClean="0"/>
              <a:t> status –s</a:t>
            </a:r>
          </a:p>
          <a:p>
            <a:r>
              <a:rPr lang="en-US" dirty="0" smtClean="0"/>
              <a:t>Legend:</a:t>
            </a:r>
          </a:p>
          <a:p>
            <a:pPr lvl="1"/>
            <a:r>
              <a:rPr lang="en-US" dirty="0" smtClean="0"/>
              <a:t>New </a:t>
            </a:r>
            <a:r>
              <a:rPr lang="en-US" dirty="0"/>
              <a:t>files that aren’t tracked have a ?? next to </a:t>
            </a:r>
            <a:r>
              <a:rPr lang="en-US" dirty="0" smtClean="0"/>
              <a:t>them.</a:t>
            </a:r>
          </a:p>
          <a:p>
            <a:pPr lvl="1"/>
            <a:r>
              <a:rPr lang="en-US" dirty="0" smtClean="0"/>
              <a:t>New </a:t>
            </a:r>
            <a:r>
              <a:rPr lang="en-US" dirty="0"/>
              <a:t>files that have been added to the staging area have an </a:t>
            </a:r>
            <a:r>
              <a:rPr lang="en-US" dirty="0" smtClean="0"/>
              <a:t>A.</a:t>
            </a:r>
          </a:p>
          <a:p>
            <a:pPr lvl="1"/>
            <a:r>
              <a:rPr lang="en-US" dirty="0" smtClean="0"/>
              <a:t>Modified </a:t>
            </a:r>
            <a:r>
              <a:rPr lang="en-US" dirty="0"/>
              <a:t>files have an M and so on</a:t>
            </a:r>
            <a:r>
              <a:rPr lang="en-US" dirty="0" smtClean="0"/>
              <a:t>.</a:t>
            </a:r>
            <a:endParaRPr lang="en-US" dirty="0"/>
          </a:p>
        </p:txBody>
      </p:sp>
      <p:pic>
        <p:nvPicPr>
          <p:cNvPr id="6" name="Picture 5"/>
          <p:cNvPicPr>
            <a:picLocks noChangeAspect="1"/>
          </p:cNvPicPr>
          <p:nvPr/>
        </p:nvPicPr>
        <p:blipFill>
          <a:blip r:embed="rId2"/>
          <a:stretch>
            <a:fillRect/>
          </a:stretch>
        </p:blipFill>
        <p:spPr>
          <a:xfrm>
            <a:off x="685346" y="4800600"/>
            <a:ext cx="7645793" cy="920797"/>
          </a:xfrm>
          <a:prstGeom prst="rect">
            <a:avLst/>
          </a:prstGeom>
        </p:spPr>
      </p:pic>
    </p:spTree>
    <p:extLst>
      <p:ext uri="{BB962C8B-B14F-4D97-AF65-F5344CB8AC3E}">
        <p14:creationId xmlns:p14="http://schemas.microsoft.com/office/powerpoint/2010/main" val="2464316227"/>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diff</a:t>
            </a:r>
            <a:endParaRPr lang="en-US" dirty="0"/>
          </a:p>
        </p:txBody>
      </p:sp>
      <p:sp>
        <p:nvSpPr>
          <p:cNvPr id="3" name="Content Placeholder 2"/>
          <p:cNvSpPr>
            <a:spLocks noGrp="1"/>
          </p:cNvSpPr>
          <p:nvPr>
            <p:ph idx="1"/>
          </p:nvPr>
        </p:nvSpPr>
        <p:spPr/>
        <p:txBody>
          <a:bodyPr/>
          <a:lstStyle/>
          <a:p>
            <a:r>
              <a:rPr lang="en-US" dirty="0" smtClean="0"/>
              <a:t>The </a:t>
            </a:r>
            <a:r>
              <a:rPr lang="en-US" dirty="0" err="1" smtClean="0"/>
              <a:t>git</a:t>
            </a:r>
            <a:r>
              <a:rPr lang="en-US" dirty="0" smtClean="0"/>
              <a:t> diff command provides more detail than </a:t>
            </a:r>
            <a:r>
              <a:rPr lang="en-US" dirty="0" err="1" smtClean="0"/>
              <a:t>git</a:t>
            </a:r>
            <a:r>
              <a:rPr lang="en-US" dirty="0" smtClean="0"/>
              <a:t> status</a:t>
            </a:r>
          </a:p>
          <a:p>
            <a:r>
              <a:rPr lang="en-US" dirty="0" smtClean="0"/>
              <a:t>Answers </a:t>
            </a:r>
            <a:r>
              <a:rPr lang="en-US" dirty="0"/>
              <a:t>these two questions: </a:t>
            </a:r>
            <a:endParaRPr lang="en-US" dirty="0" smtClean="0"/>
          </a:p>
          <a:p>
            <a:pPr lvl="1"/>
            <a:r>
              <a:rPr lang="en-US" dirty="0" smtClean="0"/>
              <a:t>What </a:t>
            </a:r>
            <a:r>
              <a:rPr lang="en-US" dirty="0"/>
              <a:t>have you changed but not yet staged? </a:t>
            </a:r>
            <a:endParaRPr lang="en-US" dirty="0" smtClean="0"/>
          </a:p>
          <a:p>
            <a:pPr lvl="1"/>
            <a:r>
              <a:rPr lang="en-US" dirty="0"/>
              <a:t>W</a:t>
            </a:r>
            <a:r>
              <a:rPr lang="en-US" dirty="0" smtClean="0"/>
              <a:t>hat </a:t>
            </a:r>
            <a:r>
              <a:rPr lang="en-US" dirty="0"/>
              <a:t>have you staged that you are about to commit? </a:t>
            </a:r>
            <a:endParaRPr lang="en-US" dirty="0" smtClean="0"/>
          </a:p>
          <a:p>
            <a:r>
              <a:rPr lang="en-US" dirty="0" smtClean="0"/>
              <a:t>Although </a:t>
            </a:r>
            <a:r>
              <a:rPr lang="en-US" dirty="0" err="1"/>
              <a:t>git</a:t>
            </a:r>
            <a:r>
              <a:rPr lang="en-US" dirty="0"/>
              <a:t> status answers those questions very generally by listing the file names, </a:t>
            </a:r>
            <a:r>
              <a:rPr lang="en-US" dirty="0" err="1"/>
              <a:t>git</a:t>
            </a:r>
            <a:r>
              <a:rPr lang="en-US" dirty="0"/>
              <a:t> diff shows you the exact lines added and removed – the patch, as it were.</a:t>
            </a:r>
          </a:p>
          <a:p>
            <a:endParaRPr lang="en-US" dirty="0"/>
          </a:p>
          <a:p>
            <a:endParaRPr lang="en-US" dirty="0"/>
          </a:p>
        </p:txBody>
      </p:sp>
    </p:spTree>
    <p:extLst>
      <p:ext uri="{BB962C8B-B14F-4D97-AF65-F5344CB8AC3E}">
        <p14:creationId xmlns:p14="http://schemas.microsoft.com/office/powerpoint/2010/main" val="3200172325"/>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a:xfrm>
            <a:off x="608283" y="1580050"/>
            <a:ext cx="7765322" cy="4592150"/>
          </a:xfrm>
        </p:spPr>
        <p:txBody>
          <a:bodyPr/>
          <a:lstStyle/>
          <a:p>
            <a:r>
              <a:rPr lang="en-US" dirty="0" smtClean="0"/>
              <a:t>Change NewDoc.txt one more time</a:t>
            </a:r>
          </a:p>
          <a:p>
            <a:r>
              <a:rPr lang="en-US" dirty="0" smtClean="0"/>
              <a:t>Add another text file to the sub directory</a:t>
            </a:r>
          </a:p>
          <a:p>
            <a:r>
              <a:rPr lang="en-US" dirty="0" smtClean="0"/>
              <a:t>Run </a:t>
            </a:r>
            <a:r>
              <a:rPr lang="en-US" dirty="0" err="1" smtClean="0"/>
              <a:t>git</a:t>
            </a:r>
            <a:r>
              <a:rPr lang="en-US" dirty="0" smtClean="0"/>
              <a:t> diff</a:t>
            </a:r>
          </a:p>
          <a:p>
            <a:endParaRPr lang="en-US" dirty="0"/>
          </a:p>
          <a:p>
            <a:endParaRPr lang="en-US" dirty="0" smtClean="0"/>
          </a:p>
          <a:p>
            <a:endParaRPr lang="en-US" dirty="0"/>
          </a:p>
          <a:p>
            <a:endParaRPr lang="en-US" dirty="0" smtClean="0"/>
          </a:p>
          <a:p>
            <a:endParaRPr lang="en-US" dirty="0"/>
          </a:p>
          <a:p>
            <a:endParaRPr lang="en-US" dirty="0" smtClean="0"/>
          </a:p>
        </p:txBody>
      </p:sp>
      <p:pic>
        <p:nvPicPr>
          <p:cNvPr id="4" name="Picture 3"/>
          <p:cNvPicPr>
            <a:picLocks noChangeAspect="1"/>
          </p:cNvPicPr>
          <p:nvPr/>
        </p:nvPicPr>
        <p:blipFill>
          <a:blip r:embed="rId2"/>
          <a:stretch>
            <a:fillRect/>
          </a:stretch>
        </p:blipFill>
        <p:spPr>
          <a:xfrm>
            <a:off x="685346" y="3200400"/>
            <a:ext cx="7688259" cy="2209799"/>
          </a:xfrm>
          <a:prstGeom prst="rect">
            <a:avLst/>
          </a:prstGeom>
        </p:spPr>
      </p:pic>
    </p:spTree>
    <p:extLst>
      <p:ext uri="{BB962C8B-B14F-4D97-AF65-F5344CB8AC3E}">
        <p14:creationId xmlns:p14="http://schemas.microsoft.com/office/powerpoint/2010/main" val="198304315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smtClean="0"/>
              <a:t>Do a </a:t>
            </a:r>
            <a:r>
              <a:rPr lang="en-US" dirty="0" err="1" smtClean="0"/>
              <a:t>git</a:t>
            </a:r>
            <a:r>
              <a:rPr lang="en-US" dirty="0" smtClean="0"/>
              <a:t> add * then another </a:t>
            </a:r>
            <a:r>
              <a:rPr lang="en-US" dirty="0" err="1" smtClean="0"/>
              <a:t>git</a:t>
            </a:r>
            <a:r>
              <a:rPr lang="en-US" dirty="0" smtClean="0"/>
              <a:t> diff</a:t>
            </a:r>
          </a:p>
          <a:p>
            <a:endParaRPr lang="en-US" dirty="0" smtClean="0"/>
          </a:p>
          <a:p>
            <a:endParaRPr lang="en-US" dirty="0"/>
          </a:p>
          <a:p>
            <a:endParaRPr lang="en-US" dirty="0" smtClean="0"/>
          </a:p>
          <a:p>
            <a:r>
              <a:rPr lang="en-US" dirty="0" smtClean="0"/>
              <a:t>Notice nothing to report after </a:t>
            </a:r>
            <a:r>
              <a:rPr lang="en-US" dirty="0" err="1" smtClean="0"/>
              <a:t>git</a:t>
            </a:r>
            <a:r>
              <a:rPr lang="en-US" dirty="0" smtClean="0"/>
              <a:t> add</a:t>
            </a:r>
            <a:endParaRPr lang="en-US" dirty="0"/>
          </a:p>
          <a:p>
            <a:endParaRPr lang="en-US" dirty="0"/>
          </a:p>
        </p:txBody>
      </p:sp>
      <p:pic>
        <p:nvPicPr>
          <p:cNvPr id="4" name="Picture 3"/>
          <p:cNvPicPr>
            <a:picLocks noChangeAspect="1"/>
          </p:cNvPicPr>
          <p:nvPr/>
        </p:nvPicPr>
        <p:blipFill>
          <a:blip r:embed="rId2"/>
          <a:stretch>
            <a:fillRect/>
          </a:stretch>
        </p:blipFill>
        <p:spPr>
          <a:xfrm>
            <a:off x="-4174831" y="2286000"/>
            <a:ext cx="12738085" cy="838200"/>
          </a:xfrm>
          <a:prstGeom prst="rect">
            <a:avLst/>
          </a:prstGeom>
        </p:spPr>
      </p:pic>
    </p:spTree>
    <p:extLst>
      <p:ext uri="{BB962C8B-B14F-4D97-AF65-F5344CB8AC3E}">
        <p14:creationId xmlns:p14="http://schemas.microsoft.com/office/powerpoint/2010/main" val="108769141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Committing Your </a:t>
            </a:r>
            <a:r>
              <a:rPr lang="en-US" dirty="0" smtClean="0"/>
              <a:t>Changes</a:t>
            </a:r>
            <a:endParaRPr lang="en-US" dirty="0"/>
          </a:p>
        </p:txBody>
      </p:sp>
      <p:sp>
        <p:nvSpPr>
          <p:cNvPr id="3" name="Content Placeholder 2"/>
          <p:cNvSpPr>
            <a:spLocks noGrp="1"/>
          </p:cNvSpPr>
          <p:nvPr>
            <p:ph idx="1"/>
          </p:nvPr>
        </p:nvSpPr>
        <p:spPr/>
        <p:txBody>
          <a:bodyPr/>
          <a:lstStyle/>
          <a:p>
            <a:r>
              <a:rPr lang="en-US" dirty="0" smtClean="0"/>
              <a:t>Now </a:t>
            </a:r>
            <a:r>
              <a:rPr lang="en-US" dirty="0"/>
              <a:t>that your staging area is set up the way you want it, you can commit your changes. </a:t>
            </a:r>
            <a:endParaRPr lang="en-US" dirty="0" smtClean="0"/>
          </a:p>
          <a:p>
            <a:r>
              <a:rPr lang="en-US" dirty="0" smtClean="0"/>
              <a:t>Remember </a:t>
            </a:r>
            <a:r>
              <a:rPr lang="en-US" dirty="0"/>
              <a:t>that anything that is still </a:t>
            </a:r>
            <a:r>
              <a:rPr lang="en-US" dirty="0" err="1"/>
              <a:t>unstaged</a:t>
            </a:r>
            <a:r>
              <a:rPr lang="en-US" dirty="0"/>
              <a:t> – any files you have created or modified that you haven’t run </a:t>
            </a:r>
            <a:r>
              <a:rPr lang="en-US" dirty="0" err="1"/>
              <a:t>git</a:t>
            </a:r>
            <a:r>
              <a:rPr lang="en-US" dirty="0"/>
              <a:t> add on since you edited them – won’t go into this commit. </a:t>
            </a:r>
            <a:endParaRPr lang="en-US" dirty="0" smtClean="0"/>
          </a:p>
          <a:p>
            <a:r>
              <a:rPr lang="en-US" dirty="0" smtClean="0"/>
              <a:t>They </a:t>
            </a:r>
            <a:r>
              <a:rPr lang="en-US" dirty="0"/>
              <a:t>will stay as modified files on your disk. </a:t>
            </a:r>
            <a:endParaRPr lang="en-US" dirty="0" smtClean="0"/>
          </a:p>
          <a:p>
            <a:r>
              <a:rPr lang="en-US" dirty="0" smtClean="0"/>
              <a:t>In </a:t>
            </a:r>
            <a:r>
              <a:rPr lang="en-US" dirty="0"/>
              <a:t>this case, </a:t>
            </a:r>
            <a:r>
              <a:rPr lang="en-US" dirty="0" smtClean="0"/>
              <a:t>the </a:t>
            </a:r>
            <a:r>
              <a:rPr lang="en-US" dirty="0"/>
              <a:t>last time you ran </a:t>
            </a:r>
            <a:r>
              <a:rPr lang="en-US" dirty="0" err="1"/>
              <a:t>git</a:t>
            </a:r>
            <a:r>
              <a:rPr lang="en-US" dirty="0"/>
              <a:t> status, you saw that everything was staged, so you’re ready to commit your changes. </a:t>
            </a:r>
            <a:endParaRPr lang="en-US" dirty="0" smtClean="0"/>
          </a:p>
          <a:p>
            <a:r>
              <a:rPr lang="en-US" dirty="0" smtClean="0"/>
              <a:t>The </a:t>
            </a:r>
            <a:r>
              <a:rPr lang="en-US" dirty="0"/>
              <a:t>simplest way to commit is to type </a:t>
            </a:r>
            <a:r>
              <a:rPr lang="en-US" dirty="0" err="1"/>
              <a:t>git</a:t>
            </a:r>
            <a:r>
              <a:rPr lang="en-US" dirty="0"/>
              <a:t> </a:t>
            </a:r>
            <a:r>
              <a:rPr lang="en-US" dirty="0" smtClean="0"/>
              <a:t>commit</a:t>
            </a:r>
            <a:endParaRPr lang="en-US" dirty="0"/>
          </a:p>
        </p:txBody>
      </p:sp>
    </p:spTree>
    <p:extLst>
      <p:ext uri="{BB962C8B-B14F-4D97-AF65-F5344CB8AC3E}">
        <p14:creationId xmlns:p14="http://schemas.microsoft.com/office/powerpoint/2010/main" val="1164984772"/>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smtClean="0"/>
              <a:t> commit</a:t>
            </a:r>
            <a:endParaRPr lang="en-US" dirty="0"/>
          </a:p>
        </p:txBody>
      </p:sp>
      <p:pic>
        <p:nvPicPr>
          <p:cNvPr id="4" name="Picture 3"/>
          <p:cNvPicPr>
            <a:picLocks noChangeAspect="1"/>
          </p:cNvPicPr>
          <p:nvPr/>
        </p:nvPicPr>
        <p:blipFill rotWithShape="1">
          <a:blip r:embed="rId2"/>
          <a:srcRect t="80341" r="9508"/>
          <a:stretch/>
        </p:blipFill>
        <p:spPr>
          <a:xfrm>
            <a:off x="1081678" y="1546432"/>
            <a:ext cx="6309722" cy="578001"/>
          </a:xfrm>
          <a:prstGeom prst="rect">
            <a:avLst/>
          </a:prstGeom>
        </p:spPr>
      </p:pic>
      <p:pic>
        <p:nvPicPr>
          <p:cNvPr id="5" name="Picture 4"/>
          <p:cNvPicPr>
            <a:picLocks noChangeAspect="1"/>
          </p:cNvPicPr>
          <p:nvPr/>
        </p:nvPicPr>
        <p:blipFill>
          <a:blip r:embed="rId3"/>
          <a:stretch>
            <a:fillRect/>
          </a:stretch>
        </p:blipFill>
        <p:spPr>
          <a:xfrm>
            <a:off x="2935233" y="3025568"/>
            <a:ext cx="5512083" cy="3098959"/>
          </a:xfrm>
          <a:prstGeom prst="rect">
            <a:avLst/>
          </a:prstGeom>
        </p:spPr>
      </p:pic>
      <p:pic>
        <p:nvPicPr>
          <p:cNvPr id="6" name="Picture 5"/>
          <p:cNvPicPr>
            <a:picLocks noChangeAspect="1"/>
          </p:cNvPicPr>
          <p:nvPr/>
        </p:nvPicPr>
        <p:blipFill>
          <a:blip r:embed="rId4"/>
          <a:stretch>
            <a:fillRect/>
          </a:stretch>
        </p:blipFill>
        <p:spPr>
          <a:xfrm>
            <a:off x="2935232" y="3025567"/>
            <a:ext cx="5512083" cy="3098959"/>
          </a:xfrm>
          <a:prstGeom prst="rect">
            <a:avLst/>
          </a:prstGeom>
        </p:spPr>
      </p:pic>
      <p:pic>
        <p:nvPicPr>
          <p:cNvPr id="7" name="Picture 6"/>
          <p:cNvPicPr>
            <a:picLocks noChangeAspect="1"/>
          </p:cNvPicPr>
          <p:nvPr/>
        </p:nvPicPr>
        <p:blipFill>
          <a:blip r:embed="rId5"/>
          <a:stretch>
            <a:fillRect/>
          </a:stretch>
        </p:blipFill>
        <p:spPr>
          <a:xfrm>
            <a:off x="1081677" y="1577938"/>
            <a:ext cx="6299524" cy="1416123"/>
          </a:xfrm>
          <a:prstGeom prst="rect">
            <a:avLst/>
          </a:prstGeom>
        </p:spPr>
      </p:pic>
      <p:sp>
        <p:nvSpPr>
          <p:cNvPr id="9" name="Rounded Rectangular Callout 8"/>
          <p:cNvSpPr/>
          <p:nvPr/>
        </p:nvSpPr>
        <p:spPr>
          <a:xfrm>
            <a:off x="152400" y="4114800"/>
            <a:ext cx="2286000" cy="1219200"/>
          </a:xfrm>
          <a:prstGeom prst="wedgeRoundRectCallout">
            <a:avLst>
              <a:gd name="adj1" fmla="val 91323"/>
              <a:gd name="adj2" fmla="val 14138"/>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err="1" smtClean="0"/>
              <a:t>git</a:t>
            </a:r>
            <a:r>
              <a:rPr lang="en-US" dirty="0" smtClean="0"/>
              <a:t> commit opens a new text file and asks you to add a commit message.</a:t>
            </a:r>
            <a:endParaRPr lang="en-US" dirty="0"/>
          </a:p>
        </p:txBody>
      </p:sp>
      <p:sp>
        <p:nvSpPr>
          <p:cNvPr id="10" name="Rounded Rectangular Callout 9"/>
          <p:cNvSpPr/>
          <p:nvPr/>
        </p:nvSpPr>
        <p:spPr>
          <a:xfrm>
            <a:off x="6172200" y="1905000"/>
            <a:ext cx="2819400" cy="925756"/>
          </a:xfrm>
          <a:prstGeom prst="wedgeRoundRectCallout">
            <a:avLst>
              <a:gd name="adj1" fmla="val -61912"/>
              <a:gd name="adj2" fmla="val 18550"/>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pPr algn="ctr"/>
            <a:r>
              <a:rPr lang="en-US" dirty="0" smtClean="0"/>
              <a:t>Save and close the text file and hit enter to complete the commit.</a:t>
            </a:r>
            <a:endParaRPr lang="en-US" dirty="0"/>
          </a:p>
        </p:txBody>
      </p:sp>
    </p:spTree>
    <p:extLst>
      <p:ext uri="{BB962C8B-B14F-4D97-AF65-F5344CB8AC3E}">
        <p14:creationId xmlns:p14="http://schemas.microsoft.com/office/powerpoint/2010/main" val="30701998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9"/>
                                        </p:tgtEl>
                                        <p:attrNameLst>
                                          <p:attrName>style.visibility</p:attrName>
                                        </p:attrNameLst>
                                      </p:cBhvr>
                                      <p:to>
                                        <p:strVal val="visible"/>
                                      </p:to>
                                    </p:set>
                                    <p:animEffect transition="in" filter="fade">
                                      <p:cBhvr>
                                        <p:cTn id="11" dur="1000"/>
                                        <p:tgtEl>
                                          <p:spTgt spid="9"/>
                                        </p:tgtEl>
                                      </p:cBhvr>
                                    </p:animEffect>
                                    <p:anim calcmode="lin" valueType="num">
                                      <p:cBhvr>
                                        <p:cTn id="12" dur="1000" fill="hold"/>
                                        <p:tgtEl>
                                          <p:spTgt spid="9"/>
                                        </p:tgtEl>
                                        <p:attrNameLst>
                                          <p:attrName>ppt_x</p:attrName>
                                        </p:attrNameLst>
                                      </p:cBhvr>
                                      <p:tavLst>
                                        <p:tav tm="0">
                                          <p:val>
                                            <p:strVal val="#ppt_x"/>
                                          </p:val>
                                        </p:tav>
                                        <p:tav tm="100000">
                                          <p:val>
                                            <p:strVal val="#ppt_x"/>
                                          </p:val>
                                        </p:tav>
                                      </p:tavLst>
                                    </p:anim>
                                    <p:anim calcmode="lin" valueType="num">
                                      <p:cBhvr>
                                        <p:cTn id="13" dur="1000" fill="hold"/>
                                        <p:tgtEl>
                                          <p:spTgt spid="9"/>
                                        </p:tgtEl>
                                        <p:attrNameLst>
                                          <p:attrName>ppt_y</p:attrName>
                                        </p:attrNameLst>
                                      </p:cBhvr>
                                      <p:tavLst>
                                        <p:tav tm="0">
                                          <p:val>
                                            <p:strVal val="#ppt_y+.1"/>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nodeType="click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fade">
                                      <p:cBhvr>
                                        <p:cTn id="23" dur="500"/>
                                        <p:tgtEl>
                                          <p:spTgt spid="7"/>
                                        </p:tgtEl>
                                      </p:cBhvr>
                                    </p:animEffect>
                                  </p:childTnLst>
                                </p:cTn>
                              </p:par>
                            </p:childTnLst>
                          </p:cTn>
                        </p:par>
                        <p:par>
                          <p:cTn id="24" fill="hold">
                            <p:stCondLst>
                              <p:cond delay="500"/>
                            </p:stCondLst>
                            <p:childTnLst>
                              <p:par>
                                <p:cTn id="25" presetID="42" presetClass="entr" presetSubtype="0" fill="hold" grpId="0" nodeType="after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1000"/>
                                        <p:tgtEl>
                                          <p:spTgt spid="10"/>
                                        </p:tgtEl>
                                      </p:cBhvr>
                                    </p:animEffect>
                                    <p:anim calcmode="lin" valueType="num">
                                      <p:cBhvr>
                                        <p:cTn id="28" dur="1000" fill="hold"/>
                                        <p:tgtEl>
                                          <p:spTgt spid="10"/>
                                        </p:tgtEl>
                                        <p:attrNameLst>
                                          <p:attrName>ppt_x</p:attrName>
                                        </p:attrNameLst>
                                      </p:cBhvr>
                                      <p:tavLst>
                                        <p:tav tm="0">
                                          <p:val>
                                            <p:strVal val="#ppt_x"/>
                                          </p:val>
                                        </p:tav>
                                        <p:tav tm="100000">
                                          <p:val>
                                            <p:strVal val="#ppt_x"/>
                                          </p:val>
                                        </p:tav>
                                      </p:tavLst>
                                    </p:anim>
                                    <p:anim calcmode="lin" valueType="num">
                                      <p:cBhvr>
                                        <p:cTn id="29"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-m flag</a:t>
            </a:r>
            <a:endParaRPr lang="en-US" dirty="0"/>
          </a:p>
        </p:txBody>
      </p:sp>
      <p:sp>
        <p:nvSpPr>
          <p:cNvPr id="4" name="Content Placeholder 3"/>
          <p:cNvSpPr>
            <a:spLocks noGrp="1"/>
          </p:cNvSpPr>
          <p:nvPr>
            <p:ph idx="1"/>
          </p:nvPr>
        </p:nvSpPr>
        <p:spPr>
          <a:xfrm>
            <a:off x="685346" y="1732451"/>
            <a:ext cx="7765322" cy="1467950"/>
          </a:xfrm>
        </p:spPr>
        <p:txBody>
          <a:bodyPr>
            <a:normAutofit/>
          </a:bodyPr>
          <a:lstStyle/>
          <a:p>
            <a:r>
              <a:rPr lang="en-US" dirty="0"/>
              <a:t>Alternatively, you can type your commit message inline with the commit command by specifying it after a -m </a:t>
            </a:r>
            <a:r>
              <a:rPr lang="en-US" dirty="0" smtClean="0"/>
              <a:t>flag</a:t>
            </a:r>
          </a:p>
          <a:p>
            <a:r>
              <a:rPr lang="en-US" dirty="0" smtClean="0"/>
              <a:t>Make a change to newdoc.txt:</a:t>
            </a:r>
            <a:endParaRPr lang="en-US" dirty="0"/>
          </a:p>
        </p:txBody>
      </p:sp>
      <p:pic>
        <p:nvPicPr>
          <p:cNvPr id="6" name="Picture 5"/>
          <p:cNvPicPr>
            <a:picLocks noChangeAspect="1"/>
          </p:cNvPicPr>
          <p:nvPr/>
        </p:nvPicPr>
        <p:blipFill>
          <a:blip r:embed="rId2"/>
          <a:stretch>
            <a:fillRect/>
          </a:stretch>
        </p:blipFill>
        <p:spPr>
          <a:xfrm>
            <a:off x="2590800" y="3200401"/>
            <a:ext cx="4140413" cy="2114659"/>
          </a:xfrm>
          <a:prstGeom prst="rect">
            <a:avLst/>
          </a:prstGeom>
        </p:spPr>
      </p:pic>
    </p:spTree>
    <p:extLst>
      <p:ext uri="{BB962C8B-B14F-4D97-AF65-F5344CB8AC3E}">
        <p14:creationId xmlns:p14="http://schemas.microsoft.com/office/powerpoint/2010/main" val="73245685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 -m</a:t>
            </a:r>
            <a:endParaRPr lang="en-US" dirty="0"/>
          </a:p>
        </p:txBody>
      </p:sp>
      <p:sp>
        <p:nvSpPr>
          <p:cNvPr id="3" name="Content Placeholder 2"/>
          <p:cNvSpPr>
            <a:spLocks noGrp="1"/>
          </p:cNvSpPr>
          <p:nvPr>
            <p:ph idx="1"/>
          </p:nvPr>
        </p:nvSpPr>
        <p:spPr/>
        <p:txBody>
          <a:bodyPr/>
          <a:lstStyle/>
          <a:p>
            <a:r>
              <a:rPr lang="en-US" dirty="0" err="1" smtClean="0"/>
              <a:t>git</a:t>
            </a:r>
            <a:r>
              <a:rPr lang="en-US" dirty="0" smtClean="0"/>
              <a:t> add all then </a:t>
            </a:r>
            <a:r>
              <a:rPr lang="en-US" dirty="0" err="1" smtClean="0"/>
              <a:t>git</a:t>
            </a:r>
            <a:r>
              <a:rPr lang="en-US" dirty="0" smtClean="0"/>
              <a:t> commit –m</a:t>
            </a:r>
          </a:p>
          <a:p>
            <a:endParaRPr lang="en-US" dirty="0"/>
          </a:p>
          <a:p>
            <a:endParaRPr lang="en-US" dirty="0" smtClean="0"/>
          </a:p>
          <a:p>
            <a:endParaRPr lang="en-US" dirty="0"/>
          </a:p>
          <a:p>
            <a:endParaRPr lang="en-US" dirty="0" smtClean="0"/>
          </a:p>
          <a:p>
            <a:endParaRPr lang="en-US" dirty="0"/>
          </a:p>
        </p:txBody>
      </p:sp>
      <p:pic>
        <p:nvPicPr>
          <p:cNvPr id="4" name="Picture 3"/>
          <p:cNvPicPr>
            <a:picLocks noChangeAspect="1"/>
          </p:cNvPicPr>
          <p:nvPr/>
        </p:nvPicPr>
        <p:blipFill>
          <a:blip r:embed="rId2"/>
          <a:stretch>
            <a:fillRect/>
          </a:stretch>
        </p:blipFill>
        <p:spPr>
          <a:xfrm>
            <a:off x="211683" y="2286000"/>
            <a:ext cx="8712648" cy="1644735"/>
          </a:xfrm>
          <a:prstGeom prst="rect">
            <a:avLst/>
          </a:prstGeom>
        </p:spPr>
      </p:pic>
      <p:pic>
        <p:nvPicPr>
          <p:cNvPr id="5" name="Picture 4"/>
          <p:cNvPicPr>
            <a:picLocks noChangeAspect="1"/>
          </p:cNvPicPr>
          <p:nvPr/>
        </p:nvPicPr>
        <p:blipFill>
          <a:blip r:embed="rId3"/>
          <a:stretch>
            <a:fillRect/>
          </a:stretch>
        </p:blipFill>
        <p:spPr>
          <a:xfrm>
            <a:off x="211683" y="2286000"/>
            <a:ext cx="8712648" cy="1555830"/>
          </a:xfrm>
          <a:prstGeom prst="rect">
            <a:avLst/>
          </a:prstGeom>
        </p:spPr>
      </p:pic>
      <p:sp>
        <p:nvSpPr>
          <p:cNvPr id="6" name="Rounded Rectangular Callout 5"/>
          <p:cNvSpPr/>
          <p:nvPr/>
        </p:nvSpPr>
        <p:spPr>
          <a:xfrm>
            <a:off x="5029200" y="3028139"/>
            <a:ext cx="3505200" cy="705661"/>
          </a:xfrm>
          <a:prstGeom prst="wedgeRoundRectCallout">
            <a:avLst>
              <a:gd name="adj1" fmla="val 13446"/>
              <a:gd name="adj2" fmla="val -100573"/>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a:t>Notice text editor does not show up. Instead string is used.</a:t>
            </a:r>
          </a:p>
        </p:txBody>
      </p:sp>
    </p:spTree>
    <p:extLst>
      <p:ext uri="{BB962C8B-B14F-4D97-AF65-F5344CB8AC3E}">
        <p14:creationId xmlns:p14="http://schemas.microsoft.com/office/powerpoint/2010/main" val="2028100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fade">
                                      <p:cBhvr>
                                        <p:cTn id="7" dur="500"/>
                                        <p:tgtEl>
                                          <p:spTgt spid="5"/>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fade">
                                      <p:cBhvr>
                                        <p:cTn id="11" dur="1000"/>
                                        <p:tgtEl>
                                          <p:spTgt spid="6"/>
                                        </p:tgtEl>
                                      </p:cBhvr>
                                    </p:animEffect>
                                    <p:anim calcmode="lin" valueType="num">
                                      <p:cBhvr>
                                        <p:cTn id="12" dur="1000" fill="hold"/>
                                        <p:tgtEl>
                                          <p:spTgt spid="6"/>
                                        </p:tgtEl>
                                        <p:attrNameLst>
                                          <p:attrName>ppt_x</p:attrName>
                                        </p:attrNameLst>
                                      </p:cBhvr>
                                      <p:tavLst>
                                        <p:tav tm="0">
                                          <p:val>
                                            <p:strVal val="#ppt_x"/>
                                          </p:val>
                                        </p:tav>
                                        <p:tav tm="100000">
                                          <p:val>
                                            <p:strVal val="#ppt_x"/>
                                          </p:val>
                                        </p:tav>
                                      </p:tavLst>
                                    </p:anim>
                                    <p:anim calcmode="lin" valueType="num">
                                      <p:cBhvr>
                                        <p:cTn id="13"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Commits</a:t>
            </a:r>
            <a:endParaRPr lang="en-US" dirty="0"/>
          </a:p>
        </p:txBody>
      </p:sp>
      <p:sp>
        <p:nvSpPr>
          <p:cNvPr id="3" name="Content Placeholder 2"/>
          <p:cNvSpPr>
            <a:spLocks noGrp="1"/>
          </p:cNvSpPr>
          <p:nvPr>
            <p:ph idx="1"/>
          </p:nvPr>
        </p:nvSpPr>
        <p:spPr/>
        <p:txBody>
          <a:bodyPr>
            <a:normAutofit/>
          </a:bodyPr>
          <a:lstStyle/>
          <a:p>
            <a:r>
              <a:rPr lang="en-US" dirty="0" smtClean="0"/>
              <a:t>After a commit can </a:t>
            </a:r>
            <a:r>
              <a:rPr lang="en-US" dirty="0"/>
              <a:t>see that the commit has given you some output about itself: </a:t>
            </a:r>
            <a:endParaRPr lang="en-US" dirty="0" smtClean="0"/>
          </a:p>
          <a:p>
            <a:pPr lvl="1"/>
            <a:r>
              <a:rPr lang="en-US" dirty="0" smtClean="0"/>
              <a:t>branch </a:t>
            </a:r>
            <a:r>
              <a:rPr lang="en-US" dirty="0"/>
              <a:t>you committed </a:t>
            </a:r>
            <a:r>
              <a:rPr lang="en-US" dirty="0" smtClean="0"/>
              <a:t>to</a:t>
            </a:r>
          </a:p>
          <a:p>
            <a:pPr lvl="1"/>
            <a:r>
              <a:rPr lang="en-US" dirty="0" smtClean="0"/>
              <a:t>what </a:t>
            </a:r>
            <a:r>
              <a:rPr lang="en-US" dirty="0"/>
              <a:t>SHA-1 checksum the commit </a:t>
            </a:r>
            <a:r>
              <a:rPr lang="en-US" dirty="0" smtClean="0"/>
              <a:t>has</a:t>
            </a:r>
          </a:p>
          <a:p>
            <a:pPr lvl="1"/>
            <a:r>
              <a:rPr lang="en-US" dirty="0" smtClean="0"/>
              <a:t>how </a:t>
            </a:r>
            <a:r>
              <a:rPr lang="en-US" dirty="0"/>
              <a:t>many files were </a:t>
            </a:r>
            <a:r>
              <a:rPr lang="en-US" dirty="0" smtClean="0"/>
              <a:t>changed</a:t>
            </a:r>
          </a:p>
          <a:p>
            <a:pPr lvl="1"/>
            <a:r>
              <a:rPr lang="en-US" dirty="0" smtClean="0"/>
              <a:t>statistics </a:t>
            </a:r>
            <a:r>
              <a:rPr lang="en-US" dirty="0"/>
              <a:t>about lines added and removed in the </a:t>
            </a:r>
            <a:r>
              <a:rPr lang="en-US" dirty="0" smtClean="0"/>
              <a:t>commit</a:t>
            </a:r>
            <a:endParaRPr lang="en-US" dirty="0"/>
          </a:p>
        </p:txBody>
      </p:sp>
    </p:spTree>
    <p:extLst>
      <p:ext uri="{BB962C8B-B14F-4D97-AF65-F5344CB8AC3E}">
        <p14:creationId xmlns:p14="http://schemas.microsoft.com/office/powerpoint/2010/main" val="297537412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Commits</a:t>
            </a:r>
            <a:endParaRPr lang="en-US" dirty="0"/>
          </a:p>
        </p:txBody>
      </p:sp>
      <p:sp>
        <p:nvSpPr>
          <p:cNvPr id="3" name="Content Placeholder 2"/>
          <p:cNvSpPr>
            <a:spLocks noGrp="1"/>
          </p:cNvSpPr>
          <p:nvPr>
            <p:ph idx="1"/>
          </p:nvPr>
        </p:nvSpPr>
        <p:spPr/>
        <p:txBody>
          <a:bodyPr>
            <a:normAutofit/>
          </a:bodyPr>
          <a:lstStyle/>
          <a:p>
            <a:r>
              <a:rPr lang="en-US" dirty="0" smtClean="0"/>
              <a:t>Remember </a:t>
            </a:r>
            <a:r>
              <a:rPr lang="en-US" dirty="0"/>
              <a:t>that the commit records the snapshot you set up in your staging area. </a:t>
            </a:r>
            <a:endParaRPr lang="en-US" dirty="0" smtClean="0"/>
          </a:p>
          <a:p>
            <a:r>
              <a:rPr lang="en-US" dirty="0" smtClean="0"/>
              <a:t>Anything </a:t>
            </a:r>
            <a:r>
              <a:rPr lang="en-US" dirty="0"/>
              <a:t>you didn’t stage is still sitting there modified; you can do another commit to add it to your history. </a:t>
            </a:r>
            <a:endParaRPr lang="en-US" dirty="0" smtClean="0"/>
          </a:p>
          <a:p>
            <a:r>
              <a:rPr lang="en-US" dirty="0" smtClean="0"/>
              <a:t>Every time </a:t>
            </a:r>
            <a:r>
              <a:rPr lang="en-US" dirty="0"/>
              <a:t>you perform a commit, you’re recording a snapshot of your project that you can revert to or compare to later.</a:t>
            </a:r>
          </a:p>
          <a:p>
            <a:endParaRPr lang="en-US" dirty="0"/>
          </a:p>
          <a:p>
            <a:endParaRPr lang="en-US" dirty="0"/>
          </a:p>
        </p:txBody>
      </p:sp>
    </p:spTree>
    <p:extLst>
      <p:ext uri="{BB962C8B-B14F-4D97-AF65-F5344CB8AC3E}">
        <p14:creationId xmlns:p14="http://schemas.microsoft.com/office/powerpoint/2010/main" val="2975374128"/>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Skipping the Staging </a:t>
            </a:r>
            <a:r>
              <a:rPr lang="en-US" dirty="0" smtClean="0"/>
              <a:t>Area</a:t>
            </a:r>
            <a:endParaRPr lang="en-US" dirty="0"/>
          </a:p>
        </p:txBody>
      </p:sp>
      <p:sp>
        <p:nvSpPr>
          <p:cNvPr id="3" name="Content Placeholder 2"/>
          <p:cNvSpPr>
            <a:spLocks noGrp="1"/>
          </p:cNvSpPr>
          <p:nvPr>
            <p:ph idx="1"/>
          </p:nvPr>
        </p:nvSpPr>
        <p:spPr/>
        <p:txBody>
          <a:bodyPr/>
          <a:lstStyle/>
          <a:p>
            <a:r>
              <a:rPr lang="en-US" dirty="0" smtClean="0"/>
              <a:t>Although </a:t>
            </a:r>
            <a:r>
              <a:rPr lang="en-US" dirty="0"/>
              <a:t>it can be amazingly useful for crafting commits exactly how you want them, the staging area is sometimes a bit more complex than you need in your workflow. </a:t>
            </a:r>
            <a:endParaRPr lang="en-US" dirty="0" smtClean="0"/>
          </a:p>
          <a:p>
            <a:r>
              <a:rPr lang="en-US" dirty="0" smtClean="0"/>
              <a:t>If </a:t>
            </a:r>
            <a:r>
              <a:rPr lang="en-US" dirty="0"/>
              <a:t>you want to skip the staging area, </a:t>
            </a:r>
            <a:r>
              <a:rPr lang="en-US" dirty="0" err="1"/>
              <a:t>Git</a:t>
            </a:r>
            <a:r>
              <a:rPr lang="en-US" dirty="0"/>
              <a:t> provides a simple shortcut. </a:t>
            </a:r>
            <a:endParaRPr lang="en-US" dirty="0" smtClean="0"/>
          </a:p>
          <a:p>
            <a:r>
              <a:rPr lang="en-US" dirty="0" smtClean="0"/>
              <a:t>Adding </a:t>
            </a:r>
            <a:r>
              <a:rPr lang="en-US" dirty="0"/>
              <a:t>the -a option to the </a:t>
            </a:r>
            <a:r>
              <a:rPr lang="en-US" dirty="0" err="1"/>
              <a:t>git</a:t>
            </a:r>
            <a:r>
              <a:rPr lang="en-US" dirty="0"/>
              <a:t> commit command makes </a:t>
            </a:r>
            <a:r>
              <a:rPr lang="en-US" dirty="0" err="1"/>
              <a:t>Git</a:t>
            </a:r>
            <a:r>
              <a:rPr lang="en-US" dirty="0"/>
              <a:t> automatically stage every file that is already tracked before doing the commit, letting you skip the </a:t>
            </a:r>
            <a:r>
              <a:rPr lang="en-US" dirty="0" err="1"/>
              <a:t>git</a:t>
            </a:r>
            <a:r>
              <a:rPr lang="en-US" dirty="0"/>
              <a:t> add </a:t>
            </a:r>
            <a:r>
              <a:rPr lang="en-US" dirty="0" smtClean="0"/>
              <a:t>part</a:t>
            </a:r>
            <a:r>
              <a:rPr lang="en-US" dirty="0"/>
              <a:t>.</a:t>
            </a:r>
          </a:p>
        </p:txBody>
      </p:sp>
    </p:spTree>
    <p:extLst>
      <p:ext uri="{BB962C8B-B14F-4D97-AF65-F5344CB8AC3E}">
        <p14:creationId xmlns:p14="http://schemas.microsoft.com/office/powerpoint/2010/main" val="4040243364"/>
      </p:ext>
    </p:extLst>
  </p:cSld>
  <p:clrMapOvr>
    <a:masterClrMapping/>
  </p:clrMapOvr>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commit -a</a:t>
            </a:r>
            <a:endParaRPr lang="en-US" dirty="0"/>
          </a:p>
        </p:txBody>
      </p:sp>
      <p:sp>
        <p:nvSpPr>
          <p:cNvPr id="3" name="Content Placeholder 2"/>
          <p:cNvSpPr>
            <a:spLocks noGrp="1"/>
          </p:cNvSpPr>
          <p:nvPr>
            <p:ph idx="1"/>
          </p:nvPr>
        </p:nvSpPr>
        <p:spPr>
          <a:xfrm>
            <a:off x="685346" y="1732451"/>
            <a:ext cx="7765322" cy="477349"/>
          </a:xfrm>
        </p:spPr>
        <p:txBody>
          <a:bodyPr/>
          <a:lstStyle/>
          <a:p>
            <a:r>
              <a:rPr lang="en-US" dirty="0" smtClean="0"/>
              <a:t>Change NewDoc.txt then </a:t>
            </a:r>
            <a:r>
              <a:rPr lang="en-US" dirty="0" err="1" smtClean="0"/>
              <a:t>git</a:t>
            </a:r>
            <a:r>
              <a:rPr lang="en-US" dirty="0" smtClean="0"/>
              <a:t> commit –a -m</a:t>
            </a:r>
            <a:endParaRPr lang="en-US" dirty="0"/>
          </a:p>
        </p:txBody>
      </p:sp>
      <p:pic>
        <p:nvPicPr>
          <p:cNvPr id="4" name="Picture 3"/>
          <p:cNvPicPr>
            <a:picLocks noChangeAspect="1"/>
          </p:cNvPicPr>
          <p:nvPr/>
        </p:nvPicPr>
        <p:blipFill>
          <a:blip r:embed="rId2"/>
          <a:stretch>
            <a:fillRect/>
          </a:stretch>
        </p:blipFill>
        <p:spPr>
          <a:xfrm>
            <a:off x="685346" y="2286000"/>
            <a:ext cx="4140413" cy="2114659"/>
          </a:xfrm>
          <a:prstGeom prst="rect">
            <a:avLst/>
          </a:prstGeom>
        </p:spPr>
      </p:pic>
      <p:pic>
        <p:nvPicPr>
          <p:cNvPr id="5" name="Picture 4"/>
          <p:cNvPicPr>
            <a:picLocks noChangeAspect="1"/>
          </p:cNvPicPr>
          <p:nvPr/>
        </p:nvPicPr>
        <p:blipFill>
          <a:blip r:embed="rId3"/>
          <a:stretch>
            <a:fillRect/>
          </a:stretch>
        </p:blipFill>
        <p:spPr>
          <a:xfrm>
            <a:off x="228600" y="4343400"/>
            <a:ext cx="8712648" cy="1886047"/>
          </a:xfrm>
          <a:prstGeom prst="rect">
            <a:avLst/>
          </a:prstGeom>
        </p:spPr>
      </p:pic>
    </p:spTree>
    <p:extLst>
      <p:ext uri="{BB962C8B-B14F-4D97-AF65-F5344CB8AC3E}">
        <p14:creationId xmlns:p14="http://schemas.microsoft.com/office/powerpoint/2010/main" val="3166570148"/>
      </p:ext>
    </p:extLst>
  </p:cSld>
  <p:clrMapOvr>
    <a:masterClrMapping/>
  </p:clrMapOvr>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a:t>git</a:t>
            </a:r>
            <a:r>
              <a:rPr lang="en-US" dirty="0"/>
              <a:t> commit -a</a:t>
            </a:r>
          </a:p>
        </p:txBody>
      </p:sp>
      <p:pic>
        <p:nvPicPr>
          <p:cNvPr id="5" name="Picture 4"/>
          <p:cNvPicPr>
            <a:picLocks noChangeAspect="1"/>
          </p:cNvPicPr>
          <p:nvPr/>
        </p:nvPicPr>
        <p:blipFill>
          <a:blip r:embed="rId2"/>
          <a:stretch>
            <a:fillRect/>
          </a:stretch>
        </p:blipFill>
        <p:spPr>
          <a:xfrm>
            <a:off x="304800" y="1828800"/>
            <a:ext cx="8712648" cy="1886047"/>
          </a:xfrm>
          <a:prstGeom prst="rect">
            <a:avLst/>
          </a:prstGeom>
        </p:spPr>
      </p:pic>
      <p:pic>
        <p:nvPicPr>
          <p:cNvPr id="6" name="Picture 5"/>
          <p:cNvPicPr>
            <a:picLocks noChangeAspect="1"/>
          </p:cNvPicPr>
          <p:nvPr/>
        </p:nvPicPr>
        <p:blipFill>
          <a:blip r:embed="rId3"/>
          <a:stretch>
            <a:fillRect/>
          </a:stretch>
        </p:blipFill>
        <p:spPr>
          <a:xfrm>
            <a:off x="307041" y="1828800"/>
            <a:ext cx="8712648" cy="2209914"/>
          </a:xfrm>
          <a:prstGeom prst="rect">
            <a:avLst/>
          </a:prstGeom>
        </p:spPr>
      </p:pic>
      <p:sp>
        <p:nvSpPr>
          <p:cNvPr id="7" name="Rounded Rectangular Callout 6"/>
          <p:cNvSpPr/>
          <p:nvPr/>
        </p:nvSpPr>
        <p:spPr>
          <a:xfrm>
            <a:off x="4953000" y="3963597"/>
            <a:ext cx="2514600" cy="705661"/>
          </a:xfrm>
          <a:prstGeom prst="wedgeRoundRectCallout">
            <a:avLst>
              <a:gd name="adj1" fmla="val 13446"/>
              <a:gd name="adj2" fmla="val -100573"/>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smtClean="0"/>
              <a:t>git</a:t>
            </a:r>
            <a:r>
              <a:rPr lang="en-US" dirty="0" smtClean="0"/>
              <a:t> add and </a:t>
            </a:r>
            <a:r>
              <a:rPr lang="en-US" dirty="0" err="1" smtClean="0"/>
              <a:t>git</a:t>
            </a:r>
            <a:r>
              <a:rPr lang="en-US" dirty="0" smtClean="0"/>
              <a:t> commit done in one step.</a:t>
            </a:r>
            <a:endParaRPr lang="en-US" dirty="0"/>
          </a:p>
        </p:txBody>
      </p:sp>
    </p:spTree>
    <p:extLst>
      <p:ext uri="{BB962C8B-B14F-4D97-AF65-F5344CB8AC3E}">
        <p14:creationId xmlns:p14="http://schemas.microsoft.com/office/powerpoint/2010/main" val="41552996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par>
                          <p:cTn id="8" fill="hold">
                            <p:stCondLst>
                              <p:cond delay="500"/>
                            </p:stCondLst>
                            <p:childTnLst>
                              <p:par>
                                <p:cTn id="9" presetID="42" presetClass="entr" presetSubtype="0"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1000"/>
                                        <p:tgtEl>
                                          <p:spTgt spid="7"/>
                                        </p:tgtEl>
                                      </p:cBhvr>
                                    </p:animEffect>
                                    <p:anim calcmode="lin" valueType="num">
                                      <p:cBhvr>
                                        <p:cTn id="12" dur="1000" fill="hold"/>
                                        <p:tgtEl>
                                          <p:spTgt spid="7"/>
                                        </p:tgtEl>
                                        <p:attrNameLst>
                                          <p:attrName>ppt_x</p:attrName>
                                        </p:attrNameLst>
                                      </p:cBhvr>
                                      <p:tavLst>
                                        <p:tav tm="0">
                                          <p:val>
                                            <p:strVal val="#ppt_x"/>
                                          </p:val>
                                        </p:tav>
                                        <p:tav tm="100000">
                                          <p:val>
                                            <p:strVal val="#ppt_x"/>
                                          </p:val>
                                        </p:tav>
                                      </p:tavLst>
                                    </p:anim>
                                    <p:anim calcmode="lin" valueType="num">
                                      <p:cBhvr>
                                        <p:cTn id="13"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Removing Files</a:t>
            </a:r>
            <a:endParaRPr lang="en-US" dirty="0"/>
          </a:p>
        </p:txBody>
      </p:sp>
      <p:sp>
        <p:nvSpPr>
          <p:cNvPr id="3" name="Content Placeholder 2"/>
          <p:cNvSpPr>
            <a:spLocks noGrp="1"/>
          </p:cNvSpPr>
          <p:nvPr>
            <p:ph idx="1"/>
          </p:nvPr>
        </p:nvSpPr>
        <p:spPr>
          <a:xfrm>
            <a:off x="685346" y="1732451"/>
            <a:ext cx="7620454" cy="3830150"/>
          </a:xfrm>
        </p:spPr>
        <p:txBody>
          <a:bodyPr>
            <a:normAutofit lnSpcReduction="10000"/>
          </a:bodyPr>
          <a:lstStyle/>
          <a:p>
            <a:r>
              <a:rPr lang="en-US" dirty="0"/>
              <a:t>To remove a file from </a:t>
            </a:r>
            <a:r>
              <a:rPr lang="en-US" dirty="0" err="1"/>
              <a:t>Git</a:t>
            </a:r>
            <a:r>
              <a:rPr lang="en-US" dirty="0"/>
              <a:t>, you have to remove it from your tracked files (more accurately, remove it from your staging area) and then commit. </a:t>
            </a:r>
            <a:endParaRPr lang="en-US" dirty="0" smtClean="0"/>
          </a:p>
          <a:p>
            <a:r>
              <a:rPr lang="en-US" dirty="0"/>
              <a:t>If you simply remove the file from your working directory, it shows up under the “Changed but not updated” (that is, </a:t>
            </a:r>
            <a:r>
              <a:rPr lang="en-US" dirty="0" err="1"/>
              <a:t>unstaged</a:t>
            </a:r>
            <a:r>
              <a:rPr lang="en-US" dirty="0"/>
              <a:t>) area of your </a:t>
            </a:r>
            <a:r>
              <a:rPr lang="en-US" dirty="0" err="1"/>
              <a:t>git</a:t>
            </a:r>
            <a:r>
              <a:rPr lang="en-US" dirty="0"/>
              <a:t> status output</a:t>
            </a:r>
            <a:r>
              <a:rPr lang="en-US" dirty="0" smtClean="0"/>
              <a:t>.</a:t>
            </a:r>
          </a:p>
          <a:p>
            <a:r>
              <a:rPr lang="en-US" dirty="0" smtClean="0"/>
              <a:t> Exercise</a:t>
            </a:r>
          </a:p>
          <a:p>
            <a:pPr marL="871200" lvl="1" indent="-457200">
              <a:buFont typeface="+mj-lt"/>
              <a:buAutoNum type="arabicPeriod"/>
            </a:pPr>
            <a:r>
              <a:rPr lang="en-US" dirty="0" smtClean="0"/>
              <a:t>Add a file to your directory</a:t>
            </a:r>
          </a:p>
          <a:p>
            <a:pPr marL="871200" lvl="1" indent="-457200">
              <a:buFont typeface="+mj-lt"/>
              <a:buAutoNum type="arabicPeriod"/>
            </a:pPr>
            <a:r>
              <a:rPr lang="en-US" dirty="0" smtClean="0"/>
              <a:t>Execute </a:t>
            </a:r>
            <a:r>
              <a:rPr lang="en-US" dirty="0" err="1" smtClean="0"/>
              <a:t>git</a:t>
            </a:r>
            <a:r>
              <a:rPr lang="en-US" dirty="0" smtClean="0"/>
              <a:t> add *</a:t>
            </a:r>
          </a:p>
          <a:p>
            <a:pPr marL="871200" lvl="1" indent="-457200">
              <a:buFont typeface="+mj-lt"/>
              <a:buAutoNum type="arabicPeriod"/>
            </a:pPr>
            <a:r>
              <a:rPr lang="en-US" dirty="0" smtClean="0"/>
              <a:t>Delete the file</a:t>
            </a:r>
          </a:p>
          <a:p>
            <a:pPr marL="871200" lvl="1" indent="-457200">
              <a:buFont typeface="+mj-lt"/>
              <a:buAutoNum type="arabicPeriod"/>
            </a:pPr>
            <a:r>
              <a:rPr lang="en-US" dirty="0" smtClean="0"/>
              <a:t>Execute </a:t>
            </a:r>
            <a:r>
              <a:rPr lang="en-US" dirty="0" err="1" smtClean="0"/>
              <a:t>git</a:t>
            </a:r>
            <a:r>
              <a:rPr lang="en-US" dirty="0" smtClean="0"/>
              <a:t> status</a:t>
            </a:r>
            <a:endParaRPr lang="en-US" dirty="0"/>
          </a:p>
        </p:txBody>
      </p:sp>
      <p:pic>
        <p:nvPicPr>
          <p:cNvPr id="4" name="Picture 3"/>
          <p:cNvPicPr>
            <a:picLocks noChangeAspect="1"/>
          </p:cNvPicPr>
          <p:nvPr/>
        </p:nvPicPr>
        <p:blipFill>
          <a:blip r:embed="rId2"/>
          <a:stretch>
            <a:fillRect/>
          </a:stretch>
        </p:blipFill>
        <p:spPr>
          <a:xfrm>
            <a:off x="4800600" y="3987219"/>
            <a:ext cx="3412047" cy="1575382"/>
          </a:xfrm>
          <a:prstGeom prst="rect">
            <a:avLst/>
          </a:prstGeom>
        </p:spPr>
      </p:pic>
    </p:spTree>
    <p:extLst>
      <p:ext uri="{BB962C8B-B14F-4D97-AF65-F5344CB8AC3E}">
        <p14:creationId xmlns:p14="http://schemas.microsoft.com/office/powerpoint/2010/main" val="3202390636"/>
      </p:ext>
    </p:extLst>
  </p:cSld>
  <p:clrMapOvr>
    <a:masterClrMapping/>
  </p:clrMapOvr>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Exercise</a:t>
            </a:r>
            <a:endParaRPr lang="en-US" dirty="0"/>
          </a:p>
        </p:txBody>
      </p:sp>
      <p:pic>
        <p:nvPicPr>
          <p:cNvPr id="5" name="Picture 4"/>
          <p:cNvPicPr>
            <a:picLocks noChangeAspect="1"/>
          </p:cNvPicPr>
          <p:nvPr/>
        </p:nvPicPr>
        <p:blipFill>
          <a:blip r:embed="rId2"/>
          <a:stretch>
            <a:fillRect/>
          </a:stretch>
        </p:blipFill>
        <p:spPr>
          <a:xfrm>
            <a:off x="1371600" y="1828800"/>
            <a:ext cx="6731346" cy="3594285"/>
          </a:xfrm>
          <a:prstGeom prst="rect">
            <a:avLst/>
          </a:prstGeom>
        </p:spPr>
      </p:pic>
      <p:sp>
        <p:nvSpPr>
          <p:cNvPr id="6" name="Rounded Rectangular Callout 5"/>
          <p:cNvSpPr/>
          <p:nvPr/>
        </p:nvSpPr>
        <p:spPr>
          <a:xfrm>
            <a:off x="5334000" y="3273111"/>
            <a:ext cx="3810000" cy="705661"/>
          </a:xfrm>
          <a:prstGeom prst="wedgeRoundRectCallout">
            <a:avLst>
              <a:gd name="adj1" fmla="val -75495"/>
              <a:gd name="adj2" fmla="val 2614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Notice the file is still in the current commit because of the add!</a:t>
            </a:r>
            <a:endParaRPr lang="en-US" dirty="0"/>
          </a:p>
        </p:txBody>
      </p:sp>
      <p:sp>
        <p:nvSpPr>
          <p:cNvPr id="7" name="Rounded Rectangular Callout 6"/>
          <p:cNvSpPr/>
          <p:nvPr/>
        </p:nvSpPr>
        <p:spPr>
          <a:xfrm>
            <a:off x="6553200" y="1066801"/>
            <a:ext cx="2514600" cy="866080"/>
          </a:xfrm>
          <a:prstGeom prst="wedgeRoundRectCallout">
            <a:avLst>
              <a:gd name="adj1" fmla="val -39939"/>
              <a:gd name="adj2" fmla="val 140556"/>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The file is deleted from file explorer here after </a:t>
            </a:r>
            <a:r>
              <a:rPr lang="en-US" dirty="0" err="1" smtClean="0"/>
              <a:t>git</a:t>
            </a:r>
            <a:r>
              <a:rPr lang="en-US" dirty="0" smtClean="0"/>
              <a:t> add is completed.</a:t>
            </a:r>
            <a:endParaRPr lang="en-US" dirty="0"/>
          </a:p>
        </p:txBody>
      </p:sp>
      <p:sp>
        <p:nvSpPr>
          <p:cNvPr id="8" name="Rounded Rectangular Callout 7"/>
          <p:cNvSpPr/>
          <p:nvPr/>
        </p:nvSpPr>
        <p:spPr>
          <a:xfrm>
            <a:off x="3657600" y="5086750"/>
            <a:ext cx="3810000" cy="705661"/>
          </a:xfrm>
          <a:prstGeom prst="wedgeRoundRectCallout">
            <a:avLst>
              <a:gd name="adj1" fmla="val -47083"/>
              <a:gd name="adj2" fmla="val -102479"/>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Do another </a:t>
            </a:r>
            <a:r>
              <a:rPr lang="en-US" dirty="0" err="1" smtClean="0"/>
              <a:t>git</a:t>
            </a:r>
            <a:r>
              <a:rPr lang="en-US" dirty="0" smtClean="0"/>
              <a:t> add * to incorporate this change.</a:t>
            </a:r>
            <a:endParaRPr lang="en-US" dirty="0"/>
          </a:p>
        </p:txBody>
      </p:sp>
    </p:spTree>
    <p:extLst>
      <p:ext uri="{BB962C8B-B14F-4D97-AF65-F5344CB8AC3E}">
        <p14:creationId xmlns:p14="http://schemas.microsoft.com/office/powerpoint/2010/main" val="29623321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6"/>
                                        </p:tgtEl>
                                        <p:attrNameLst>
                                          <p:attrName>style.visibility</p:attrName>
                                        </p:attrNameLst>
                                      </p:cBhvr>
                                      <p:to>
                                        <p:strVal val="visible"/>
                                      </p:to>
                                    </p:set>
                                    <p:animEffect transition="in" filter="fade">
                                      <p:cBhvr>
                                        <p:cTn id="14" dur="1000"/>
                                        <p:tgtEl>
                                          <p:spTgt spid="6"/>
                                        </p:tgtEl>
                                      </p:cBhvr>
                                    </p:animEffect>
                                    <p:anim calcmode="lin" valueType="num">
                                      <p:cBhvr>
                                        <p:cTn id="15" dur="1000" fill="hold"/>
                                        <p:tgtEl>
                                          <p:spTgt spid="6"/>
                                        </p:tgtEl>
                                        <p:attrNameLst>
                                          <p:attrName>ppt_x</p:attrName>
                                        </p:attrNameLst>
                                      </p:cBhvr>
                                      <p:tavLst>
                                        <p:tav tm="0">
                                          <p:val>
                                            <p:strVal val="#ppt_x"/>
                                          </p:val>
                                        </p:tav>
                                        <p:tav tm="100000">
                                          <p:val>
                                            <p:strVal val="#ppt_x"/>
                                          </p:val>
                                        </p:tav>
                                      </p:tavLst>
                                    </p:anim>
                                    <p:anim calcmode="lin" valueType="num">
                                      <p:cBhvr>
                                        <p:cTn id="16" dur="1000" fill="hold"/>
                                        <p:tgtEl>
                                          <p:spTgt spid="6"/>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animEffect transition="in" filter="fade">
                                      <p:cBhvr>
                                        <p:cTn id="21" dur="1000"/>
                                        <p:tgtEl>
                                          <p:spTgt spid="8"/>
                                        </p:tgtEl>
                                      </p:cBhvr>
                                    </p:animEffect>
                                    <p:anim calcmode="lin" valueType="num">
                                      <p:cBhvr>
                                        <p:cTn id="22" dur="1000" fill="hold"/>
                                        <p:tgtEl>
                                          <p:spTgt spid="8"/>
                                        </p:tgtEl>
                                        <p:attrNameLst>
                                          <p:attrName>ppt_x</p:attrName>
                                        </p:attrNameLst>
                                      </p:cBhvr>
                                      <p:tavLst>
                                        <p:tav tm="0">
                                          <p:val>
                                            <p:strVal val="#ppt_x"/>
                                          </p:val>
                                        </p:tav>
                                        <p:tav tm="100000">
                                          <p:val>
                                            <p:strVal val="#ppt_x"/>
                                          </p:val>
                                        </p:tav>
                                      </p:tavLst>
                                    </p:anim>
                                    <p:anim calcmode="lin" valueType="num">
                                      <p:cBhvr>
                                        <p:cTn id="23"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add *</a:t>
            </a:r>
            <a:endParaRPr lang="en-US" dirty="0"/>
          </a:p>
        </p:txBody>
      </p:sp>
      <p:pic>
        <p:nvPicPr>
          <p:cNvPr id="3" name="Picture 2"/>
          <p:cNvPicPr>
            <a:picLocks noChangeAspect="1"/>
          </p:cNvPicPr>
          <p:nvPr/>
        </p:nvPicPr>
        <p:blipFill>
          <a:blip r:embed="rId2"/>
          <a:stretch>
            <a:fillRect/>
          </a:stretch>
        </p:blipFill>
        <p:spPr>
          <a:xfrm>
            <a:off x="1202334" y="1828800"/>
            <a:ext cx="6731346" cy="3594285"/>
          </a:xfrm>
          <a:prstGeom prst="rect">
            <a:avLst/>
          </a:prstGeom>
        </p:spPr>
      </p:pic>
      <p:sp>
        <p:nvSpPr>
          <p:cNvPr id="4" name="Rounded Rectangular Callout 3"/>
          <p:cNvSpPr/>
          <p:nvPr/>
        </p:nvSpPr>
        <p:spPr>
          <a:xfrm>
            <a:off x="2438400" y="5562600"/>
            <a:ext cx="3810000" cy="705661"/>
          </a:xfrm>
          <a:prstGeom prst="wedgeRoundRectCallout">
            <a:avLst>
              <a:gd name="adj1" fmla="val -19377"/>
              <a:gd name="adj2" fmla="val -97715"/>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err="1" smtClean="0"/>
              <a:t>Git</a:t>
            </a:r>
            <a:r>
              <a:rPr lang="en-US" dirty="0" smtClean="0"/>
              <a:t> needs a -A or – ignore to deal with the removal.</a:t>
            </a:r>
            <a:endParaRPr lang="en-US" dirty="0"/>
          </a:p>
        </p:txBody>
      </p:sp>
    </p:spTree>
    <p:extLst>
      <p:ext uri="{BB962C8B-B14F-4D97-AF65-F5344CB8AC3E}">
        <p14:creationId xmlns:p14="http://schemas.microsoft.com/office/powerpoint/2010/main" val="13496515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a:t> </a:t>
            </a:r>
            <a:r>
              <a:rPr lang="en-US" dirty="0" smtClean="0"/>
              <a:t>status</a:t>
            </a:r>
            <a:endParaRPr lang="en-US" dirty="0"/>
          </a:p>
        </p:txBody>
      </p:sp>
      <p:pic>
        <p:nvPicPr>
          <p:cNvPr id="3" name="Picture 2"/>
          <p:cNvPicPr>
            <a:picLocks noChangeAspect="1"/>
          </p:cNvPicPr>
          <p:nvPr/>
        </p:nvPicPr>
        <p:blipFill>
          <a:blip r:embed="rId2"/>
          <a:stretch>
            <a:fillRect/>
          </a:stretch>
        </p:blipFill>
        <p:spPr>
          <a:xfrm>
            <a:off x="783212" y="1752600"/>
            <a:ext cx="7569589" cy="3975304"/>
          </a:xfrm>
          <a:prstGeom prst="rect">
            <a:avLst/>
          </a:prstGeom>
        </p:spPr>
      </p:pic>
      <p:sp>
        <p:nvSpPr>
          <p:cNvPr id="4" name="Rounded Rectangular Callout 3"/>
          <p:cNvSpPr/>
          <p:nvPr/>
        </p:nvSpPr>
        <p:spPr>
          <a:xfrm>
            <a:off x="2438400" y="5562601"/>
            <a:ext cx="2743200" cy="381000"/>
          </a:xfrm>
          <a:prstGeom prst="wedgeRoundRectCallout">
            <a:avLst>
              <a:gd name="adj1" fmla="val -19377"/>
              <a:gd name="adj2" fmla="val -97715"/>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Notice nothing changed.</a:t>
            </a:r>
            <a:endParaRPr lang="en-US" dirty="0"/>
          </a:p>
        </p:txBody>
      </p:sp>
    </p:spTree>
    <p:extLst>
      <p:ext uri="{BB962C8B-B14F-4D97-AF65-F5344CB8AC3E}">
        <p14:creationId xmlns:p14="http://schemas.microsoft.com/office/powerpoint/2010/main" val="3246311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add -A and </a:t>
            </a:r>
            <a:r>
              <a:rPr lang="en-US" dirty="0" err="1" smtClean="0"/>
              <a:t>git</a:t>
            </a:r>
            <a:r>
              <a:rPr lang="en-US" dirty="0" smtClean="0"/>
              <a:t> status</a:t>
            </a:r>
            <a:endParaRPr lang="en-US" dirty="0"/>
          </a:p>
        </p:txBody>
      </p:sp>
      <p:pic>
        <p:nvPicPr>
          <p:cNvPr id="3" name="Picture 2"/>
          <p:cNvPicPr>
            <a:picLocks noChangeAspect="1"/>
          </p:cNvPicPr>
          <p:nvPr/>
        </p:nvPicPr>
        <p:blipFill>
          <a:blip r:embed="rId2"/>
          <a:stretch>
            <a:fillRect/>
          </a:stretch>
        </p:blipFill>
        <p:spPr>
          <a:xfrm>
            <a:off x="685346" y="2209800"/>
            <a:ext cx="7721997" cy="2324219"/>
          </a:xfrm>
          <a:prstGeom prst="rect">
            <a:avLst/>
          </a:prstGeom>
        </p:spPr>
      </p:pic>
      <p:sp>
        <p:nvSpPr>
          <p:cNvPr id="4" name="Rounded Rectangular Callout 3"/>
          <p:cNvSpPr/>
          <p:nvPr/>
        </p:nvSpPr>
        <p:spPr>
          <a:xfrm>
            <a:off x="6172200" y="3181409"/>
            <a:ext cx="2463743" cy="381000"/>
          </a:xfrm>
          <a:prstGeom prst="wedgeRoundRectCallout">
            <a:avLst>
              <a:gd name="adj1" fmla="val -19377"/>
              <a:gd name="adj2" fmla="val -97715"/>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Processes the removal.</a:t>
            </a:r>
            <a:endParaRPr lang="en-US" dirty="0"/>
          </a:p>
        </p:txBody>
      </p:sp>
    </p:spTree>
    <p:extLst>
      <p:ext uri="{BB962C8B-B14F-4D97-AF65-F5344CB8AC3E}">
        <p14:creationId xmlns:p14="http://schemas.microsoft.com/office/powerpoint/2010/main" val="41636750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git</a:t>
            </a:r>
            <a:r>
              <a:rPr lang="en-US" dirty="0" smtClean="0"/>
              <a:t> </a:t>
            </a:r>
            <a:r>
              <a:rPr lang="en-US" dirty="0" err="1" smtClean="0"/>
              <a:t>rm</a:t>
            </a:r>
            <a:endParaRPr lang="en-US" dirty="0"/>
          </a:p>
        </p:txBody>
      </p:sp>
      <p:sp>
        <p:nvSpPr>
          <p:cNvPr id="4" name="Content Placeholder 3"/>
          <p:cNvSpPr>
            <a:spLocks noGrp="1"/>
          </p:cNvSpPr>
          <p:nvPr>
            <p:ph idx="1"/>
          </p:nvPr>
        </p:nvSpPr>
        <p:spPr/>
        <p:txBody>
          <a:bodyPr>
            <a:normAutofit/>
          </a:bodyPr>
          <a:lstStyle/>
          <a:p>
            <a:r>
              <a:rPr lang="en-US" dirty="0" smtClean="0"/>
              <a:t>The </a:t>
            </a:r>
            <a:r>
              <a:rPr lang="en-US" dirty="0" err="1"/>
              <a:t>git</a:t>
            </a:r>
            <a:r>
              <a:rPr lang="en-US" dirty="0"/>
              <a:t> </a:t>
            </a:r>
            <a:r>
              <a:rPr lang="en-US" dirty="0" err="1"/>
              <a:t>rm</a:t>
            </a:r>
            <a:r>
              <a:rPr lang="en-US" dirty="0"/>
              <a:t> </a:t>
            </a:r>
            <a:r>
              <a:rPr lang="en-US" dirty="0" smtClean="0"/>
              <a:t>command:</a:t>
            </a:r>
          </a:p>
          <a:p>
            <a:pPr lvl="1"/>
            <a:r>
              <a:rPr lang="en-US" dirty="0" smtClean="0"/>
              <a:t>Removes </a:t>
            </a:r>
            <a:r>
              <a:rPr lang="en-US" dirty="0"/>
              <a:t>it from your tracked files (more accurately, remove it from your staging area) </a:t>
            </a:r>
            <a:endParaRPr lang="en-US" dirty="0" smtClean="0"/>
          </a:p>
          <a:p>
            <a:pPr lvl="1"/>
            <a:r>
              <a:rPr lang="en-US" dirty="0" smtClean="0"/>
              <a:t>Executes a commit</a:t>
            </a:r>
          </a:p>
          <a:p>
            <a:pPr lvl="1"/>
            <a:r>
              <a:rPr lang="en-US" dirty="0" smtClean="0"/>
              <a:t>Removes </a:t>
            </a:r>
            <a:r>
              <a:rPr lang="en-US" dirty="0"/>
              <a:t>the file from your working directory so you don’t see it as an untracked file the next time around</a:t>
            </a:r>
            <a:r>
              <a:rPr lang="en-US" dirty="0" smtClean="0"/>
              <a:t>.</a:t>
            </a:r>
          </a:p>
          <a:p>
            <a:r>
              <a:rPr lang="en-US" dirty="0" smtClean="0"/>
              <a:t>Exercise</a:t>
            </a:r>
          </a:p>
          <a:p>
            <a:pPr marL="792900" lvl="1" indent="-342900">
              <a:buFont typeface="+mj-lt"/>
              <a:buAutoNum type="arabicPeriod"/>
            </a:pPr>
            <a:r>
              <a:rPr lang="en-US" dirty="0" smtClean="0"/>
              <a:t>Add a new file.</a:t>
            </a:r>
          </a:p>
          <a:p>
            <a:pPr marL="792900" lvl="1" indent="-342900">
              <a:buFont typeface="+mj-lt"/>
              <a:buAutoNum type="arabicPeriod"/>
            </a:pPr>
            <a:r>
              <a:rPr lang="en-US" dirty="0" smtClean="0"/>
              <a:t>Remove it using </a:t>
            </a:r>
            <a:r>
              <a:rPr lang="en-US" dirty="0" err="1" smtClean="0"/>
              <a:t>git</a:t>
            </a:r>
            <a:r>
              <a:rPr lang="en-US" dirty="0" smtClean="0"/>
              <a:t> </a:t>
            </a:r>
            <a:r>
              <a:rPr lang="en-US" dirty="0" err="1" smtClean="0"/>
              <a:t>rm</a:t>
            </a:r>
            <a:endParaRPr lang="en-US" dirty="0" smtClean="0"/>
          </a:p>
          <a:p>
            <a:pPr marL="792900" lvl="1" indent="-342900">
              <a:buFont typeface="+mj-lt"/>
              <a:buAutoNum type="arabicPeriod"/>
            </a:pPr>
            <a:r>
              <a:rPr lang="en-US" dirty="0" smtClean="0"/>
              <a:t>Execute </a:t>
            </a:r>
            <a:r>
              <a:rPr lang="en-US" dirty="0" err="1" smtClean="0"/>
              <a:t>git</a:t>
            </a:r>
            <a:r>
              <a:rPr lang="en-US" dirty="0" smtClean="0"/>
              <a:t> status</a:t>
            </a:r>
            <a:endParaRPr lang="en-US" dirty="0"/>
          </a:p>
          <a:p>
            <a:endParaRPr lang="en-US" dirty="0"/>
          </a:p>
          <a:p>
            <a:endParaRPr lang="en-US" dirty="0"/>
          </a:p>
          <a:p>
            <a:endParaRPr lang="en-US" dirty="0"/>
          </a:p>
        </p:txBody>
      </p:sp>
      <p:sp>
        <p:nvSpPr>
          <p:cNvPr id="5" name="Rectangle 1"/>
          <p:cNvSpPr>
            <a:spLocks noChangeArrowheads="1"/>
          </p:cNvSpPr>
          <p:nvPr/>
        </p:nvSpPr>
        <p:spPr bwMode="auto">
          <a:xfrm>
            <a:off x="0" y="0"/>
            <a:ext cx="9144000" cy="0"/>
          </a:xfrm>
          <a:prstGeom prst="rect">
            <a:avLst/>
          </a:prstGeom>
          <a:solidFill>
            <a:srgbClr val="EEEEEE"/>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15870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smtClean="0">
                <a:ln>
                  <a:noFill/>
                </a:ln>
                <a:solidFill>
                  <a:srgbClr val="4E443C"/>
                </a:solidFill>
                <a:effectLst/>
                <a:latin typeface="Arial" panose="020B0604020202020204" pitchFamily="34" charset="0"/>
                <a:cs typeface="Arial" panose="020B0604020202020204" pitchFamily="34" charset="0"/>
              </a:rPr>
              <a:t>Then, if you run </a:t>
            </a:r>
            <a:r>
              <a:rPr kumimoji="0" lang="en-US" altLang="en-US" sz="1000" b="0" i="0" u="none" strike="noStrike" cap="none" normalizeH="0" baseline="0" smtClean="0">
                <a:ln>
                  <a:noFill/>
                </a:ln>
                <a:solidFill>
                  <a:srgbClr val="333333"/>
                </a:solidFill>
                <a:effectLst/>
                <a:latin typeface="Courier New" panose="02070309020205020404" pitchFamily="49" charset="0"/>
                <a:cs typeface="Courier New" panose="02070309020205020404" pitchFamily="49" charset="0"/>
              </a:rPr>
              <a:t>git rm</a:t>
            </a:r>
            <a:r>
              <a:rPr kumimoji="0" lang="en-US" altLang="en-US" sz="1000" b="0" i="0" u="none" strike="noStrike" cap="none" normalizeH="0" baseline="0" smtClean="0">
                <a:ln>
                  <a:noFill/>
                </a:ln>
                <a:solidFill>
                  <a:srgbClr val="4E443C"/>
                </a:solidFill>
                <a:effectLst/>
                <a:latin typeface="Arial" panose="020B0604020202020204" pitchFamily="34" charset="0"/>
                <a:cs typeface="Arial" panose="020B0604020202020204" pitchFamily="34" charset="0"/>
              </a:rPr>
              <a:t>, it stages the file’s removal:</a:t>
            </a:r>
            <a:r>
              <a:rPr kumimoji="0" lang="en-US" altLang="en-US" sz="500" b="0" i="0" u="none" strike="noStrike" cap="none" normalizeH="0" baseline="0" smtClean="0">
                <a:ln>
                  <a:noFill/>
                </a:ln>
                <a:solidFill>
                  <a:schemeClr val="tx1"/>
                </a:solidFill>
                <a:effectLst/>
              </a:rPr>
              <a:t> </a:t>
            </a:r>
            <a:endParaRPr kumimoji="0" lang="en-US" altLang="en-US" sz="1800" b="0" i="0" u="none" strike="noStrike" cap="none" normalizeH="0" baseline="0" smtClean="0">
              <a:ln>
                <a:noFill/>
              </a:ln>
              <a:solidFill>
                <a:schemeClr val="tx1"/>
              </a:solidFill>
              <a:effectLst/>
              <a:latin typeface="Arial" panose="020B0604020202020204" pitchFamily="34" charset="0"/>
            </a:endParaRPr>
          </a:p>
        </p:txBody>
      </p:sp>
      <p:pic>
        <p:nvPicPr>
          <p:cNvPr id="2" name="Picture 1"/>
          <p:cNvPicPr>
            <a:picLocks noChangeAspect="1"/>
          </p:cNvPicPr>
          <p:nvPr/>
        </p:nvPicPr>
        <p:blipFill>
          <a:blip r:embed="rId2"/>
          <a:stretch>
            <a:fillRect/>
          </a:stretch>
        </p:blipFill>
        <p:spPr>
          <a:xfrm>
            <a:off x="4724400" y="4263013"/>
            <a:ext cx="3518081" cy="1530429"/>
          </a:xfrm>
          <a:prstGeom prst="rect">
            <a:avLst/>
          </a:prstGeom>
        </p:spPr>
      </p:pic>
    </p:spTree>
    <p:extLst>
      <p:ext uri="{BB962C8B-B14F-4D97-AF65-F5344CB8AC3E}">
        <p14:creationId xmlns:p14="http://schemas.microsoft.com/office/powerpoint/2010/main" val="2293952827"/>
      </p:ext>
    </p:extLst>
  </p:cSld>
  <p:clrMapOvr>
    <a:masterClrMapping/>
  </p:clrMapOvr>
  <p:timing>
    <p:tnLst>
      <p:par>
        <p:cTn id="1" dur="indefinite" restart="never" nodeType="tmRoot"/>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 after adding file</a:t>
            </a:r>
            <a:endParaRPr lang="en-US" dirty="0"/>
          </a:p>
        </p:txBody>
      </p:sp>
      <p:pic>
        <p:nvPicPr>
          <p:cNvPr id="3" name="Picture 2"/>
          <p:cNvPicPr>
            <a:picLocks noChangeAspect="1"/>
          </p:cNvPicPr>
          <p:nvPr/>
        </p:nvPicPr>
        <p:blipFill>
          <a:blip r:embed="rId2"/>
          <a:stretch>
            <a:fillRect/>
          </a:stretch>
        </p:blipFill>
        <p:spPr>
          <a:xfrm>
            <a:off x="711001" y="2266890"/>
            <a:ext cx="7721997" cy="2324219"/>
          </a:xfrm>
          <a:prstGeom prst="rect">
            <a:avLst/>
          </a:prstGeom>
        </p:spPr>
      </p:pic>
    </p:spTree>
    <p:extLst>
      <p:ext uri="{BB962C8B-B14F-4D97-AF65-F5344CB8AC3E}">
        <p14:creationId xmlns:p14="http://schemas.microsoft.com/office/powerpoint/2010/main" val="690942165"/>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 after </a:t>
            </a:r>
            <a:r>
              <a:rPr lang="en-US" dirty="0" err="1" smtClean="0"/>
              <a:t>git</a:t>
            </a:r>
            <a:r>
              <a:rPr lang="en-US" dirty="0" smtClean="0"/>
              <a:t> add *</a:t>
            </a:r>
            <a:endParaRPr lang="en-US" dirty="0"/>
          </a:p>
        </p:txBody>
      </p:sp>
      <p:pic>
        <p:nvPicPr>
          <p:cNvPr id="3" name="Picture 2"/>
          <p:cNvPicPr>
            <a:picLocks noChangeAspect="1"/>
          </p:cNvPicPr>
          <p:nvPr/>
        </p:nvPicPr>
        <p:blipFill>
          <a:blip r:embed="rId2"/>
          <a:stretch>
            <a:fillRect/>
          </a:stretch>
        </p:blipFill>
        <p:spPr>
          <a:xfrm>
            <a:off x="939613" y="2012877"/>
            <a:ext cx="7264773" cy="2832246"/>
          </a:xfrm>
          <a:prstGeom prst="rect">
            <a:avLst/>
          </a:prstGeom>
        </p:spPr>
      </p:pic>
    </p:spTree>
    <p:extLst>
      <p:ext uri="{BB962C8B-B14F-4D97-AF65-F5344CB8AC3E}">
        <p14:creationId xmlns:p14="http://schemas.microsoft.com/office/powerpoint/2010/main" val="20629975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 after deleting file</a:t>
            </a:r>
            <a:endParaRPr lang="en-US" dirty="0"/>
          </a:p>
        </p:txBody>
      </p:sp>
      <p:pic>
        <p:nvPicPr>
          <p:cNvPr id="3" name="Picture 2"/>
          <p:cNvPicPr>
            <a:picLocks noChangeAspect="1"/>
          </p:cNvPicPr>
          <p:nvPr/>
        </p:nvPicPr>
        <p:blipFill>
          <a:blip r:embed="rId2"/>
          <a:stretch>
            <a:fillRect/>
          </a:stretch>
        </p:blipFill>
        <p:spPr>
          <a:xfrm>
            <a:off x="939613" y="2012877"/>
            <a:ext cx="7264773" cy="2832246"/>
          </a:xfrm>
          <a:prstGeom prst="rect">
            <a:avLst/>
          </a:prstGeom>
        </p:spPr>
      </p:pic>
    </p:spTree>
    <p:extLst>
      <p:ext uri="{BB962C8B-B14F-4D97-AF65-F5344CB8AC3E}">
        <p14:creationId xmlns:p14="http://schemas.microsoft.com/office/powerpoint/2010/main" val="2756061875"/>
      </p:ext>
    </p:extLst>
  </p:cSld>
  <p:clrMapOvr>
    <a:masterClrMapping/>
  </p:clrMapOvr>
  <p:timing>
    <p:tnLst>
      <p:par>
        <p:cTn id="1" dur="indefinite" restart="never" nodeType="tmRoot"/>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t>
            </a:r>
            <a:r>
              <a:rPr lang="en-US" dirty="0" err="1" smtClean="0"/>
              <a:t>rm</a:t>
            </a:r>
            <a:r>
              <a:rPr lang="en-US" dirty="0" smtClean="0"/>
              <a:t> and </a:t>
            </a:r>
            <a:r>
              <a:rPr lang="en-US" dirty="0" err="1" smtClean="0"/>
              <a:t>git</a:t>
            </a:r>
            <a:r>
              <a:rPr lang="en-US" dirty="0" smtClean="0"/>
              <a:t> status</a:t>
            </a:r>
            <a:endParaRPr lang="en-US" dirty="0"/>
          </a:p>
        </p:txBody>
      </p:sp>
      <p:pic>
        <p:nvPicPr>
          <p:cNvPr id="3" name="Picture 2"/>
          <p:cNvPicPr>
            <a:picLocks noChangeAspect="1"/>
          </p:cNvPicPr>
          <p:nvPr/>
        </p:nvPicPr>
        <p:blipFill>
          <a:blip r:embed="rId2"/>
          <a:stretch>
            <a:fillRect/>
          </a:stretch>
        </p:blipFill>
        <p:spPr>
          <a:xfrm>
            <a:off x="253778" y="2330393"/>
            <a:ext cx="8636444" cy="2197213"/>
          </a:xfrm>
          <a:prstGeom prst="rect">
            <a:avLst/>
          </a:prstGeom>
        </p:spPr>
      </p:pic>
      <p:sp>
        <p:nvSpPr>
          <p:cNvPr id="4" name="Rounded Rectangular Callout 3"/>
          <p:cNvSpPr/>
          <p:nvPr/>
        </p:nvSpPr>
        <p:spPr>
          <a:xfrm>
            <a:off x="6172200" y="3276600"/>
            <a:ext cx="2463743" cy="704791"/>
          </a:xfrm>
          <a:prstGeom prst="wedgeRoundRectCallout">
            <a:avLst>
              <a:gd name="adj1" fmla="val -19377"/>
              <a:gd name="adj2" fmla="val -97715"/>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File removed from staging area.</a:t>
            </a:r>
            <a:endParaRPr lang="en-US" dirty="0"/>
          </a:p>
        </p:txBody>
      </p:sp>
    </p:spTree>
    <p:extLst>
      <p:ext uri="{BB962C8B-B14F-4D97-AF65-F5344CB8AC3E}">
        <p14:creationId xmlns:p14="http://schemas.microsoft.com/office/powerpoint/2010/main" val="26227703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Moving </a:t>
            </a:r>
            <a:r>
              <a:rPr lang="en-US" dirty="0" smtClean="0"/>
              <a:t>Files</a:t>
            </a:r>
            <a:endParaRPr lang="en-US" dirty="0"/>
          </a:p>
        </p:txBody>
      </p:sp>
      <p:sp>
        <p:nvSpPr>
          <p:cNvPr id="4" name="Content Placeholder 3"/>
          <p:cNvSpPr>
            <a:spLocks noGrp="1"/>
          </p:cNvSpPr>
          <p:nvPr>
            <p:ph idx="1"/>
          </p:nvPr>
        </p:nvSpPr>
        <p:spPr/>
        <p:txBody>
          <a:bodyPr/>
          <a:lstStyle/>
          <a:p>
            <a:r>
              <a:rPr lang="en-US" dirty="0" smtClean="0"/>
              <a:t>Unlike </a:t>
            </a:r>
            <a:r>
              <a:rPr lang="en-US" dirty="0"/>
              <a:t>many other VCS systems, </a:t>
            </a:r>
            <a:r>
              <a:rPr lang="en-US" dirty="0" err="1"/>
              <a:t>Git</a:t>
            </a:r>
            <a:r>
              <a:rPr lang="en-US" dirty="0"/>
              <a:t> doesn’t explicitly track file movement. </a:t>
            </a:r>
            <a:endParaRPr lang="en-US" dirty="0" smtClean="0"/>
          </a:p>
          <a:p>
            <a:r>
              <a:rPr lang="en-US" dirty="0" smtClean="0"/>
              <a:t>If </a:t>
            </a:r>
            <a:r>
              <a:rPr lang="en-US" dirty="0"/>
              <a:t>you rename a file in </a:t>
            </a:r>
            <a:r>
              <a:rPr lang="en-US" dirty="0" err="1"/>
              <a:t>Git</a:t>
            </a:r>
            <a:r>
              <a:rPr lang="en-US" dirty="0"/>
              <a:t>, no metadata is stored in </a:t>
            </a:r>
            <a:r>
              <a:rPr lang="en-US" dirty="0" err="1"/>
              <a:t>Git</a:t>
            </a:r>
            <a:r>
              <a:rPr lang="en-US" dirty="0"/>
              <a:t> that tells it you renamed the file. </a:t>
            </a:r>
          </a:p>
        </p:txBody>
      </p:sp>
    </p:spTree>
    <p:extLst>
      <p:ext uri="{BB962C8B-B14F-4D97-AF65-F5344CB8AC3E}">
        <p14:creationId xmlns:p14="http://schemas.microsoft.com/office/powerpoint/2010/main" val="290978988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Renaming Files</a:t>
            </a:r>
            <a:endParaRPr lang="en-US" dirty="0"/>
          </a:p>
        </p:txBody>
      </p:sp>
      <p:pic>
        <p:nvPicPr>
          <p:cNvPr id="3" name="Picture 2"/>
          <p:cNvPicPr>
            <a:picLocks noChangeAspect="1"/>
          </p:cNvPicPr>
          <p:nvPr/>
        </p:nvPicPr>
        <p:blipFill>
          <a:blip r:embed="rId2"/>
          <a:stretch>
            <a:fillRect/>
          </a:stretch>
        </p:blipFill>
        <p:spPr>
          <a:xfrm>
            <a:off x="1143000" y="1606944"/>
            <a:ext cx="7051873" cy="3906726"/>
          </a:xfrm>
          <a:prstGeom prst="rect">
            <a:avLst/>
          </a:prstGeom>
        </p:spPr>
      </p:pic>
    </p:spTree>
    <p:extLst>
      <p:ext uri="{BB962C8B-B14F-4D97-AF65-F5344CB8AC3E}">
        <p14:creationId xmlns:p14="http://schemas.microsoft.com/office/powerpoint/2010/main" val="3469414223"/>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Renaming Files</a:t>
            </a:r>
            <a:endParaRPr lang="en-US" dirty="0"/>
          </a:p>
        </p:txBody>
      </p:sp>
      <p:pic>
        <p:nvPicPr>
          <p:cNvPr id="3" name="Picture 2"/>
          <p:cNvPicPr>
            <a:picLocks noChangeAspect="1"/>
          </p:cNvPicPr>
          <p:nvPr/>
        </p:nvPicPr>
        <p:blipFill>
          <a:blip r:embed="rId2"/>
          <a:stretch>
            <a:fillRect/>
          </a:stretch>
        </p:blipFill>
        <p:spPr>
          <a:xfrm>
            <a:off x="1038043" y="2047804"/>
            <a:ext cx="7067913" cy="2762392"/>
          </a:xfrm>
          <a:prstGeom prst="rect">
            <a:avLst/>
          </a:prstGeom>
        </p:spPr>
      </p:pic>
    </p:spTree>
    <p:extLst>
      <p:ext uri="{BB962C8B-B14F-4D97-AF65-F5344CB8AC3E}">
        <p14:creationId xmlns:p14="http://schemas.microsoft.com/office/powerpoint/2010/main" val="356524015"/>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 after rename</a:t>
            </a:r>
            <a:endParaRPr lang="en-US" dirty="0"/>
          </a:p>
        </p:txBody>
      </p:sp>
      <p:pic>
        <p:nvPicPr>
          <p:cNvPr id="3" name="Picture 2"/>
          <p:cNvPicPr>
            <a:picLocks noChangeAspect="1"/>
          </p:cNvPicPr>
          <p:nvPr/>
        </p:nvPicPr>
        <p:blipFill>
          <a:blip r:embed="rId2"/>
          <a:stretch>
            <a:fillRect/>
          </a:stretch>
        </p:blipFill>
        <p:spPr>
          <a:xfrm>
            <a:off x="1244429" y="1885870"/>
            <a:ext cx="6655142" cy="3086259"/>
          </a:xfrm>
          <a:prstGeom prst="rect">
            <a:avLst/>
          </a:prstGeom>
        </p:spPr>
      </p:pic>
      <p:sp>
        <p:nvSpPr>
          <p:cNvPr id="4" name="Rounded Rectangular Callout 3"/>
          <p:cNvSpPr/>
          <p:nvPr/>
        </p:nvSpPr>
        <p:spPr>
          <a:xfrm>
            <a:off x="6477000" y="3581400"/>
            <a:ext cx="2463743" cy="704791"/>
          </a:xfrm>
          <a:prstGeom prst="wedgeRoundRectCallout">
            <a:avLst>
              <a:gd name="adj1" fmla="val -125262"/>
              <a:gd name="adj2" fmla="val -60510"/>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Notice rename treated as delete and add.</a:t>
            </a:r>
            <a:endParaRPr lang="en-US" dirty="0"/>
          </a:p>
        </p:txBody>
      </p:sp>
    </p:spTree>
    <p:extLst>
      <p:ext uri="{BB962C8B-B14F-4D97-AF65-F5344CB8AC3E}">
        <p14:creationId xmlns:p14="http://schemas.microsoft.com/office/powerpoint/2010/main" val="4464343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add *</a:t>
            </a:r>
            <a:endParaRPr lang="en-US" dirty="0"/>
          </a:p>
        </p:txBody>
      </p:sp>
      <p:pic>
        <p:nvPicPr>
          <p:cNvPr id="3" name="Picture 2"/>
          <p:cNvPicPr>
            <a:picLocks noChangeAspect="1"/>
          </p:cNvPicPr>
          <p:nvPr/>
        </p:nvPicPr>
        <p:blipFill>
          <a:blip r:embed="rId2"/>
          <a:stretch>
            <a:fillRect/>
          </a:stretch>
        </p:blipFill>
        <p:spPr>
          <a:xfrm>
            <a:off x="1244429" y="1885870"/>
            <a:ext cx="6655142" cy="3086259"/>
          </a:xfrm>
          <a:prstGeom prst="rect">
            <a:avLst/>
          </a:prstGeom>
        </p:spPr>
      </p:pic>
    </p:spTree>
    <p:extLst>
      <p:ext uri="{BB962C8B-B14F-4D97-AF65-F5344CB8AC3E}">
        <p14:creationId xmlns:p14="http://schemas.microsoft.com/office/powerpoint/2010/main" val="3280734848"/>
      </p:ext>
    </p:extLst>
  </p:cSld>
  <p:clrMapOvr>
    <a:masterClrMapping/>
  </p:clrMapOvr>
  <p:timing>
    <p:tnLst>
      <p:par>
        <p:cTn id="1" dur="indefinite" restart="never" nodeType="tmRoot"/>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 after add</a:t>
            </a:r>
            <a:endParaRPr lang="en-US" dirty="0"/>
          </a:p>
        </p:txBody>
      </p:sp>
      <p:pic>
        <p:nvPicPr>
          <p:cNvPr id="3" name="Picture 2"/>
          <p:cNvPicPr>
            <a:picLocks noChangeAspect="1"/>
          </p:cNvPicPr>
          <p:nvPr/>
        </p:nvPicPr>
        <p:blipFill>
          <a:blip r:embed="rId2"/>
          <a:stretch>
            <a:fillRect/>
          </a:stretch>
        </p:blipFill>
        <p:spPr>
          <a:xfrm>
            <a:off x="825307" y="2076380"/>
            <a:ext cx="7493385" cy="2705239"/>
          </a:xfrm>
          <a:prstGeom prst="rect">
            <a:avLst/>
          </a:prstGeom>
        </p:spPr>
      </p:pic>
      <p:sp>
        <p:nvSpPr>
          <p:cNvPr id="4" name="Rounded Rectangular Callout 3"/>
          <p:cNvSpPr/>
          <p:nvPr/>
        </p:nvSpPr>
        <p:spPr>
          <a:xfrm>
            <a:off x="4953000" y="4495800"/>
            <a:ext cx="2463743" cy="704791"/>
          </a:xfrm>
          <a:prstGeom prst="wedgeRoundRectCallout">
            <a:avLst>
              <a:gd name="adj1" fmla="val -111344"/>
              <a:gd name="adj2" fmla="val -64326"/>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smtClean="0"/>
              <a:t>Notice does not handle the delete!</a:t>
            </a:r>
            <a:endParaRPr lang="en-US" dirty="0"/>
          </a:p>
        </p:txBody>
      </p:sp>
    </p:spTree>
    <p:extLst>
      <p:ext uri="{BB962C8B-B14F-4D97-AF65-F5344CB8AC3E}">
        <p14:creationId xmlns:p14="http://schemas.microsoft.com/office/powerpoint/2010/main" val="2240424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Try </a:t>
            </a:r>
            <a:r>
              <a:rPr lang="en-US" dirty="0" err="1" smtClean="0"/>
              <a:t>git</a:t>
            </a:r>
            <a:r>
              <a:rPr lang="en-US" dirty="0" smtClean="0"/>
              <a:t> add -A</a:t>
            </a:r>
            <a:endParaRPr lang="en-US" dirty="0"/>
          </a:p>
        </p:txBody>
      </p:sp>
      <p:pic>
        <p:nvPicPr>
          <p:cNvPr id="3" name="Picture 2"/>
          <p:cNvPicPr>
            <a:picLocks noChangeAspect="1"/>
          </p:cNvPicPr>
          <p:nvPr/>
        </p:nvPicPr>
        <p:blipFill>
          <a:blip r:embed="rId2"/>
          <a:stretch>
            <a:fillRect/>
          </a:stretch>
        </p:blipFill>
        <p:spPr>
          <a:xfrm>
            <a:off x="825307" y="2076380"/>
            <a:ext cx="7493385" cy="2705239"/>
          </a:xfrm>
          <a:prstGeom prst="rect">
            <a:avLst/>
          </a:prstGeom>
        </p:spPr>
      </p:pic>
    </p:spTree>
    <p:extLst>
      <p:ext uri="{BB962C8B-B14F-4D97-AF65-F5344CB8AC3E}">
        <p14:creationId xmlns:p14="http://schemas.microsoft.com/office/powerpoint/2010/main" val="2039377504"/>
      </p:ext>
    </p:extLst>
  </p:cSld>
  <p:clrMapOvr>
    <a:masterClrMapping/>
  </p:clrMapOvr>
  <p:timing>
    <p:tnLst>
      <p:par>
        <p:cTn id="1" dur="indefinite" restart="never" nodeType="tmRoot"/>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a:t>Moving </a:t>
            </a:r>
            <a:r>
              <a:rPr lang="en-US" dirty="0" smtClean="0"/>
              <a:t>Files </a:t>
            </a:r>
            <a:r>
              <a:rPr lang="en-US" dirty="0" err="1" smtClean="0"/>
              <a:t>git</a:t>
            </a:r>
            <a:r>
              <a:rPr lang="en-US" dirty="0" smtClean="0"/>
              <a:t> mv Command</a:t>
            </a:r>
            <a:endParaRPr lang="en-US" dirty="0"/>
          </a:p>
        </p:txBody>
      </p:sp>
      <p:sp>
        <p:nvSpPr>
          <p:cNvPr id="4" name="Content Placeholder 3"/>
          <p:cNvSpPr>
            <a:spLocks noGrp="1"/>
          </p:cNvSpPr>
          <p:nvPr>
            <p:ph idx="1"/>
          </p:nvPr>
        </p:nvSpPr>
        <p:spPr/>
        <p:txBody>
          <a:bodyPr/>
          <a:lstStyle/>
          <a:p>
            <a:r>
              <a:rPr lang="en-US" dirty="0" smtClean="0"/>
              <a:t>If </a:t>
            </a:r>
            <a:r>
              <a:rPr lang="en-US" dirty="0"/>
              <a:t>you want to rename a </a:t>
            </a:r>
            <a:r>
              <a:rPr lang="en-US" dirty="0" smtClean="0"/>
              <a:t>file </a:t>
            </a:r>
            <a:r>
              <a:rPr lang="en-US" dirty="0"/>
              <a:t>in </a:t>
            </a:r>
            <a:r>
              <a:rPr lang="en-US" dirty="0" err="1"/>
              <a:t>Git</a:t>
            </a:r>
            <a:r>
              <a:rPr lang="en-US" dirty="0"/>
              <a:t>, you can </a:t>
            </a:r>
            <a:r>
              <a:rPr lang="en-US" dirty="0" smtClean="0"/>
              <a:t>run </a:t>
            </a:r>
            <a:r>
              <a:rPr lang="en-US" dirty="0"/>
              <a:t>something </a:t>
            </a:r>
            <a:r>
              <a:rPr lang="en-US" dirty="0" smtClean="0"/>
              <a:t>like</a:t>
            </a:r>
          </a:p>
          <a:p>
            <a:pPr marL="36900" indent="0" algn="ctr">
              <a:buNone/>
            </a:pPr>
            <a:r>
              <a:rPr lang="en-US" dirty="0" err="1" smtClean="0"/>
              <a:t>git</a:t>
            </a:r>
            <a:r>
              <a:rPr lang="en-US" dirty="0" smtClean="0"/>
              <a:t> </a:t>
            </a:r>
            <a:r>
              <a:rPr lang="en-US" dirty="0"/>
              <a:t>mv </a:t>
            </a:r>
            <a:r>
              <a:rPr lang="en-US" dirty="0" err="1"/>
              <a:t>file_from</a:t>
            </a:r>
            <a:r>
              <a:rPr lang="en-US" dirty="0"/>
              <a:t> </a:t>
            </a:r>
            <a:r>
              <a:rPr lang="en-US" dirty="0" err="1"/>
              <a:t>file_to</a:t>
            </a:r>
            <a:endParaRPr lang="en-US" dirty="0"/>
          </a:p>
          <a:p>
            <a:r>
              <a:rPr lang="en-US" dirty="0" smtClean="0"/>
              <a:t>Exercise</a:t>
            </a:r>
          </a:p>
          <a:p>
            <a:pPr marL="792900" lvl="1" indent="-342900">
              <a:buFont typeface="+mj-lt"/>
              <a:buAutoNum type="arabicPeriod"/>
            </a:pPr>
            <a:r>
              <a:rPr lang="en-US" dirty="0" smtClean="0"/>
              <a:t>Rename a file using </a:t>
            </a:r>
            <a:r>
              <a:rPr lang="en-US" dirty="0" err="1" smtClean="0"/>
              <a:t>git</a:t>
            </a:r>
            <a:r>
              <a:rPr lang="en-US" dirty="0" smtClean="0"/>
              <a:t> mv </a:t>
            </a:r>
          </a:p>
          <a:p>
            <a:pPr marL="792900" lvl="1" indent="-342900">
              <a:buFont typeface="+mj-lt"/>
              <a:buAutoNum type="arabicPeriod"/>
            </a:pPr>
            <a:r>
              <a:rPr lang="en-US" dirty="0" smtClean="0"/>
              <a:t>Execute </a:t>
            </a:r>
            <a:r>
              <a:rPr lang="en-US" dirty="0" err="1" smtClean="0"/>
              <a:t>git</a:t>
            </a:r>
            <a:r>
              <a:rPr lang="en-US" dirty="0"/>
              <a:t> </a:t>
            </a:r>
            <a:r>
              <a:rPr lang="en-US" dirty="0" smtClean="0"/>
              <a:t>status</a:t>
            </a:r>
          </a:p>
          <a:p>
            <a:pPr marL="792900" lvl="1" indent="-342900">
              <a:buFont typeface="+mj-lt"/>
              <a:buAutoNum type="arabicPeriod"/>
            </a:pPr>
            <a:r>
              <a:rPr lang="en-US" dirty="0" smtClean="0"/>
              <a:t>View file in file manager</a:t>
            </a:r>
            <a:endParaRPr lang="en-US" dirty="0"/>
          </a:p>
        </p:txBody>
      </p:sp>
    </p:spTree>
    <p:extLst>
      <p:ext uri="{BB962C8B-B14F-4D97-AF65-F5344CB8AC3E}">
        <p14:creationId xmlns:p14="http://schemas.microsoft.com/office/powerpoint/2010/main" val="194330037"/>
      </p:ext>
    </p:extLst>
  </p:cSld>
  <p:clrMapOvr>
    <a:masterClrMapping/>
  </p:clrMapOvr>
  <p:timing>
    <p:tnLst>
      <p:par>
        <p:cTn id="1" dur="indefinite" restart="never" nodeType="tmRoot"/>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git</a:t>
            </a:r>
            <a:r>
              <a:rPr lang="en-US" dirty="0" smtClean="0"/>
              <a:t> </a:t>
            </a:r>
            <a:r>
              <a:rPr lang="en-US" dirty="0" err="1" smtClean="0"/>
              <a:t>rm</a:t>
            </a:r>
            <a:endParaRPr lang="en-US" dirty="0"/>
          </a:p>
        </p:txBody>
      </p:sp>
      <p:pic>
        <p:nvPicPr>
          <p:cNvPr id="5" name="Picture 4"/>
          <p:cNvPicPr>
            <a:picLocks noChangeAspect="1"/>
          </p:cNvPicPr>
          <p:nvPr/>
        </p:nvPicPr>
        <p:blipFill>
          <a:blip r:embed="rId2"/>
          <a:stretch>
            <a:fillRect/>
          </a:stretch>
        </p:blipFill>
        <p:spPr>
          <a:xfrm>
            <a:off x="211683" y="1524000"/>
            <a:ext cx="8712648" cy="2705239"/>
          </a:xfrm>
          <a:prstGeom prst="rect">
            <a:avLst/>
          </a:prstGeom>
        </p:spPr>
      </p:pic>
      <p:pic>
        <p:nvPicPr>
          <p:cNvPr id="6" name="Picture 5"/>
          <p:cNvPicPr>
            <a:picLocks noChangeAspect="1"/>
          </p:cNvPicPr>
          <p:nvPr/>
        </p:nvPicPr>
        <p:blipFill>
          <a:blip r:embed="rId3"/>
          <a:stretch>
            <a:fillRect/>
          </a:stretch>
        </p:blipFill>
        <p:spPr>
          <a:xfrm>
            <a:off x="2971800" y="4372074"/>
            <a:ext cx="4235668" cy="1543129"/>
          </a:xfrm>
          <a:prstGeom prst="rect">
            <a:avLst/>
          </a:prstGeom>
          <a:ln>
            <a:noFill/>
          </a:ln>
          <a:effectLst>
            <a:softEdge rad="112500"/>
          </a:effectLst>
        </p:spPr>
      </p:pic>
    </p:spTree>
    <p:extLst>
      <p:ext uri="{BB962C8B-B14F-4D97-AF65-F5344CB8AC3E}">
        <p14:creationId xmlns:p14="http://schemas.microsoft.com/office/powerpoint/2010/main" val="3961359380"/>
      </p:ext>
    </p:extLst>
  </p:cSld>
  <p:clrMapOvr>
    <a:masterClrMapping/>
  </p:clrMapOvr>
  <p:timing>
    <p:tnLst>
      <p:par>
        <p:cTn id="1" dur="indefinite" restart="never" nodeType="tmRoot"/>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smtClean="0">
                <a:effectLst/>
              </a:rPr>
              <a:t>Viewing </a:t>
            </a:r>
            <a:r>
              <a:rPr lang="en-US" dirty="0">
                <a:effectLst/>
              </a:rPr>
              <a:t>the Commit </a:t>
            </a:r>
            <a:r>
              <a:rPr lang="en-US" dirty="0" smtClean="0">
                <a:effectLst/>
              </a:rPr>
              <a:t>History</a:t>
            </a:r>
            <a:endParaRPr lang="en-US" dirty="0"/>
          </a:p>
        </p:txBody>
      </p:sp>
      <p:sp>
        <p:nvSpPr>
          <p:cNvPr id="4" name="Text Placeholder 3"/>
          <p:cNvSpPr>
            <a:spLocks noGrp="1"/>
          </p:cNvSpPr>
          <p:nvPr>
            <p:ph type="body" idx="1"/>
          </p:nvPr>
        </p:nvSpPr>
        <p:spPr/>
        <p:txBody>
          <a:bodyPr/>
          <a:lstStyle/>
          <a:p>
            <a:r>
              <a:rPr lang="en-US" dirty="0">
                <a:effectLst/>
              </a:rPr>
              <a:t>2.3 </a:t>
            </a:r>
            <a:r>
              <a:rPr lang="en-US" dirty="0" err="1">
                <a:effectLst/>
              </a:rPr>
              <a:t>Git</a:t>
            </a:r>
            <a:r>
              <a:rPr lang="en-US" dirty="0">
                <a:effectLst/>
              </a:rPr>
              <a:t> Basics </a:t>
            </a:r>
            <a:endParaRPr lang="en-US" dirty="0"/>
          </a:p>
        </p:txBody>
      </p:sp>
    </p:spTree>
    <p:extLst>
      <p:ext uri="{BB962C8B-B14F-4D97-AF65-F5344CB8AC3E}">
        <p14:creationId xmlns:p14="http://schemas.microsoft.com/office/powerpoint/2010/main" val="3685709415"/>
      </p:ext>
    </p:extLst>
  </p:cSld>
  <p:clrMapOvr>
    <a:masterClrMapping/>
  </p:clrMapOvr>
  <p:timing>
    <p:tnLst>
      <p:par>
        <p:cTn id="1" dur="indefinite" restart="never" nodeType="tmRoot"/>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a:t>Viewing the Commit </a:t>
            </a:r>
            <a:r>
              <a:rPr lang="en-US" dirty="0" smtClean="0"/>
              <a:t>History</a:t>
            </a:r>
            <a:endParaRPr lang="en-US" dirty="0"/>
          </a:p>
        </p:txBody>
      </p:sp>
      <p:sp>
        <p:nvSpPr>
          <p:cNvPr id="5" name="Content Placeholder 4"/>
          <p:cNvSpPr>
            <a:spLocks noGrp="1"/>
          </p:cNvSpPr>
          <p:nvPr>
            <p:ph idx="1"/>
          </p:nvPr>
        </p:nvSpPr>
        <p:spPr/>
        <p:txBody>
          <a:bodyPr>
            <a:normAutofit/>
          </a:bodyPr>
          <a:lstStyle/>
          <a:p>
            <a:r>
              <a:rPr lang="en-US" dirty="0" smtClean="0"/>
              <a:t>After </a:t>
            </a:r>
            <a:r>
              <a:rPr lang="en-US" dirty="0"/>
              <a:t>you have created several commits, or if you have cloned a repository with an existing commit history, you’ll probably want to look back to see what has happened. </a:t>
            </a:r>
            <a:endParaRPr lang="en-US" dirty="0" smtClean="0"/>
          </a:p>
          <a:p>
            <a:r>
              <a:rPr lang="en-US" dirty="0" smtClean="0"/>
              <a:t>The </a:t>
            </a:r>
            <a:r>
              <a:rPr lang="en-US" dirty="0"/>
              <a:t>most basic and powerful tool to do this is the </a:t>
            </a:r>
            <a:r>
              <a:rPr lang="en-US" dirty="0" err="1"/>
              <a:t>git</a:t>
            </a:r>
            <a:r>
              <a:rPr lang="en-US" dirty="0"/>
              <a:t> log command</a:t>
            </a:r>
            <a:r>
              <a:rPr lang="en-US" dirty="0" smtClean="0"/>
              <a:t>.</a:t>
            </a:r>
            <a:endParaRPr lang="en-US" dirty="0"/>
          </a:p>
          <a:p>
            <a:r>
              <a:rPr lang="en-US" dirty="0"/>
              <a:t>These examples use a very simple project called “</a:t>
            </a:r>
            <a:r>
              <a:rPr lang="en-US" dirty="0" err="1"/>
              <a:t>simplegit</a:t>
            </a:r>
            <a:r>
              <a:rPr lang="en-US" dirty="0"/>
              <a:t>”. </a:t>
            </a:r>
            <a:endParaRPr lang="en-US" dirty="0" smtClean="0"/>
          </a:p>
          <a:p>
            <a:r>
              <a:rPr lang="en-US" dirty="0" smtClean="0"/>
              <a:t>To </a:t>
            </a:r>
            <a:r>
              <a:rPr lang="en-US" dirty="0"/>
              <a:t>get the project, </a:t>
            </a:r>
            <a:r>
              <a:rPr lang="en-US" dirty="0" err="1" smtClean="0"/>
              <a:t>ru</a:t>
            </a:r>
            <a:endParaRPr lang="en-US" dirty="0"/>
          </a:p>
          <a:p>
            <a:pPr marL="36900" indent="0" algn="ctr">
              <a:buNone/>
            </a:pPr>
            <a:r>
              <a:rPr lang="en-US" dirty="0" err="1"/>
              <a:t>git</a:t>
            </a:r>
            <a:r>
              <a:rPr lang="en-US" dirty="0"/>
              <a:t> clone https://github.com/schacon/simplegit-progit</a:t>
            </a:r>
          </a:p>
          <a:p>
            <a:r>
              <a:rPr lang="en-US" dirty="0"/>
              <a:t>When you run </a:t>
            </a:r>
            <a:r>
              <a:rPr lang="en-US" dirty="0" err="1"/>
              <a:t>git</a:t>
            </a:r>
            <a:r>
              <a:rPr lang="en-US" dirty="0"/>
              <a:t> log in this project, you should get output that looks something like this:</a:t>
            </a:r>
          </a:p>
        </p:txBody>
      </p:sp>
    </p:spTree>
    <p:extLst>
      <p:ext uri="{BB962C8B-B14F-4D97-AF65-F5344CB8AC3E}">
        <p14:creationId xmlns:p14="http://schemas.microsoft.com/office/powerpoint/2010/main" val="3035571116"/>
      </p:ext>
    </p:extLst>
  </p:cSld>
  <p:clrMapOvr>
    <a:masterClrMapping/>
  </p:clrMapOvr>
  <p:timing>
    <p:tnLst>
      <p:par>
        <p:cTn id="1" dur="indefinite" restart="never" nodeType="tmRoot"/>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err="1" smtClean="0"/>
              <a:t>git</a:t>
            </a:r>
            <a:r>
              <a:rPr lang="en-US" dirty="0" smtClean="0"/>
              <a:t>  clone</a:t>
            </a:r>
            <a:endParaRPr lang="en-US" dirty="0"/>
          </a:p>
        </p:txBody>
      </p:sp>
      <p:pic>
        <p:nvPicPr>
          <p:cNvPr id="5" name="Picture 4"/>
          <p:cNvPicPr>
            <a:picLocks noChangeAspect="1"/>
          </p:cNvPicPr>
          <p:nvPr/>
        </p:nvPicPr>
        <p:blipFill>
          <a:blip r:embed="rId2"/>
          <a:stretch>
            <a:fillRect/>
          </a:stretch>
        </p:blipFill>
        <p:spPr>
          <a:xfrm>
            <a:off x="709999" y="1615909"/>
            <a:ext cx="7798201" cy="2070206"/>
          </a:xfrm>
          <a:prstGeom prst="rect">
            <a:avLst/>
          </a:prstGeom>
        </p:spPr>
      </p:pic>
      <p:pic>
        <p:nvPicPr>
          <p:cNvPr id="7" name="Picture 6"/>
          <p:cNvPicPr>
            <a:picLocks noChangeAspect="1"/>
          </p:cNvPicPr>
          <p:nvPr/>
        </p:nvPicPr>
        <p:blipFill>
          <a:blip r:embed="rId3"/>
          <a:stretch>
            <a:fillRect/>
          </a:stretch>
        </p:blipFill>
        <p:spPr>
          <a:xfrm>
            <a:off x="4114800" y="2971800"/>
            <a:ext cx="4499124" cy="2882790"/>
          </a:xfrm>
          <a:prstGeom prst="rect">
            <a:avLst/>
          </a:prstGeom>
        </p:spPr>
      </p:pic>
    </p:spTree>
    <p:extLst>
      <p:ext uri="{BB962C8B-B14F-4D97-AF65-F5344CB8AC3E}">
        <p14:creationId xmlns:p14="http://schemas.microsoft.com/office/powerpoint/2010/main" val="3612913749"/>
      </p:ext>
    </p:extLst>
  </p:cSld>
  <p:clrMapOvr>
    <a:masterClrMapping/>
  </p:clrMapOvr>
  <p:timing>
    <p:tnLst>
      <p:par>
        <p:cTn id="1" dur="indefinite" restart="never" nodeType="tmRoot"/>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log</a:t>
            </a:r>
            <a:endParaRPr lang="en-US" dirty="0"/>
          </a:p>
        </p:txBody>
      </p:sp>
      <p:pic>
        <p:nvPicPr>
          <p:cNvPr id="3" name="Picture 2"/>
          <p:cNvPicPr>
            <a:picLocks noChangeAspect="1"/>
          </p:cNvPicPr>
          <p:nvPr/>
        </p:nvPicPr>
        <p:blipFill>
          <a:blip r:embed="rId2"/>
          <a:stretch>
            <a:fillRect/>
          </a:stretch>
        </p:blipFill>
        <p:spPr>
          <a:xfrm>
            <a:off x="787205" y="1568354"/>
            <a:ext cx="7569589" cy="3721291"/>
          </a:xfrm>
          <a:prstGeom prst="rect">
            <a:avLst/>
          </a:prstGeom>
        </p:spPr>
      </p:pic>
    </p:spTree>
    <p:extLst>
      <p:ext uri="{BB962C8B-B14F-4D97-AF65-F5344CB8AC3E}">
        <p14:creationId xmlns:p14="http://schemas.microsoft.com/office/powerpoint/2010/main" val="839116792"/>
      </p:ext>
    </p:extLst>
  </p:cSld>
  <p:clrMapOvr>
    <a:masterClrMapping/>
  </p:clrMapOvr>
  <p:timing>
    <p:tnLst>
      <p:par>
        <p:cTn id="1" dur="indefinite" restart="never" nodeType="tmRoot"/>
      </p:par>
    </p:tn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err="1" smtClean="0"/>
              <a:t>git</a:t>
            </a:r>
            <a:r>
              <a:rPr lang="en-US" dirty="0" smtClean="0"/>
              <a:t> log options</a:t>
            </a:r>
            <a:endParaRPr lang="en-US" dirty="0"/>
          </a:p>
        </p:txBody>
      </p:sp>
      <p:sp>
        <p:nvSpPr>
          <p:cNvPr id="4" name="Content Placeholder 3"/>
          <p:cNvSpPr>
            <a:spLocks noGrp="1"/>
          </p:cNvSpPr>
          <p:nvPr>
            <p:ph idx="1"/>
          </p:nvPr>
        </p:nvSpPr>
        <p:spPr/>
        <p:txBody>
          <a:bodyPr/>
          <a:lstStyle/>
          <a:p>
            <a:r>
              <a:rPr lang="en-US" dirty="0"/>
              <a:t>See </a:t>
            </a:r>
            <a:r>
              <a:rPr lang="en-US" dirty="0">
                <a:hlinkClick r:id="rId2"/>
              </a:rPr>
              <a:t>http://</a:t>
            </a:r>
            <a:r>
              <a:rPr lang="en-US" dirty="0" smtClean="0">
                <a:hlinkClick r:id="rId2"/>
              </a:rPr>
              <a:t>git-scm.com/book/en/v2/Git-Basics-Viewing-the-Commit-History</a:t>
            </a:r>
            <a:r>
              <a:rPr lang="en-US" dirty="0" smtClean="0"/>
              <a:t> </a:t>
            </a:r>
            <a:endParaRPr lang="en-US" dirty="0"/>
          </a:p>
        </p:txBody>
      </p:sp>
    </p:spTree>
    <p:extLst>
      <p:ext uri="{BB962C8B-B14F-4D97-AF65-F5344CB8AC3E}">
        <p14:creationId xmlns:p14="http://schemas.microsoft.com/office/powerpoint/2010/main" val="3800238256"/>
      </p:ext>
    </p:extLst>
  </p:cSld>
  <p:clrMapOvr>
    <a:masterClrMapping/>
  </p:clrMapOvr>
  <p:timing>
    <p:tnLst>
      <p:par>
        <p:cTn id="1" dur="indefinite" restart="never" nodeType="tmRoot"/>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effectLst/>
              </a:rPr>
              <a:t>Undoing </a:t>
            </a:r>
            <a:r>
              <a:rPr lang="en-US" dirty="0">
                <a:effectLst/>
              </a:rPr>
              <a:t>Things</a:t>
            </a:r>
            <a:br>
              <a:rPr lang="en-US" dirty="0">
                <a:effectLst/>
              </a:rPr>
            </a:br>
            <a:endParaRPr lang="en-US" dirty="0"/>
          </a:p>
        </p:txBody>
      </p:sp>
      <p:sp>
        <p:nvSpPr>
          <p:cNvPr id="5" name="Text Placeholder 4"/>
          <p:cNvSpPr>
            <a:spLocks noGrp="1"/>
          </p:cNvSpPr>
          <p:nvPr>
            <p:ph type="body" idx="1"/>
          </p:nvPr>
        </p:nvSpPr>
        <p:spPr/>
        <p:txBody>
          <a:bodyPr/>
          <a:lstStyle/>
          <a:p>
            <a:r>
              <a:rPr lang="en-US" dirty="0">
                <a:effectLst/>
              </a:rPr>
              <a:t>2.4 </a:t>
            </a:r>
            <a:r>
              <a:rPr lang="en-US" dirty="0" err="1">
                <a:effectLst/>
              </a:rPr>
              <a:t>Git</a:t>
            </a:r>
            <a:r>
              <a:rPr lang="en-US" dirty="0">
                <a:effectLst/>
              </a:rPr>
              <a:t> </a:t>
            </a:r>
            <a:r>
              <a:rPr lang="en-US" dirty="0" smtClean="0">
                <a:effectLst/>
              </a:rPr>
              <a:t>Basics</a:t>
            </a:r>
            <a:endParaRPr lang="en-US" dirty="0"/>
          </a:p>
        </p:txBody>
      </p:sp>
    </p:spTree>
    <p:extLst>
      <p:ext uri="{BB962C8B-B14F-4D97-AF65-F5344CB8AC3E}">
        <p14:creationId xmlns:p14="http://schemas.microsoft.com/office/powerpoint/2010/main" val="2690440838"/>
      </p:ext>
    </p:extLst>
  </p:cSld>
  <p:clrMapOvr>
    <a:masterClrMapping/>
  </p:clrMapOvr>
  <p:timing>
    <p:tnLst>
      <p:par>
        <p:cTn id="1" dur="indefinite" restart="never" nodeType="tmRoot"/>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pPr fontAlgn="base"/>
            <a:r>
              <a:rPr lang="en-US" b="1" dirty="0">
                <a:effectLst/>
              </a:rPr>
              <a:t>Undoing Things</a:t>
            </a:r>
          </a:p>
        </p:txBody>
      </p:sp>
      <p:sp>
        <p:nvSpPr>
          <p:cNvPr id="5" name="Content Placeholder 4"/>
          <p:cNvSpPr>
            <a:spLocks noGrp="1"/>
          </p:cNvSpPr>
          <p:nvPr>
            <p:ph idx="1"/>
          </p:nvPr>
        </p:nvSpPr>
        <p:spPr/>
        <p:txBody>
          <a:bodyPr/>
          <a:lstStyle/>
          <a:p>
            <a:r>
              <a:rPr lang="en-US" dirty="0">
                <a:effectLst/>
              </a:rPr>
              <a:t>At any stage, you may want to undo something. </a:t>
            </a:r>
            <a:endParaRPr lang="en-US" dirty="0" smtClean="0">
              <a:effectLst/>
            </a:endParaRPr>
          </a:p>
          <a:p>
            <a:r>
              <a:rPr lang="en-US" dirty="0" smtClean="0">
                <a:effectLst/>
              </a:rPr>
              <a:t>Here</a:t>
            </a:r>
            <a:r>
              <a:rPr lang="en-US" dirty="0">
                <a:effectLst/>
              </a:rPr>
              <a:t>, we’ll review a few basic tools for undoing changes that you’ve made</a:t>
            </a:r>
            <a:r>
              <a:rPr lang="en-US" dirty="0" smtClean="0">
                <a:effectLst/>
              </a:rPr>
              <a:t>.</a:t>
            </a:r>
          </a:p>
          <a:p>
            <a:r>
              <a:rPr lang="en-US" dirty="0" smtClean="0">
                <a:effectLst/>
              </a:rPr>
              <a:t>Be </a:t>
            </a:r>
            <a:r>
              <a:rPr lang="en-US" dirty="0">
                <a:effectLst/>
              </a:rPr>
              <a:t>careful, because you can’t always undo some of these </a:t>
            </a:r>
            <a:r>
              <a:rPr lang="en-US" dirty="0" err="1">
                <a:effectLst/>
              </a:rPr>
              <a:t>undos</a:t>
            </a:r>
            <a:r>
              <a:rPr lang="en-US" dirty="0">
                <a:effectLst/>
              </a:rPr>
              <a:t>. </a:t>
            </a:r>
            <a:endParaRPr lang="en-US" dirty="0" smtClean="0">
              <a:effectLst/>
            </a:endParaRPr>
          </a:p>
          <a:p>
            <a:r>
              <a:rPr lang="en-US" dirty="0" smtClean="0">
                <a:effectLst/>
              </a:rPr>
              <a:t>This </a:t>
            </a:r>
            <a:r>
              <a:rPr lang="en-US" dirty="0">
                <a:effectLst/>
              </a:rPr>
              <a:t>is one of the few areas in </a:t>
            </a:r>
            <a:r>
              <a:rPr lang="en-US" dirty="0" err="1">
                <a:effectLst/>
              </a:rPr>
              <a:t>Git</a:t>
            </a:r>
            <a:r>
              <a:rPr lang="en-US" dirty="0">
                <a:effectLst/>
              </a:rPr>
              <a:t> where you may lose some work if you do it wrong.</a:t>
            </a:r>
            <a:endParaRPr lang="en-US" dirty="0"/>
          </a:p>
        </p:txBody>
      </p:sp>
    </p:spTree>
    <p:extLst>
      <p:ext uri="{BB962C8B-B14F-4D97-AF65-F5344CB8AC3E}">
        <p14:creationId xmlns:p14="http://schemas.microsoft.com/office/powerpoint/2010/main" val="1360693329"/>
      </p:ext>
    </p:extLst>
  </p:cSld>
  <p:clrMapOvr>
    <a:masterClrMapping/>
  </p:clrMapOvr>
  <p:timing>
    <p:tnLst>
      <p:par>
        <p:cTn id="1" dur="indefinite" restart="never" nodeType="tmRoot"/>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--amend </a:t>
            </a:r>
            <a:r>
              <a:rPr lang="en-US" dirty="0" smtClean="0"/>
              <a:t>option</a:t>
            </a:r>
            <a:endParaRPr lang="en-US" dirty="0"/>
          </a:p>
        </p:txBody>
      </p:sp>
      <p:sp>
        <p:nvSpPr>
          <p:cNvPr id="3" name="Content Placeholder 2"/>
          <p:cNvSpPr>
            <a:spLocks noGrp="1"/>
          </p:cNvSpPr>
          <p:nvPr>
            <p:ph idx="1"/>
          </p:nvPr>
        </p:nvSpPr>
        <p:spPr/>
        <p:txBody>
          <a:bodyPr>
            <a:normAutofit/>
          </a:bodyPr>
          <a:lstStyle/>
          <a:p>
            <a:r>
              <a:rPr lang="en-US" dirty="0"/>
              <a:t>One of the common </a:t>
            </a:r>
            <a:r>
              <a:rPr lang="en-US" dirty="0" err="1"/>
              <a:t>undos</a:t>
            </a:r>
            <a:r>
              <a:rPr lang="en-US" dirty="0"/>
              <a:t> takes place when you commit too early and possibly forget to add some files, or you mess up your commit message</a:t>
            </a:r>
            <a:r>
              <a:rPr lang="en-US" dirty="0" smtClean="0"/>
              <a:t>.</a:t>
            </a:r>
          </a:p>
          <a:p>
            <a:r>
              <a:rPr lang="en-US" dirty="0" smtClean="0"/>
              <a:t>If </a:t>
            </a:r>
            <a:r>
              <a:rPr lang="en-US" dirty="0"/>
              <a:t>you want to try that commit again, you can run commit with the --amend option</a:t>
            </a:r>
            <a:r>
              <a:rPr lang="en-US" dirty="0" smtClean="0"/>
              <a:t>:</a:t>
            </a:r>
            <a:endParaRPr lang="en-US" dirty="0"/>
          </a:p>
          <a:p>
            <a:pPr marL="36900" indent="0" algn="ctr">
              <a:buNone/>
            </a:pPr>
            <a:r>
              <a:rPr lang="en-US" dirty="0" err="1" smtClean="0"/>
              <a:t>git</a:t>
            </a:r>
            <a:r>
              <a:rPr lang="en-US" dirty="0" smtClean="0"/>
              <a:t> </a:t>
            </a:r>
            <a:r>
              <a:rPr lang="en-US" dirty="0"/>
              <a:t>commit --amend</a:t>
            </a:r>
          </a:p>
          <a:p>
            <a:endParaRPr lang="en-US" dirty="0"/>
          </a:p>
        </p:txBody>
      </p:sp>
    </p:spTree>
    <p:extLst>
      <p:ext uri="{BB962C8B-B14F-4D97-AF65-F5344CB8AC3E}">
        <p14:creationId xmlns:p14="http://schemas.microsoft.com/office/powerpoint/2010/main" val="3767898346"/>
      </p:ext>
    </p:extLst>
  </p:cSld>
  <p:clrMapOvr>
    <a:masterClrMapping/>
  </p:clrMapOvr>
  <p:timing>
    <p:tnLst>
      <p:par>
        <p:cTn id="1" dur="indefinite" restart="never" nodeType="tmRoot"/>
      </p:par>
    </p:tnLst>
  </p:timing>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--amend option</a:t>
            </a:r>
          </a:p>
        </p:txBody>
      </p:sp>
      <p:sp>
        <p:nvSpPr>
          <p:cNvPr id="3" name="Content Placeholder 2"/>
          <p:cNvSpPr>
            <a:spLocks noGrp="1"/>
          </p:cNvSpPr>
          <p:nvPr>
            <p:ph idx="1"/>
          </p:nvPr>
        </p:nvSpPr>
        <p:spPr/>
        <p:txBody>
          <a:bodyPr>
            <a:normAutofit/>
          </a:bodyPr>
          <a:lstStyle/>
          <a:p>
            <a:r>
              <a:rPr lang="en-US" dirty="0" smtClean="0"/>
              <a:t>This </a:t>
            </a:r>
            <a:r>
              <a:rPr lang="en-US" dirty="0"/>
              <a:t>command takes your staging area and uses it for the commit.</a:t>
            </a:r>
          </a:p>
          <a:p>
            <a:pPr lvl="1"/>
            <a:r>
              <a:rPr lang="en-US" dirty="0"/>
              <a:t>If you’ve made no changes since your last commit (for instance, you run this command immediately after your previous commit), then your snapshot will look exactly the same, and all you’ll change is your commit message.</a:t>
            </a:r>
            <a:endParaRPr lang="en-US" dirty="0" smtClean="0">
              <a:effectLst/>
            </a:endParaRPr>
          </a:p>
          <a:p>
            <a:pPr fontAlgn="base"/>
            <a:r>
              <a:rPr lang="en-US" dirty="0" smtClean="0">
                <a:effectLst/>
              </a:rPr>
              <a:t>The </a:t>
            </a:r>
            <a:r>
              <a:rPr lang="en-US" dirty="0">
                <a:effectLst/>
              </a:rPr>
              <a:t>same commit-message editor fires up, but it already contains the message of your previous commit. </a:t>
            </a:r>
            <a:endParaRPr lang="en-US" dirty="0" smtClean="0">
              <a:effectLst/>
            </a:endParaRPr>
          </a:p>
          <a:p>
            <a:pPr fontAlgn="base"/>
            <a:r>
              <a:rPr lang="en-US" dirty="0" smtClean="0">
                <a:effectLst/>
              </a:rPr>
              <a:t>You </a:t>
            </a:r>
            <a:r>
              <a:rPr lang="en-US" dirty="0">
                <a:effectLst/>
              </a:rPr>
              <a:t>can edit the message the same as always, but it overwrites your previous commit</a:t>
            </a:r>
            <a:r>
              <a:rPr lang="en-US" dirty="0" smtClean="0">
                <a:effectLst/>
              </a:rPr>
              <a:t>.</a:t>
            </a:r>
          </a:p>
          <a:p>
            <a:pPr fontAlgn="base"/>
            <a:r>
              <a:rPr lang="en-US" dirty="0">
                <a:effectLst/>
              </a:rPr>
              <a:t>You end up with a single commit – the second commit replaces the results of the first.</a:t>
            </a:r>
          </a:p>
        </p:txBody>
      </p:sp>
    </p:spTree>
    <p:extLst>
      <p:ext uri="{BB962C8B-B14F-4D97-AF65-F5344CB8AC3E}">
        <p14:creationId xmlns:p14="http://schemas.microsoft.com/office/powerpoint/2010/main" val="1097559020"/>
      </p:ext>
    </p:extLst>
  </p:cSld>
  <p:clrMapOvr>
    <a:masterClrMapping/>
  </p:clrMapOvr>
  <p:timing>
    <p:tnLst>
      <p:par>
        <p:cTn id="1" dur="indefinite" restart="never" nodeType="tmRoot"/>
      </p:par>
    </p:tn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Exercise</a:t>
            </a:r>
            <a:endParaRPr lang="en-US" dirty="0"/>
          </a:p>
        </p:txBody>
      </p:sp>
      <p:sp>
        <p:nvSpPr>
          <p:cNvPr id="3" name="Content Placeholder 2"/>
          <p:cNvSpPr>
            <a:spLocks noGrp="1"/>
          </p:cNvSpPr>
          <p:nvPr>
            <p:ph idx="1"/>
          </p:nvPr>
        </p:nvSpPr>
        <p:spPr/>
        <p:txBody>
          <a:bodyPr/>
          <a:lstStyle/>
          <a:p>
            <a:r>
              <a:rPr lang="en-US" dirty="0" smtClean="0"/>
              <a:t>Add a file with </a:t>
            </a:r>
            <a:r>
              <a:rPr lang="en-US" dirty="0" err="1" smtClean="0"/>
              <a:t>git</a:t>
            </a:r>
            <a:r>
              <a:rPr lang="en-US" dirty="0" smtClean="0"/>
              <a:t> add *</a:t>
            </a:r>
          </a:p>
          <a:p>
            <a:r>
              <a:rPr lang="en-US" dirty="0" err="1" smtClean="0"/>
              <a:t>git</a:t>
            </a:r>
            <a:r>
              <a:rPr lang="en-US" dirty="0" smtClean="0"/>
              <a:t> commit -m “first commit”</a:t>
            </a:r>
          </a:p>
          <a:p>
            <a:r>
              <a:rPr lang="en-US" dirty="0" smtClean="0"/>
              <a:t>Add a second file</a:t>
            </a:r>
          </a:p>
          <a:p>
            <a:r>
              <a:rPr lang="en-US" dirty="0" err="1" smtClean="0"/>
              <a:t>git</a:t>
            </a:r>
            <a:r>
              <a:rPr lang="en-US" dirty="0" smtClean="0"/>
              <a:t>  commit --amend</a:t>
            </a:r>
          </a:p>
          <a:p>
            <a:endParaRPr lang="en-US" dirty="0" smtClean="0"/>
          </a:p>
        </p:txBody>
      </p:sp>
      <p:pic>
        <p:nvPicPr>
          <p:cNvPr id="4" name="Picture 3"/>
          <p:cNvPicPr>
            <a:picLocks noChangeAspect="1"/>
          </p:cNvPicPr>
          <p:nvPr/>
        </p:nvPicPr>
        <p:blipFill>
          <a:blip r:embed="rId2"/>
          <a:stretch>
            <a:fillRect/>
          </a:stretch>
        </p:blipFill>
        <p:spPr>
          <a:xfrm>
            <a:off x="2743200" y="3743897"/>
            <a:ext cx="4267200" cy="2244876"/>
          </a:xfrm>
          <a:prstGeom prst="rect">
            <a:avLst/>
          </a:prstGeom>
          <a:ln>
            <a:noFill/>
          </a:ln>
          <a:effectLst>
            <a:softEdge rad="112500"/>
          </a:effectLst>
        </p:spPr>
      </p:pic>
    </p:spTree>
    <p:extLst>
      <p:ext uri="{BB962C8B-B14F-4D97-AF65-F5344CB8AC3E}">
        <p14:creationId xmlns:p14="http://schemas.microsoft.com/office/powerpoint/2010/main" val="3160751463"/>
      </p:ext>
    </p:extLst>
  </p:cSld>
  <p:clrMapOvr>
    <a:masterClrMapping/>
  </p:clrMapOvr>
  <p:timing>
    <p:tnLst>
      <p:par>
        <p:cTn id="1" dur="indefinite" restart="never" nodeType="tmRoot"/>
      </p:par>
    </p:tnLst>
  </p:timing>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status</a:t>
            </a:r>
            <a:endParaRPr lang="en-US" dirty="0"/>
          </a:p>
        </p:txBody>
      </p:sp>
      <p:pic>
        <p:nvPicPr>
          <p:cNvPr id="4" name="Picture 3"/>
          <p:cNvPicPr>
            <a:picLocks noChangeAspect="1"/>
          </p:cNvPicPr>
          <p:nvPr/>
        </p:nvPicPr>
        <p:blipFill>
          <a:blip r:embed="rId2"/>
          <a:stretch>
            <a:fillRect/>
          </a:stretch>
        </p:blipFill>
        <p:spPr>
          <a:xfrm>
            <a:off x="1130123" y="2139883"/>
            <a:ext cx="6883754" cy="2578233"/>
          </a:xfrm>
          <a:prstGeom prst="rect">
            <a:avLst/>
          </a:prstGeom>
        </p:spPr>
      </p:pic>
    </p:spTree>
    <p:extLst>
      <p:ext uri="{BB962C8B-B14F-4D97-AF65-F5344CB8AC3E}">
        <p14:creationId xmlns:p14="http://schemas.microsoft.com/office/powerpoint/2010/main" val="3355710930"/>
      </p:ext>
    </p:extLst>
  </p:cSld>
  <p:clrMapOvr>
    <a:masterClrMapping/>
  </p:clrMapOvr>
  <p:timing>
    <p:tnLst>
      <p:par>
        <p:cTn id="1" dur="indefinite" restart="never" nodeType="tmRoot"/>
      </p:par>
    </p:tn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add and </a:t>
            </a:r>
            <a:r>
              <a:rPr lang="en-US" dirty="0" err="1" smtClean="0"/>
              <a:t>git</a:t>
            </a:r>
            <a:r>
              <a:rPr lang="en-US" dirty="0" smtClean="0"/>
              <a:t> commit </a:t>
            </a:r>
            <a:endParaRPr lang="en-US" dirty="0"/>
          </a:p>
        </p:txBody>
      </p:sp>
      <p:pic>
        <p:nvPicPr>
          <p:cNvPr id="3" name="Picture 2"/>
          <p:cNvPicPr>
            <a:picLocks noChangeAspect="1"/>
          </p:cNvPicPr>
          <p:nvPr/>
        </p:nvPicPr>
        <p:blipFill>
          <a:blip r:embed="rId2"/>
          <a:stretch>
            <a:fillRect/>
          </a:stretch>
        </p:blipFill>
        <p:spPr>
          <a:xfrm>
            <a:off x="253778" y="2012877"/>
            <a:ext cx="8636444" cy="2832246"/>
          </a:xfrm>
          <a:prstGeom prst="rect">
            <a:avLst/>
          </a:prstGeom>
        </p:spPr>
      </p:pic>
    </p:spTree>
    <p:extLst>
      <p:ext uri="{BB962C8B-B14F-4D97-AF65-F5344CB8AC3E}">
        <p14:creationId xmlns:p14="http://schemas.microsoft.com/office/powerpoint/2010/main" val="2132582438"/>
      </p:ext>
    </p:extLst>
  </p:cSld>
  <p:clrMapOvr>
    <a:masterClrMapping/>
  </p:clrMapOvr>
  <p:timing>
    <p:tnLst>
      <p:par>
        <p:cTn id="1" dur="indefinite" restart="never" nodeType="tmRoot"/>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Add another file</a:t>
            </a:r>
            <a:endParaRPr lang="en-US" dirty="0"/>
          </a:p>
        </p:txBody>
      </p:sp>
      <p:pic>
        <p:nvPicPr>
          <p:cNvPr id="3" name="Picture 2"/>
          <p:cNvPicPr>
            <a:picLocks noChangeAspect="1"/>
          </p:cNvPicPr>
          <p:nvPr/>
        </p:nvPicPr>
        <p:blipFill>
          <a:blip r:embed="rId2"/>
          <a:stretch>
            <a:fillRect/>
          </a:stretch>
        </p:blipFill>
        <p:spPr>
          <a:xfrm>
            <a:off x="2384312" y="2149409"/>
            <a:ext cx="4375375" cy="2559182"/>
          </a:xfrm>
          <a:prstGeom prst="rect">
            <a:avLst/>
          </a:prstGeom>
          <a:ln>
            <a:noFill/>
          </a:ln>
          <a:effectLst>
            <a:softEdge rad="112500"/>
          </a:effectLst>
        </p:spPr>
      </p:pic>
    </p:spTree>
    <p:extLst>
      <p:ext uri="{BB962C8B-B14F-4D97-AF65-F5344CB8AC3E}">
        <p14:creationId xmlns:p14="http://schemas.microsoft.com/office/powerpoint/2010/main" val="107785335"/>
      </p:ext>
    </p:extLst>
  </p:cSld>
  <p:clrMapOvr>
    <a:masterClrMapping/>
  </p:clrMapOvr>
  <p:timing>
    <p:tnLst>
      <p:par>
        <p:cTn id="1" dur="indefinite" restart="never" nodeType="tmRoot"/>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add the new file</a:t>
            </a:r>
            <a:endParaRPr lang="en-US" dirty="0"/>
          </a:p>
        </p:txBody>
      </p:sp>
      <p:pic>
        <p:nvPicPr>
          <p:cNvPr id="3" name="Picture 2"/>
          <p:cNvPicPr>
            <a:picLocks noChangeAspect="1"/>
          </p:cNvPicPr>
          <p:nvPr/>
        </p:nvPicPr>
        <p:blipFill>
          <a:blip r:embed="rId2"/>
          <a:stretch>
            <a:fillRect/>
          </a:stretch>
        </p:blipFill>
        <p:spPr>
          <a:xfrm>
            <a:off x="859416" y="1752600"/>
            <a:ext cx="7417181" cy="3721291"/>
          </a:xfrm>
          <a:prstGeom prst="rect">
            <a:avLst/>
          </a:prstGeom>
        </p:spPr>
      </p:pic>
    </p:spTree>
    <p:extLst>
      <p:ext uri="{BB962C8B-B14F-4D97-AF65-F5344CB8AC3E}">
        <p14:creationId xmlns:p14="http://schemas.microsoft.com/office/powerpoint/2010/main" val="1643596280"/>
      </p:ext>
    </p:extLst>
  </p:cSld>
  <p:clrMapOvr>
    <a:masterClrMapping/>
  </p:clrMapOvr>
  <p:timing>
    <p:tnLst>
      <p:par>
        <p:cTn id="1" dur="indefinite" restart="never" nodeType="tmRoot"/>
      </p:par>
    </p:tn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commit --amend</a:t>
            </a:r>
            <a:endParaRPr lang="en-US" dirty="0"/>
          </a:p>
        </p:txBody>
      </p:sp>
      <p:pic>
        <p:nvPicPr>
          <p:cNvPr id="3" name="Picture 2"/>
          <p:cNvPicPr>
            <a:picLocks noChangeAspect="1"/>
          </p:cNvPicPr>
          <p:nvPr/>
        </p:nvPicPr>
        <p:blipFill>
          <a:blip r:embed="rId2"/>
          <a:stretch>
            <a:fillRect/>
          </a:stretch>
        </p:blipFill>
        <p:spPr>
          <a:xfrm>
            <a:off x="914400" y="1519117"/>
            <a:ext cx="7264773" cy="1308167"/>
          </a:xfrm>
          <a:prstGeom prst="rect">
            <a:avLst/>
          </a:prstGeom>
        </p:spPr>
      </p:pic>
      <p:pic>
        <p:nvPicPr>
          <p:cNvPr id="4" name="Picture 3"/>
          <p:cNvPicPr>
            <a:picLocks noChangeAspect="1"/>
          </p:cNvPicPr>
          <p:nvPr/>
        </p:nvPicPr>
        <p:blipFill>
          <a:blip r:embed="rId3"/>
          <a:stretch>
            <a:fillRect/>
          </a:stretch>
        </p:blipFill>
        <p:spPr>
          <a:xfrm>
            <a:off x="928089" y="2935461"/>
            <a:ext cx="3163194" cy="1560339"/>
          </a:xfrm>
          <a:prstGeom prst="rect">
            <a:avLst/>
          </a:prstGeom>
        </p:spPr>
      </p:pic>
      <p:pic>
        <p:nvPicPr>
          <p:cNvPr id="5" name="Picture 4"/>
          <p:cNvPicPr>
            <a:picLocks noChangeAspect="1"/>
          </p:cNvPicPr>
          <p:nvPr/>
        </p:nvPicPr>
        <p:blipFill>
          <a:blip r:embed="rId4"/>
          <a:stretch>
            <a:fillRect/>
          </a:stretch>
        </p:blipFill>
        <p:spPr>
          <a:xfrm>
            <a:off x="5170455" y="2935461"/>
            <a:ext cx="3008718" cy="1484139"/>
          </a:xfrm>
          <a:prstGeom prst="rect">
            <a:avLst/>
          </a:prstGeom>
        </p:spPr>
      </p:pic>
      <p:sp>
        <p:nvSpPr>
          <p:cNvPr id="6" name="Right Arrow 5"/>
          <p:cNvSpPr/>
          <p:nvPr/>
        </p:nvSpPr>
        <p:spPr>
          <a:xfrm>
            <a:off x="4267200" y="3508201"/>
            <a:ext cx="838200" cy="45720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p:cNvPicPr>
            <a:picLocks noChangeAspect="1"/>
          </p:cNvPicPr>
          <p:nvPr/>
        </p:nvPicPr>
        <p:blipFill>
          <a:blip r:embed="rId5"/>
          <a:stretch>
            <a:fillRect/>
          </a:stretch>
        </p:blipFill>
        <p:spPr>
          <a:xfrm>
            <a:off x="903436" y="4603977"/>
            <a:ext cx="7239000" cy="1493954"/>
          </a:xfrm>
          <a:prstGeom prst="rect">
            <a:avLst/>
          </a:prstGeom>
        </p:spPr>
      </p:pic>
    </p:spTree>
    <p:extLst>
      <p:ext uri="{BB962C8B-B14F-4D97-AF65-F5344CB8AC3E}">
        <p14:creationId xmlns:p14="http://schemas.microsoft.com/office/powerpoint/2010/main" val="4135212974"/>
      </p:ext>
    </p:extLst>
  </p:cSld>
  <p:clrMapOvr>
    <a:masterClrMapping/>
  </p:clrMapOvr>
  <p:timing>
    <p:tnLst>
      <p:par>
        <p:cTn id="1" dur="indefinite" restart="never" nodeType="tmRoot"/>
      </p:par>
    </p:tn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a:bodyPr>
          <a:lstStyle/>
          <a:p>
            <a:r>
              <a:rPr lang="en-US" dirty="0" err="1"/>
              <a:t>Unstaging</a:t>
            </a:r>
            <a:r>
              <a:rPr lang="en-US" dirty="0"/>
              <a:t> a Staged </a:t>
            </a:r>
            <a:r>
              <a:rPr lang="en-US" dirty="0" smtClean="0"/>
              <a:t>File</a:t>
            </a:r>
            <a:endParaRPr lang="en-US" dirty="0"/>
          </a:p>
        </p:txBody>
      </p:sp>
      <p:sp>
        <p:nvSpPr>
          <p:cNvPr id="4" name="Content Placeholder 3"/>
          <p:cNvSpPr>
            <a:spLocks noGrp="1"/>
          </p:cNvSpPr>
          <p:nvPr>
            <p:ph idx="1"/>
          </p:nvPr>
        </p:nvSpPr>
        <p:spPr/>
        <p:txBody>
          <a:bodyPr/>
          <a:lstStyle/>
          <a:p>
            <a:r>
              <a:rPr lang="en-US" dirty="0" smtClean="0"/>
              <a:t>Let’s </a:t>
            </a:r>
            <a:r>
              <a:rPr lang="en-US" dirty="0"/>
              <a:t>say you’ve changed two files and want to commit them as two separate changes, but you accidentally type </a:t>
            </a:r>
            <a:r>
              <a:rPr lang="en-US" dirty="0" err="1"/>
              <a:t>git</a:t>
            </a:r>
            <a:r>
              <a:rPr lang="en-US" dirty="0"/>
              <a:t> add * and stage them both. </a:t>
            </a:r>
            <a:endParaRPr lang="en-US" dirty="0" smtClean="0"/>
          </a:p>
          <a:p>
            <a:r>
              <a:rPr lang="en-US" dirty="0" smtClean="0"/>
              <a:t>How </a:t>
            </a:r>
            <a:r>
              <a:rPr lang="en-US" dirty="0"/>
              <a:t>can you </a:t>
            </a:r>
            <a:r>
              <a:rPr lang="en-US" dirty="0" err="1"/>
              <a:t>unstage</a:t>
            </a:r>
            <a:r>
              <a:rPr lang="en-US" dirty="0"/>
              <a:t> one of the two? </a:t>
            </a:r>
            <a:endParaRPr lang="en-US" dirty="0" smtClean="0"/>
          </a:p>
          <a:p>
            <a:pPr marL="36900" indent="0" algn="ctr">
              <a:buNone/>
            </a:pPr>
            <a:r>
              <a:rPr lang="en-US" dirty="0" err="1">
                <a:effectLst/>
              </a:rPr>
              <a:t>git</a:t>
            </a:r>
            <a:r>
              <a:rPr lang="en-US" dirty="0">
                <a:effectLst/>
              </a:rPr>
              <a:t> reset HEAD &lt;file</a:t>
            </a:r>
            <a:r>
              <a:rPr lang="en-US" dirty="0" smtClean="0">
                <a:effectLst/>
              </a:rPr>
              <a:t>&gt;...</a:t>
            </a:r>
          </a:p>
          <a:p>
            <a:endParaRPr lang="en-US" dirty="0"/>
          </a:p>
        </p:txBody>
      </p:sp>
    </p:spTree>
    <p:extLst>
      <p:ext uri="{BB962C8B-B14F-4D97-AF65-F5344CB8AC3E}">
        <p14:creationId xmlns:p14="http://schemas.microsoft.com/office/powerpoint/2010/main" val="223513000"/>
      </p:ext>
    </p:extLst>
  </p:cSld>
  <p:clrMapOvr>
    <a:masterClrMapping/>
  </p:clrMapOvr>
  <p:timing>
    <p:tnLst>
      <p:par>
        <p:cTn id="1" dur="indefinite" restart="never" nodeType="tmRoot"/>
      </p:par>
    </p:tn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err="1"/>
              <a:t>Unmodifying</a:t>
            </a:r>
            <a:r>
              <a:rPr lang="en-US" dirty="0"/>
              <a:t> a Modified </a:t>
            </a:r>
            <a:r>
              <a:rPr lang="en-US" dirty="0" smtClean="0"/>
              <a:t>File</a:t>
            </a:r>
            <a:endParaRPr lang="en-US" dirty="0"/>
          </a:p>
        </p:txBody>
      </p:sp>
      <p:sp>
        <p:nvSpPr>
          <p:cNvPr id="3" name="Content Placeholder 2"/>
          <p:cNvSpPr>
            <a:spLocks noGrp="1"/>
          </p:cNvSpPr>
          <p:nvPr>
            <p:ph idx="1"/>
          </p:nvPr>
        </p:nvSpPr>
        <p:spPr/>
        <p:txBody>
          <a:bodyPr/>
          <a:lstStyle/>
          <a:p>
            <a:r>
              <a:rPr lang="en-US" dirty="0" smtClean="0"/>
              <a:t>What </a:t>
            </a:r>
            <a:r>
              <a:rPr lang="en-US" dirty="0"/>
              <a:t>if you realize that you don’t want to keep your changes to </a:t>
            </a:r>
            <a:r>
              <a:rPr lang="en-US" dirty="0" smtClean="0"/>
              <a:t>a file</a:t>
            </a:r>
            <a:r>
              <a:rPr lang="en-US" dirty="0"/>
              <a:t>? </a:t>
            </a:r>
            <a:endParaRPr lang="en-US" dirty="0" smtClean="0"/>
          </a:p>
          <a:p>
            <a:r>
              <a:rPr lang="en-US" dirty="0" smtClean="0"/>
              <a:t>How </a:t>
            </a:r>
            <a:r>
              <a:rPr lang="en-US" dirty="0"/>
              <a:t>can you easily </a:t>
            </a:r>
            <a:r>
              <a:rPr lang="en-US" dirty="0" err="1"/>
              <a:t>unmodify</a:t>
            </a:r>
            <a:r>
              <a:rPr lang="en-US" dirty="0"/>
              <a:t> it – revert it back to what it looked like when you last </a:t>
            </a:r>
            <a:r>
              <a:rPr lang="en-US" dirty="0" smtClean="0"/>
              <a:t>committed?</a:t>
            </a:r>
          </a:p>
          <a:p>
            <a:pPr marL="36900" indent="0" algn="ctr">
              <a:buNone/>
            </a:pPr>
            <a:r>
              <a:rPr lang="en-US" dirty="0" err="1"/>
              <a:t>git</a:t>
            </a:r>
            <a:r>
              <a:rPr lang="en-US" dirty="0"/>
              <a:t> checkout -- &lt;file</a:t>
            </a:r>
            <a:r>
              <a:rPr lang="en-US" dirty="0" smtClean="0"/>
              <a:t>&gt;...</a:t>
            </a:r>
          </a:p>
          <a:p>
            <a:endParaRPr lang="en-US" dirty="0"/>
          </a:p>
        </p:txBody>
      </p:sp>
    </p:spTree>
    <p:extLst>
      <p:ext uri="{BB962C8B-B14F-4D97-AF65-F5344CB8AC3E}">
        <p14:creationId xmlns:p14="http://schemas.microsoft.com/office/powerpoint/2010/main" val="4140134545"/>
      </p:ext>
    </p:extLst>
  </p:cSld>
  <p:clrMapOvr>
    <a:masterClrMapping/>
  </p:clrMapOvr>
  <p:timing>
    <p:tnLst>
      <p:par>
        <p:cTn id="1" dur="indefinite" restart="never" nodeType="tmRoot"/>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Dangers of </a:t>
            </a:r>
            <a:r>
              <a:rPr lang="en-US" dirty="0" err="1" smtClean="0"/>
              <a:t>git</a:t>
            </a:r>
            <a:r>
              <a:rPr lang="en-US" dirty="0" smtClean="0"/>
              <a:t> checkout</a:t>
            </a:r>
            <a:endParaRPr lang="en-US" dirty="0"/>
          </a:p>
        </p:txBody>
      </p:sp>
      <p:sp>
        <p:nvSpPr>
          <p:cNvPr id="3" name="Content Placeholder 2"/>
          <p:cNvSpPr>
            <a:spLocks noGrp="1"/>
          </p:cNvSpPr>
          <p:nvPr>
            <p:ph idx="1"/>
          </p:nvPr>
        </p:nvSpPr>
        <p:spPr/>
        <p:txBody>
          <a:bodyPr>
            <a:normAutofit/>
          </a:bodyPr>
          <a:lstStyle/>
          <a:p>
            <a:r>
              <a:rPr lang="en-US" dirty="0"/>
              <a:t>It’s important to understand that </a:t>
            </a:r>
            <a:r>
              <a:rPr lang="en-US" dirty="0" err="1"/>
              <a:t>git</a:t>
            </a:r>
            <a:r>
              <a:rPr lang="en-US" dirty="0"/>
              <a:t> checkout -- [file] is a dangerous command. </a:t>
            </a:r>
            <a:endParaRPr lang="en-US" dirty="0" smtClean="0"/>
          </a:p>
          <a:p>
            <a:r>
              <a:rPr lang="en-US" dirty="0" smtClean="0"/>
              <a:t>Any </a:t>
            </a:r>
            <a:r>
              <a:rPr lang="en-US" dirty="0"/>
              <a:t>changes you made to that file are gone – you just copied another file over it. </a:t>
            </a:r>
            <a:endParaRPr lang="en-US" dirty="0" smtClean="0"/>
          </a:p>
          <a:p>
            <a:r>
              <a:rPr lang="en-US" dirty="0" smtClean="0"/>
              <a:t>Don’t </a:t>
            </a:r>
            <a:r>
              <a:rPr lang="en-US" dirty="0"/>
              <a:t>ever use this command unless you absolutely know that you don’t want the file</a:t>
            </a:r>
            <a:r>
              <a:rPr lang="en-US" dirty="0" smtClean="0"/>
              <a:t>.</a:t>
            </a:r>
            <a:endParaRPr lang="en-US" dirty="0"/>
          </a:p>
        </p:txBody>
      </p:sp>
    </p:spTree>
    <p:extLst>
      <p:ext uri="{BB962C8B-B14F-4D97-AF65-F5344CB8AC3E}">
        <p14:creationId xmlns:p14="http://schemas.microsoft.com/office/powerpoint/2010/main" val="3150255959"/>
      </p:ext>
    </p:extLst>
  </p:cSld>
  <p:clrMapOvr>
    <a:masterClrMapping/>
  </p:clrMapOvr>
  <p:timing>
    <p:tnLst>
      <p:par>
        <p:cTn id="1" dur="indefinite" restart="never" nodeType="tmRoot"/>
      </p:par>
    </p:tn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Dangers of </a:t>
            </a:r>
            <a:r>
              <a:rPr lang="en-US" dirty="0" err="1"/>
              <a:t>git</a:t>
            </a:r>
            <a:r>
              <a:rPr lang="en-US" dirty="0"/>
              <a:t> checkout</a:t>
            </a:r>
          </a:p>
        </p:txBody>
      </p:sp>
      <p:sp>
        <p:nvSpPr>
          <p:cNvPr id="3" name="Content Placeholder 2"/>
          <p:cNvSpPr>
            <a:spLocks noGrp="1"/>
          </p:cNvSpPr>
          <p:nvPr>
            <p:ph idx="1"/>
          </p:nvPr>
        </p:nvSpPr>
        <p:spPr/>
        <p:txBody>
          <a:bodyPr>
            <a:normAutofit/>
          </a:bodyPr>
          <a:lstStyle/>
          <a:p>
            <a:r>
              <a:rPr lang="en-US" dirty="0" smtClean="0"/>
              <a:t>If you would like to keep the changes you’ve made to that file but still need to get it out of the way for now, we’ll go over stashing and branching in Chapter 3; these are generally better ways to go.</a:t>
            </a:r>
          </a:p>
        </p:txBody>
      </p:sp>
    </p:spTree>
    <p:extLst>
      <p:ext uri="{BB962C8B-B14F-4D97-AF65-F5344CB8AC3E}">
        <p14:creationId xmlns:p14="http://schemas.microsoft.com/office/powerpoint/2010/main" val="2844969884"/>
      </p:ext>
    </p:extLst>
  </p:cSld>
  <p:clrMapOvr>
    <a:masterClrMapping/>
  </p:clrMapOvr>
  <p:timing>
    <p:tnLst>
      <p:par>
        <p:cTn id="1" dur="indefinite" restart="never" nodeType="tmRoot"/>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Dangers of </a:t>
            </a:r>
            <a:r>
              <a:rPr lang="en-US" dirty="0" err="1"/>
              <a:t>git</a:t>
            </a:r>
            <a:r>
              <a:rPr lang="en-US" dirty="0"/>
              <a:t> checkout</a:t>
            </a:r>
          </a:p>
        </p:txBody>
      </p:sp>
      <p:sp>
        <p:nvSpPr>
          <p:cNvPr id="3" name="Content Placeholder 2"/>
          <p:cNvSpPr>
            <a:spLocks noGrp="1"/>
          </p:cNvSpPr>
          <p:nvPr>
            <p:ph idx="1"/>
          </p:nvPr>
        </p:nvSpPr>
        <p:spPr/>
        <p:txBody>
          <a:bodyPr>
            <a:normAutofit/>
          </a:bodyPr>
          <a:lstStyle/>
          <a:p>
            <a:r>
              <a:rPr lang="en-US" dirty="0" smtClean="0"/>
              <a:t>Anything </a:t>
            </a:r>
            <a:r>
              <a:rPr lang="en-US" dirty="0"/>
              <a:t>that is committed in </a:t>
            </a:r>
            <a:r>
              <a:rPr lang="en-US" dirty="0" err="1"/>
              <a:t>Git</a:t>
            </a:r>
            <a:r>
              <a:rPr lang="en-US" dirty="0"/>
              <a:t> can almost always be recovered. </a:t>
            </a:r>
            <a:endParaRPr lang="en-US" dirty="0" smtClean="0"/>
          </a:p>
          <a:p>
            <a:r>
              <a:rPr lang="en-US" dirty="0" smtClean="0"/>
              <a:t>Even commits </a:t>
            </a:r>
            <a:r>
              <a:rPr lang="en-US" dirty="0"/>
              <a:t>that were on branches that were deleted or commits that were overwritten with an --amend commit can be recovered (see “Data Recovery” for data recovery). </a:t>
            </a:r>
            <a:endParaRPr lang="en-US" dirty="0" smtClean="0"/>
          </a:p>
          <a:p>
            <a:r>
              <a:rPr lang="en-US" dirty="0" smtClean="0"/>
              <a:t>However</a:t>
            </a:r>
            <a:r>
              <a:rPr lang="en-US" dirty="0"/>
              <a:t>, anything you lose that was never committed is likely never to be seen again.</a:t>
            </a:r>
          </a:p>
        </p:txBody>
      </p:sp>
    </p:spTree>
    <p:extLst>
      <p:ext uri="{BB962C8B-B14F-4D97-AF65-F5344CB8AC3E}">
        <p14:creationId xmlns:p14="http://schemas.microsoft.com/office/powerpoint/2010/main" val="3161525459"/>
      </p:ext>
    </p:extLst>
  </p:cSld>
  <p:clrMapOvr>
    <a:masterClrMapping/>
  </p:clrMapOvr>
  <p:timing>
    <p:tnLst>
      <p:par>
        <p:cTn id="1" dur="indefinite" restart="never" nodeType="tmRoot"/>
      </p:par>
    </p:tn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dirty="0" smtClean="0">
                <a:effectLst/>
              </a:rPr>
              <a:t>Working </a:t>
            </a:r>
            <a:r>
              <a:rPr lang="en-US" dirty="0">
                <a:effectLst/>
              </a:rPr>
              <a:t>with </a:t>
            </a:r>
            <a:r>
              <a:rPr lang="en-US" dirty="0" smtClean="0">
                <a:effectLst/>
              </a:rPr>
              <a:t>Remotes</a:t>
            </a:r>
            <a:endParaRPr lang="en-US" dirty="0"/>
          </a:p>
        </p:txBody>
      </p:sp>
      <p:sp>
        <p:nvSpPr>
          <p:cNvPr id="5" name="Text Placeholder 4"/>
          <p:cNvSpPr>
            <a:spLocks noGrp="1"/>
          </p:cNvSpPr>
          <p:nvPr>
            <p:ph type="body" idx="1"/>
          </p:nvPr>
        </p:nvSpPr>
        <p:spPr/>
        <p:txBody>
          <a:bodyPr/>
          <a:lstStyle/>
          <a:p>
            <a:r>
              <a:rPr lang="en-US" dirty="0">
                <a:effectLst/>
              </a:rPr>
              <a:t>2.5 </a:t>
            </a:r>
            <a:r>
              <a:rPr lang="en-US" dirty="0" err="1">
                <a:effectLst/>
              </a:rPr>
              <a:t>Git</a:t>
            </a:r>
            <a:r>
              <a:rPr lang="en-US" dirty="0">
                <a:effectLst/>
              </a:rPr>
              <a:t> </a:t>
            </a:r>
            <a:r>
              <a:rPr lang="en-US" dirty="0" smtClean="0">
                <a:effectLst/>
              </a:rPr>
              <a:t>Basics</a:t>
            </a:r>
            <a:endParaRPr lang="en-US" dirty="0"/>
          </a:p>
        </p:txBody>
      </p:sp>
    </p:spTree>
    <p:extLst>
      <p:ext uri="{BB962C8B-B14F-4D97-AF65-F5344CB8AC3E}">
        <p14:creationId xmlns:p14="http://schemas.microsoft.com/office/powerpoint/2010/main" val="167798259"/>
      </p:ext>
    </p:extLst>
  </p:cSld>
  <p:clrMapOvr>
    <a:masterClrMapping/>
  </p:clrMapOvr>
  <p:timing>
    <p:tnLst>
      <p:par>
        <p:cTn id="1" dur="indefinite" restart="never" nodeType="tmRoot"/>
      </p:par>
    </p:tnLst>
  </p:timing>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normAutofit/>
          </a:bodyPr>
          <a:lstStyle/>
          <a:p>
            <a:r>
              <a:rPr lang="en-US" b="1" dirty="0">
                <a:effectLst/>
              </a:rPr>
              <a:t>Working with </a:t>
            </a:r>
            <a:r>
              <a:rPr lang="en-US" b="1" dirty="0" smtClean="0">
                <a:effectLst/>
              </a:rPr>
              <a:t>Remotes</a:t>
            </a:r>
            <a:endParaRPr lang="en-US" dirty="0"/>
          </a:p>
        </p:txBody>
      </p:sp>
      <p:sp>
        <p:nvSpPr>
          <p:cNvPr id="5" name="Content Placeholder 4"/>
          <p:cNvSpPr>
            <a:spLocks noGrp="1"/>
          </p:cNvSpPr>
          <p:nvPr>
            <p:ph idx="1"/>
          </p:nvPr>
        </p:nvSpPr>
        <p:spPr/>
        <p:txBody>
          <a:bodyPr>
            <a:normAutofit/>
          </a:bodyPr>
          <a:lstStyle/>
          <a:p>
            <a:pPr fontAlgn="base"/>
            <a:r>
              <a:rPr lang="en-US" dirty="0" smtClean="0">
                <a:effectLst/>
              </a:rPr>
              <a:t>Remote </a:t>
            </a:r>
            <a:r>
              <a:rPr lang="en-US" dirty="0">
                <a:effectLst/>
              </a:rPr>
              <a:t>repositories are versions of your project that are hosted on the Internet or network somewhere. </a:t>
            </a:r>
            <a:endParaRPr lang="en-US" dirty="0" smtClean="0">
              <a:effectLst/>
            </a:endParaRPr>
          </a:p>
          <a:p>
            <a:pPr fontAlgn="base"/>
            <a:r>
              <a:rPr lang="en-US" dirty="0" smtClean="0">
                <a:effectLst/>
              </a:rPr>
              <a:t>You </a:t>
            </a:r>
            <a:r>
              <a:rPr lang="en-US" dirty="0">
                <a:effectLst/>
              </a:rPr>
              <a:t>can have several of them, each of which generally is either read-only or read/write for you. </a:t>
            </a:r>
            <a:endParaRPr lang="en-US" dirty="0" smtClean="0">
              <a:effectLst/>
            </a:endParaRPr>
          </a:p>
          <a:p>
            <a:pPr fontAlgn="base"/>
            <a:r>
              <a:rPr lang="en-US" dirty="0" smtClean="0">
                <a:effectLst/>
              </a:rPr>
              <a:t>Collaborating </a:t>
            </a:r>
            <a:r>
              <a:rPr lang="en-US" dirty="0">
                <a:effectLst/>
              </a:rPr>
              <a:t>with others involves managing these remote repositories and pushing and pulling data to and from them when you need to share work. </a:t>
            </a:r>
            <a:endParaRPr lang="en-US" dirty="0"/>
          </a:p>
        </p:txBody>
      </p:sp>
    </p:spTree>
    <p:extLst>
      <p:ext uri="{BB962C8B-B14F-4D97-AF65-F5344CB8AC3E}">
        <p14:creationId xmlns:p14="http://schemas.microsoft.com/office/powerpoint/2010/main" val="1758153864"/>
      </p:ext>
    </p:extLst>
  </p:cSld>
  <p:clrMapOvr>
    <a:masterClrMapping/>
  </p:clrMapOvr>
  <p:timing>
    <p:tnLst>
      <p:par>
        <p:cTn id="1" dur="indefinite" restart="never" nodeType="tmRoot"/>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Managing </a:t>
            </a:r>
            <a:r>
              <a:rPr lang="en-US" dirty="0" smtClean="0">
                <a:effectLst/>
              </a:rPr>
              <a:t>Remote Repositories</a:t>
            </a:r>
            <a:endParaRPr lang="en-US" dirty="0"/>
          </a:p>
        </p:txBody>
      </p:sp>
      <p:sp>
        <p:nvSpPr>
          <p:cNvPr id="3" name="Content Placeholder 2"/>
          <p:cNvSpPr>
            <a:spLocks noGrp="1"/>
          </p:cNvSpPr>
          <p:nvPr>
            <p:ph idx="1"/>
          </p:nvPr>
        </p:nvSpPr>
        <p:spPr/>
        <p:txBody>
          <a:bodyPr/>
          <a:lstStyle/>
          <a:p>
            <a:pPr marL="36900" indent="0">
              <a:buNone/>
            </a:pPr>
            <a:r>
              <a:rPr lang="en-US" dirty="0" smtClean="0">
                <a:effectLst/>
              </a:rPr>
              <a:t>Knowing </a:t>
            </a:r>
            <a:r>
              <a:rPr lang="en-US" dirty="0">
                <a:effectLst/>
              </a:rPr>
              <a:t>how </a:t>
            </a:r>
            <a:r>
              <a:rPr lang="en-US" dirty="0" smtClean="0">
                <a:effectLst/>
              </a:rPr>
              <a:t>to:</a:t>
            </a:r>
          </a:p>
          <a:p>
            <a:r>
              <a:rPr lang="en-US" dirty="0" smtClean="0">
                <a:effectLst/>
              </a:rPr>
              <a:t>Add </a:t>
            </a:r>
            <a:r>
              <a:rPr lang="en-US" dirty="0">
                <a:effectLst/>
              </a:rPr>
              <a:t>remote </a:t>
            </a:r>
            <a:r>
              <a:rPr lang="en-US" dirty="0" smtClean="0">
                <a:effectLst/>
              </a:rPr>
              <a:t>repositories</a:t>
            </a:r>
          </a:p>
          <a:p>
            <a:r>
              <a:rPr lang="en-US" dirty="0" smtClean="0">
                <a:effectLst/>
              </a:rPr>
              <a:t>Remove </a:t>
            </a:r>
            <a:r>
              <a:rPr lang="en-US" dirty="0">
                <a:effectLst/>
              </a:rPr>
              <a:t>remotes that are no longer </a:t>
            </a:r>
            <a:r>
              <a:rPr lang="en-US" dirty="0" smtClean="0">
                <a:effectLst/>
              </a:rPr>
              <a:t>valid</a:t>
            </a:r>
          </a:p>
          <a:p>
            <a:r>
              <a:rPr lang="en-US" dirty="0" smtClean="0">
                <a:effectLst/>
              </a:rPr>
              <a:t>Manage </a:t>
            </a:r>
            <a:r>
              <a:rPr lang="en-US" dirty="0">
                <a:effectLst/>
              </a:rPr>
              <a:t>various remote branches and define them as being tracked or </a:t>
            </a:r>
            <a:r>
              <a:rPr lang="en-US" dirty="0" smtClean="0">
                <a:effectLst/>
              </a:rPr>
              <a:t>not</a:t>
            </a:r>
          </a:p>
          <a:p>
            <a:endParaRPr lang="en-US" dirty="0"/>
          </a:p>
        </p:txBody>
      </p:sp>
    </p:spTree>
    <p:extLst>
      <p:ext uri="{BB962C8B-B14F-4D97-AF65-F5344CB8AC3E}">
        <p14:creationId xmlns:p14="http://schemas.microsoft.com/office/powerpoint/2010/main" val="4034025553"/>
      </p:ext>
    </p:extLst>
  </p:cSld>
  <p:clrMapOvr>
    <a:masterClrMapping/>
  </p:clrMapOvr>
  <p:timing>
    <p:tnLst>
      <p:par>
        <p:cTn id="1" dur="indefinite" restart="never" nodeType="tmRoot"/>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Showing Your </a:t>
            </a:r>
            <a:r>
              <a:rPr lang="en-US" dirty="0" smtClean="0"/>
              <a:t>Remotes</a:t>
            </a:r>
            <a:endParaRPr lang="en-US" dirty="0"/>
          </a:p>
        </p:txBody>
      </p:sp>
      <p:sp>
        <p:nvSpPr>
          <p:cNvPr id="3" name="Content Placeholder 2"/>
          <p:cNvSpPr>
            <a:spLocks noGrp="1"/>
          </p:cNvSpPr>
          <p:nvPr>
            <p:ph idx="1"/>
          </p:nvPr>
        </p:nvSpPr>
        <p:spPr/>
        <p:txBody>
          <a:bodyPr/>
          <a:lstStyle/>
          <a:p>
            <a:r>
              <a:rPr lang="en-US" dirty="0" smtClean="0"/>
              <a:t>To </a:t>
            </a:r>
            <a:r>
              <a:rPr lang="en-US" dirty="0"/>
              <a:t>see which remote servers you have configured, you can run the </a:t>
            </a:r>
            <a:r>
              <a:rPr lang="en-US" dirty="0" err="1"/>
              <a:t>git</a:t>
            </a:r>
            <a:r>
              <a:rPr lang="en-US" dirty="0"/>
              <a:t> remote command. </a:t>
            </a:r>
            <a:endParaRPr lang="en-US" dirty="0" smtClean="0"/>
          </a:p>
          <a:p>
            <a:r>
              <a:rPr lang="en-US" dirty="0" smtClean="0"/>
              <a:t>It </a:t>
            </a:r>
            <a:r>
              <a:rPr lang="en-US" dirty="0"/>
              <a:t>lists the </a:t>
            </a:r>
            <a:r>
              <a:rPr lang="en-US" dirty="0" err="1"/>
              <a:t>shortnames</a:t>
            </a:r>
            <a:r>
              <a:rPr lang="en-US" dirty="0"/>
              <a:t> of each remote handle you’ve specified. </a:t>
            </a:r>
            <a:endParaRPr lang="en-US" dirty="0" smtClean="0"/>
          </a:p>
          <a:p>
            <a:r>
              <a:rPr lang="en-US" dirty="0" smtClean="0"/>
              <a:t>If you’ve </a:t>
            </a:r>
            <a:r>
              <a:rPr lang="en-US" dirty="0"/>
              <a:t>cloned your repository, you should at least see origin – that is the default name </a:t>
            </a:r>
            <a:r>
              <a:rPr lang="en-US" dirty="0" err="1"/>
              <a:t>Git</a:t>
            </a:r>
            <a:r>
              <a:rPr lang="en-US" dirty="0"/>
              <a:t> gives to the server you cloned </a:t>
            </a:r>
            <a:r>
              <a:rPr lang="en-US" dirty="0" smtClean="0"/>
              <a:t>from.</a:t>
            </a:r>
            <a:endParaRPr lang="en-US" dirty="0"/>
          </a:p>
        </p:txBody>
      </p:sp>
      <p:pic>
        <p:nvPicPr>
          <p:cNvPr id="5" name="Picture 4"/>
          <p:cNvPicPr>
            <a:picLocks noChangeAspect="1"/>
          </p:cNvPicPr>
          <p:nvPr/>
        </p:nvPicPr>
        <p:blipFill>
          <a:blip r:embed="rId2"/>
          <a:stretch>
            <a:fillRect/>
          </a:stretch>
        </p:blipFill>
        <p:spPr>
          <a:xfrm>
            <a:off x="1545251" y="3962400"/>
            <a:ext cx="6045511" cy="1308167"/>
          </a:xfrm>
          <a:prstGeom prst="rect">
            <a:avLst/>
          </a:prstGeom>
        </p:spPr>
      </p:pic>
    </p:spTree>
    <p:extLst>
      <p:ext uri="{BB962C8B-B14F-4D97-AF65-F5344CB8AC3E}">
        <p14:creationId xmlns:p14="http://schemas.microsoft.com/office/powerpoint/2010/main" val="2648042548"/>
      </p:ext>
    </p:extLst>
  </p:cSld>
  <p:clrMapOvr>
    <a:masterClrMapping/>
  </p:clrMapOvr>
  <p:timing>
    <p:tnLst>
      <p:par>
        <p:cTn id="1" dur="indefinite" restart="never" nodeType="tmRoot"/>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remote -v</a:t>
            </a:r>
            <a:endParaRPr lang="en-US" dirty="0"/>
          </a:p>
        </p:txBody>
      </p:sp>
      <p:sp>
        <p:nvSpPr>
          <p:cNvPr id="3" name="Content Placeholder 2"/>
          <p:cNvSpPr>
            <a:spLocks noGrp="1"/>
          </p:cNvSpPr>
          <p:nvPr>
            <p:ph idx="1"/>
          </p:nvPr>
        </p:nvSpPr>
        <p:spPr>
          <a:xfrm>
            <a:off x="685346" y="1732451"/>
            <a:ext cx="7765322" cy="1086949"/>
          </a:xfrm>
        </p:spPr>
        <p:txBody>
          <a:bodyPr/>
          <a:lstStyle/>
          <a:p>
            <a:r>
              <a:rPr lang="en-US" dirty="0"/>
              <a:t>You can also specify -v, which shows you the URLs that </a:t>
            </a:r>
            <a:r>
              <a:rPr lang="en-US" dirty="0" err="1"/>
              <a:t>Git</a:t>
            </a:r>
            <a:r>
              <a:rPr lang="en-US" dirty="0"/>
              <a:t> has stored for the </a:t>
            </a:r>
            <a:r>
              <a:rPr lang="en-US" dirty="0" err="1"/>
              <a:t>shortname</a:t>
            </a:r>
            <a:r>
              <a:rPr lang="en-US" dirty="0"/>
              <a:t> to be used when reading and writing to that remote:</a:t>
            </a:r>
          </a:p>
        </p:txBody>
      </p:sp>
      <p:pic>
        <p:nvPicPr>
          <p:cNvPr id="5" name="Picture 4"/>
          <p:cNvPicPr>
            <a:picLocks noChangeAspect="1"/>
          </p:cNvPicPr>
          <p:nvPr/>
        </p:nvPicPr>
        <p:blipFill>
          <a:blip r:embed="rId2"/>
          <a:stretch>
            <a:fillRect/>
          </a:stretch>
        </p:blipFill>
        <p:spPr>
          <a:xfrm>
            <a:off x="1676400" y="3048000"/>
            <a:ext cx="5969307" cy="1435174"/>
          </a:xfrm>
          <a:prstGeom prst="rect">
            <a:avLst/>
          </a:prstGeom>
        </p:spPr>
      </p:pic>
    </p:spTree>
    <p:extLst>
      <p:ext uri="{BB962C8B-B14F-4D97-AF65-F5344CB8AC3E}">
        <p14:creationId xmlns:p14="http://schemas.microsoft.com/office/powerpoint/2010/main" val="3188264711"/>
      </p:ext>
    </p:extLst>
  </p:cSld>
  <p:clrMapOvr>
    <a:masterClrMapping/>
  </p:clrMapOvr>
  <p:timing>
    <p:tnLst>
      <p:par>
        <p:cTn id="1" dur="indefinite" restart="never" nodeType="tmRoot"/>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Adding Remote </a:t>
            </a:r>
            <a:r>
              <a:rPr lang="en-US" dirty="0" smtClean="0"/>
              <a:t>Repositories</a:t>
            </a:r>
            <a:endParaRPr lang="en-US" dirty="0"/>
          </a:p>
        </p:txBody>
      </p:sp>
      <p:sp>
        <p:nvSpPr>
          <p:cNvPr id="3" name="Content Placeholder 2"/>
          <p:cNvSpPr>
            <a:spLocks noGrp="1"/>
          </p:cNvSpPr>
          <p:nvPr>
            <p:ph idx="1"/>
          </p:nvPr>
        </p:nvSpPr>
        <p:spPr>
          <a:xfrm>
            <a:off x="685346" y="1732451"/>
            <a:ext cx="7765322" cy="858350"/>
          </a:xfrm>
        </p:spPr>
        <p:txBody>
          <a:bodyPr/>
          <a:lstStyle/>
          <a:p>
            <a:r>
              <a:rPr lang="en-US" dirty="0" smtClean="0"/>
              <a:t>To </a:t>
            </a:r>
            <a:r>
              <a:rPr lang="en-US" dirty="0"/>
              <a:t>add a new remote </a:t>
            </a:r>
            <a:r>
              <a:rPr lang="en-US" dirty="0" err="1"/>
              <a:t>Git</a:t>
            </a:r>
            <a:r>
              <a:rPr lang="en-US" dirty="0"/>
              <a:t> repository as a </a:t>
            </a:r>
            <a:r>
              <a:rPr lang="en-US" dirty="0" err="1"/>
              <a:t>shortname</a:t>
            </a:r>
            <a:r>
              <a:rPr lang="en-US" dirty="0"/>
              <a:t> you can reference easily, run </a:t>
            </a:r>
            <a:r>
              <a:rPr lang="en-US" dirty="0" err="1"/>
              <a:t>git</a:t>
            </a:r>
            <a:r>
              <a:rPr lang="en-US" dirty="0"/>
              <a:t> remote add [</a:t>
            </a:r>
            <a:r>
              <a:rPr lang="en-US" dirty="0" err="1"/>
              <a:t>shortname</a:t>
            </a:r>
            <a:r>
              <a:rPr lang="en-US" dirty="0"/>
              <a:t>] [</a:t>
            </a:r>
            <a:r>
              <a:rPr lang="en-US" dirty="0" err="1"/>
              <a:t>url</a:t>
            </a:r>
            <a:r>
              <a:rPr lang="en-US" dirty="0"/>
              <a:t>]:</a:t>
            </a:r>
          </a:p>
        </p:txBody>
      </p:sp>
      <p:pic>
        <p:nvPicPr>
          <p:cNvPr id="5" name="Picture 4"/>
          <p:cNvPicPr>
            <a:picLocks noChangeAspect="1"/>
          </p:cNvPicPr>
          <p:nvPr/>
        </p:nvPicPr>
        <p:blipFill>
          <a:blip r:embed="rId2"/>
          <a:stretch>
            <a:fillRect/>
          </a:stretch>
        </p:blipFill>
        <p:spPr>
          <a:xfrm>
            <a:off x="50333" y="2667000"/>
            <a:ext cx="9093667" cy="2324219"/>
          </a:xfrm>
          <a:prstGeom prst="rect">
            <a:avLst/>
          </a:prstGeom>
        </p:spPr>
      </p:pic>
      <p:sp>
        <p:nvSpPr>
          <p:cNvPr id="6" name="Rounded Rectangular Callout 5"/>
          <p:cNvSpPr/>
          <p:nvPr/>
        </p:nvSpPr>
        <p:spPr>
          <a:xfrm>
            <a:off x="5410200" y="3962400"/>
            <a:ext cx="3200400" cy="933391"/>
          </a:xfrm>
          <a:prstGeom prst="wedgeRoundRectCallout">
            <a:avLst>
              <a:gd name="adj1" fmla="val -34804"/>
              <a:gd name="adj2" fmla="val -87321"/>
              <a:gd name="adj3" fmla="val 16667"/>
            </a:avLst>
          </a:prstGeom>
        </p:spPr>
        <p:style>
          <a:lnRef idx="0">
            <a:schemeClr val="accent1"/>
          </a:lnRef>
          <a:fillRef idx="3">
            <a:schemeClr val="accent1"/>
          </a:fillRef>
          <a:effectRef idx="3">
            <a:schemeClr val="accent1"/>
          </a:effectRef>
          <a:fontRef idx="minor">
            <a:schemeClr val="lt1"/>
          </a:fontRef>
        </p:style>
        <p:txBody>
          <a:bodyPr rtlCol="0" anchor="ctr"/>
          <a:lstStyle/>
          <a:p>
            <a:r>
              <a:rPr lang="en-US" dirty="0"/>
              <a:t>Now you can use the string </a:t>
            </a:r>
            <a:r>
              <a:rPr lang="en-US" dirty="0" err="1"/>
              <a:t>pb</a:t>
            </a:r>
            <a:r>
              <a:rPr lang="en-US" dirty="0"/>
              <a:t> on the command line in lieu of the whole URL</a:t>
            </a:r>
          </a:p>
        </p:txBody>
      </p:sp>
    </p:spTree>
    <p:extLst>
      <p:ext uri="{BB962C8B-B14F-4D97-AF65-F5344CB8AC3E}">
        <p14:creationId xmlns:p14="http://schemas.microsoft.com/office/powerpoint/2010/main" val="22838081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2"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1000"/>
                                        <p:tgtEl>
                                          <p:spTgt spid="6"/>
                                        </p:tgtEl>
                                      </p:cBhvr>
                                    </p:animEffect>
                                    <p:anim calcmode="lin" valueType="num">
                                      <p:cBhvr>
                                        <p:cTn id="8" dur="1000" fill="hold"/>
                                        <p:tgtEl>
                                          <p:spTgt spid="6"/>
                                        </p:tgtEl>
                                        <p:attrNameLst>
                                          <p:attrName>ppt_x</p:attrName>
                                        </p:attrNameLst>
                                      </p:cBhvr>
                                      <p:tavLst>
                                        <p:tav tm="0">
                                          <p:val>
                                            <p:strVal val="#ppt_x"/>
                                          </p:val>
                                        </p:tav>
                                        <p:tav tm="100000">
                                          <p:val>
                                            <p:strVal val="#ppt_x"/>
                                          </p:val>
                                        </p:tav>
                                      </p:tavLst>
                                    </p:anim>
                                    <p:anim calcmode="lin" valueType="num">
                                      <p:cBhvr>
                                        <p:cTn id="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Fetching and Pulling from Your </a:t>
            </a:r>
            <a:r>
              <a:rPr lang="en-US" dirty="0" smtClean="0"/>
              <a:t>Remotes</a:t>
            </a:r>
            <a:endParaRPr lang="en-US" dirty="0"/>
          </a:p>
        </p:txBody>
      </p:sp>
      <p:sp>
        <p:nvSpPr>
          <p:cNvPr id="3" name="Content Placeholder 2"/>
          <p:cNvSpPr>
            <a:spLocks noGrp="1"/>
          </p:cNvSpPr>
          <p:nvPr>
            <p:ph idx="1"/>
          </p:nvPr>
        </p:nvSpPr>
        <p:spPr/>
        <p:txBody>
          <a:bodyPr/>
          <a:lstStyle/>
          <a:p>
            <a:r>
              <a:rPr lang="en-US" dirty="0" smtClean="0"/>
              <a:t>To get data from your remote projects, you </a:t>
            </a:r>
            <a:r>
              <a:rPr lang="en-US" dirty="0"/>
              <a:t>can run</a:t>
            </a:r>
            <a:r>
              <a:rPr lang="en-US" dirty="0" smtClean="0"/>
              <a:t>:</a:t>
            </a:r>
            <a:endParaRPr lang="en-US" dirty="0"/>
          </a:p>
          <a:p>
            <a:pPr marL="36900" indent="0" algn="ctr">
              <a:buNone/>
            </a:pPr>
            <a:r>
              <a:rPr lang="en-US" dirty="0" err="1" smtClean="0"/>
              <a:t>git</a:t>
            </a:r>
            <a:r>
              <a:rPr lang="en-US" dirty="0" smtClean="0"/>
              <a:t> </a:t>
            </a:r>
            <a:r>
              <a:rPr lang="en-US" dirty="0"/>
              <a:t>fetch [remote-name]</a:t>
            </a:r>
          </a:p>
          <a:p>
            <a:r>
              <a:rPr lang="en-US" dirty="0"/>
              <a:t>The command goes out to that remote project and pulls down all the data from that remote project that you don’t have yet. </a:t>
            </a:r>
            <a:endParaRPr lang="en-US" dirty="0" smtClean="0"/>
          </a:p>
          <a:p>
            <a:r>
              <a:rPr lang="en-US" dirty="0" smtClean="0"/>
              <a:t>After </a:t>
            </a:r>
            <a:r>
              <a:rPr lang="en-US" dirty="0"/>
              <a:t>you do this, you should have references to all the branches from that remote, which you can merge in or inspect at any time.</a:t>
            </a:r>
          </a:p>
        </p:txBody>
      </p:sp>
    </p:spTree>
    <p:extLst>
      <p:ext uri="{BB962C8B-B14F-4D97-AF65-F5344CB8AC3E}">
        <p14:creationId xmlns:p14="http://schemas.microsoft.com/office/powerpoint/2010/main" val="1967172648"/>
      </p:ext>
    </p:extLst>
  </p:cSld>
  <p:clrMapOvr>
    <a:masterClrMapping/>
  </p:clrMapOvr>
  <p:timing>
    <p:tnLst>
      <p:par>
        <p:cTn id="1" dur="indefinite" restart="never" nodeType="tmRoot"/>
      </p:par>
    </p:tnLst>
  </p:timing>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Cloning a Repository</a:t>
            </a:r>
            <a:endParaRPr lang="en-US" dirty="0"/>
          </a:p>
        </p:txBody>
      </p:sp>
      <p:sp>
        <p:nvSpPr>
          <p:cNvPr id="3" name="Content Placeholder 2"/>
          <p:cNvSpPr>
            <a:spLocks noGrp="1"/>
          </p:cNvSpPr>
          <p:nvPr>
            <p:ph idx="1"/>
          </p:nvPr>
        </p:nvSpPr>
        <p:spPr/>
        <p:txBody>
          <a:bodyPr/>
          <a:lstStyle/>
          <a:p>
            <a:r>
              <a:rPr lang="en-US" dirty="0"/>
              <a:t>If you clone a repository, the command automatically adds that remote repository under the name “origin”. </a:t>
            </a:r>
            <a:endParaRPr lang="en-US" dirty="0" smtClean="0"/>
          </a:p>
          <a:p>
            <a:r>
              <a:rPr lang="en-US" dirty="0" smtClean="0"/>
              <a:t>So</a:t>
            </a:r>
            <a:r>
              <a:rPr lang="en-US" dirty="0"/>
              <a:t>, </a:t>
            </a:r>
            <a:r>
              <a:rPr lang="en-US" dirty="0" err="1"/>
              <a:t>git</a:t>
            </a:r>
            <a:r>
              <a:rPr lang="en-US" dirty="0"/>
              <a:t> fetch origin fetches any new work that has been pushed to that server since you cloned (or last fetched from) it. </a:t>
            </a:r>
            <a:endParaRPr lang="en-US" dirty="0" smtClean="0"/>
          </a:p>
          <a:p>
            <a:r>
              <a:rPr lang="en-US" dirty="0" smtClean="0"/>
              <a:t>It’s </a:t>
            </a:r>
            <a:r>
              <a:rPr lang="en-US" dirty="0"/>
              <a:t>important to note that the </a:t>
            </a:r>
            <a:r>
              <a:rPr lang="en-US" dirty="0" err="1"/>
              <a:t>git</a:t>
            </a:r>
            <a:r>
              <a:rPr lang="en-US" dirty="0"/>
              <a:t> fetch command pulls the data to your local repository – it doesn’t automatically merge it with any of your work or modify what you’re currently working on. </a:t>
            </a:r>
            <a:endParaRPr lang="en-US" dirty="0" smtClean="0"/>
          </a:p>
          <a:p>
            <a:r>
              <a:rPr lang="en-US" dirty="0" smtClean="0"/>
              <a:t>You </a:t>
            </a:r>
            <a:r>
              <a:rPr lang="en-US" dirty="0"/>
              <a:t>have to merge it manually into your work when you’re ready.</a:t>
            </a:r>
          </a:p>
        </p:txBody>
      </p:sp>
    </p:spTree>
    <p:extLst>
      <p:ext uri="{BB962C8B-B14F-4D97-AF65-F5344CB8AC3E}">
        <p14:creationId xmlns:p14="http://schemas.microsoft.com/office/powerpoint/2010/main" val="3975705752"/>
      </p:ext>
    </p:extLst>
  </p:cSld>
  <p:clrMapOvr>
    <a:masterClrMapping/>
  </p:clrMapOvr>
  <p:timing>
    <p:tnLst>
      <p:par>
        <p:cTn id="1" dur="indefinite" restart="never" nodeType="tmRoot"/>
      </p:par>
    </p:tn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smtClean="0"/>
              <a:t>git</a:t>
            </a:r>
            <a:r>
              <a:rPr lang="en-US" dirty="0" smtClean="0"/>
              <a:t> pull</a:t>
            </a:r>
            <a:endParaRPr lang="en-US" dirty="0"/>
          </a:p>
        </p:txBody>
      </p:sp>
      <p:sp>
        <p:nvSpPr>
          <p:cNvPr id="3" name="Content Placeholder 2"/>
          <p:cNvSpPr>
            <a:spLocks noGrp="1"/>
          </p:cNvSpPr>
          <p:nvPr>
            <p:ph idx="1"/>
          </p:nvPr>
        </p:nvSpPr>
        <p:spPr/>
        <p:txBody>
          <a:bodyPr/>
          <a:lstStyle/>
          <a:p>
            <a:r>
              <a:rPr lang="en-US" dirty="0"/>
              <a:t>If you have a branch set up to track a remote branch (see the next section and Chapter 3 for more information), you can use the </a:t>
            </a:r>
            <a:r>
              <a:rPr lang="en-US" dirty="0" err="1"/>
              <a:t>git</a:t>
            </a:r>
            <a:r>
              <a:rPr lang="en-US" dirty="0"/>
              <a:t> pull command to automatically fetch and then merge a remote branch into your current branch. </a:t>
            </a:r>
            <a:endParaRPr lang="en-US" dirty="0" smtClean="0"/>
          </a:p>
          <a:p>
            <a:r>
              <a:rPr lang="en-US" dirty="0" smtClean="0"/>
              <a:t>This </a:t>
            </a:r>
            <a:r>
              <a:rPr lang="en-US" dirty="0"/>
              <a:t>may be an easier or more comfortable workflow for you; and by default, the </a:t>
            </a:r>
            <a:r>
              <a:rPr lang="en-US" dirty="0" err="1"/>
              <a:t>git</a:t>
            </a:r>
            <a:r>
              <a:rPr lang="en-US" dirty="0"/>
              <a:t> clone command automatically sets up your local master branch to track the remote master branch (or whatever the default branch is called) on the server you cloned from. </a:t>
            </a:r>
            <a:endParaRPr lang="en-US" dirty="0" smtClean="0"/>
          </a:p>
          <a:p>
            <a:r>
              <a:rPr lang="en-US" dirty="0" smtClean="0"/>
              <a:t>Running </a:t>
            </a:r>
            <a:r>
              <a:rPr lang="en-US" dirty="0" err="1"/>
              <a:t>git</a:t>
            </a:r>
            <a:r>
              <a:rPr lang="en-US" dirty="0"/>
              <a:t> pull generally fetches data from the server you originally cloned from and automatically tries to merge it into the code you’re currently working on.</a:t>
            </a:r>
          </a:p>
        </p:txBody>
      </p:sp>
    </p:spTree>
    <p:extLst>
      <p:ext uri="{BB962C8B-B14F-4D97-AF65-F5344CB8AC3E}">
        <p14:creationId xmlns:p14="http://schemas.microsoft.com/office/powerpoint/2010/main" val="142443065"/>
      </p:ext>
    </p:extLst>
  </p:cSld>
  <p:clrMapOvr>
    <a:masterClrMapping/>
  </p:clrMapOvr>
  <p:timing>
    <p:tnLst>
      <p:par>
        <p:cTn id="1" dur="indefinite" restart="never" nodeType="tmRoot"/>
      </p:par>
    </p:tn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Pushing to Your </a:t>
            </a:r>
            <a:r>
              <a:rPr lang="en-US" dirty="0" smtClean="0"/>
              <a:t>Remotes</a:t>
            </a:r>
            <a:endParaRPr lang="en-US" dirty="0"/>
          </a:p>
        </p:txBody>
      </p:sp>
      <p:sp>
        <p:nvSpPr>
          <p:cNvPr id="3" name="Content Placeholder 2"/>
          <p:cNvSpPr>
            <a:spLocks noGrp="1"/>
          </p:cNvSpPr>
          <p:nvPr>
            <p:ph idx="1"/>
          </p:nvPr>
        </p:nvSpPr>
        <p:spPr/>
        <p:txBody>
          <a:bodyPr/>
          <a:lstStyle/>
          <a:p>
            <a:r>
              <a:rPr lang="en-US" dirty="0" smtClean="0"/>
              <a:t>When </a:t>
            </a:r>
            <a:r>
              <a:rPr lang="en-US" dirty="0"/>
              <a:t>you have your project at a point that you want to share, you have to push it upstream. </a:t>
            </a:r>
            <a:endParaRPr lang="en-US" dirty="0" smtClean="0"/>
          </a:p>
          <a:p>
            <a:r>
              <a:rPr lang="en-US" dirty="0" smtClean="0"/>
              <a:t>The </a:t>
            </a:r>
            <a:r>
              <a:rPr lang="en-US" dirty="0"/>
              <a:t>command for this is simple: </a:t>
            </a:r>
            <a:endParaRPr lang="en-US" dirty="0" smtClean="0"/>
          </a:p>
          <a:p>
            <a:pPr marL="36900" indent="0" algn="ctr">
              <a:buNone/>
            </a:pPr>
            <a:r>
              <a:rPr lang="en-US" dirty="0" err="1" smtClean="0"/>
              <a:t>git</a:t>
            </a:r>
            <a:r>
              <a:rPr lang="en-US" dirty="0" smtClean="0"/>
              <a:t> </a:t>
            </a:r>
            <a:r>
              <a:rPr lang="en-US" dirty="0"/>
              <a:t>push [remote-name] [branch-name]. </a:t>
            </a:r>
            <a:endParaRPr lang="en-US" dirty="0" smtClean="0"/>
          </a:p>
          <a:p>
            <a:r>
              <a:rPr lang="en-US" dirty="0" smtClean="0"/>
              <a:t>If </a:t>
            </a:r>
            <a:r>
              <a:rPr lang="en-US" dirty="0"/>
              <a:t>you want to push your master branch to your origin server (again, cloning generally sets up both of those names for you automatically), then you can run this to push any commits you’ve done back up to the server</a:t>
            </a:r>
            <a:r>
              <a:rPr lang="en-US" dirty="0" smtClean="0"/>
              <a:t>:</a:t>
            </a:r>
            <a:endParaRPr lang="en-US" dirty="0"/>
          </a:p>
          <a:p>
            <a:pPr marL="36900" indent="0" algn="ctr">
              <a:buNone/>
            </a:pPr>
            <a:r>
              <a:rPr lang="en-US" dirty="0" err="1" smtClean="0"/>
              <a:t>git</a:t>
            </a:r>
            <a:r>
              <a:rPr lang="en-US" dirty="0" smtClean="0"/>
              <a:t> </a:t>
            </a:r>
            <a:r>
              <a:rPr lang="en-US" dirty="0"/>
              <a:t>push origin master</a:t>
            </a:r>
          </a:p>
        </p:txBody>
      </p:sp>
    </p:spTree>
    <p:extLst>
      <p:ext uri="{BB962C8B-B14F-4D97-AF65-F5344CB8AC3E}">
        <p14:creationId xmlns:p14="http://schemas.microsoft.com/office/powerpoint/2010/main" val="4277224654"/>
      </p:ext>
    </p:extLst>
  </p:cSld>
  <p:clrMapOvr>
    <a:masterClrMapping/>
  </p:clrMapOvr>
  <p:timing>
    <p:tnLst>
      <p:par>
        <p:cTn id="1" dur="indefinite" restart="never" nodeType="tmRoot"/>
      </p:par>
    </p:tn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a:t>Pushing to Your Remotes</a:t>
            </a:r>
          </a:p>
        </p:txBody>
      </p:sp>
      <p:pic>
        <p:nvPicPr>
          <p:cNvPr id="5" name="Picture 4"/>
          <p:cNvPicPr>
            <a:picLocks noChangeAspect="1"/>
          </p:cNvPicPr>
          <p:nvPr/>
        </p:nvPicPr>
        <p:blipFill>
          <a:blip r:embed="rId2"/>
          <a:stretch>
            <a:fillRect/>
          </a:stretch>
        </p:blipFill>
        <p:spPr>
          <a:xfrm>
            <a:off x="1011824" y="1828800"/>
            <a:ext cx="7112366" cy="2197213"/>
          </a:xfrm>
          <a:prstGeom prst="rect">
            <a:avLst/>
          </a:prstGeom>
        </p:spPr>
      </p:pic>
    </p:spTree>
    <p:extLst>
      <p:ext uri="{BB962C8B-B14F-4D97-AF65-F5344CB8AC3E}">
        <p14:creationId xmlns:p14="http://schemas.microsoft.com/office/powerpoint/2010/main" val="2719415460"/>
      </p:ext>
    </p:extLst>
  </p:cSld>
  <p:clrMapOvr>
    <a:masterClrMapping/>
  </p:clrMapOvr>
  <p:timing>
    <p:tnLst>
      <p:par>
        <p:cTn id="1" dur="indefinite" restart="never" nodeType="tmRoot"/>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View Results on GitHub</a:t>
            </a:r>
            <a:endParaRPr lang="en-US" dirty="0"/>
          </a:p>
        </p:txBody>
      </p:sp>
      <p:pic>
        <p:nvPicPr>
          <p:cNvPr id="3" name="Picture 2"/>
          <p:cNvPicPr>
            <a:picLocks noChangeAspect="1"/>
          </p:cNvPicPr>
          <p:nvPr/>
        </p:nvPicPr>
        <p:blipFill>
          <a:blip r:embed="rId2"/>
          <a:stretch>
            <a:fillRect/>
          </a:stretch>
        </p:blipFill>
        <p:spPr>
          <a:xfrm>
            <a:off x="1219200" y="1752600"/>
            <a:ext cx="6967305" cy="4178440"/>
          </a:xfrm>
          <a:prstGeom prst="rect">
            <a:avLst/>
          </a:prstGeom>
        </p:spPr>
      </p:pic>
    </p:spTree>
    <p:extLst>
      <p:ext uri="{BB962C8B-B14F-4D97-AF65-F5344CB8AC3E}">
        <p14:creationId xmlns:p14="http://schemas.microsoft.com/office/powerpoint/2010/main" val="283289074"/>
      </p:ext>
    </p:extLst>
  </p:cSld>
  <p:clrMapOvr>
    <a:masterClrMapping/>
  </p:clrMapOvr>
  <p:timing>
    <p:tnLst>
      <p:par>
        <p:cTn id="1" dur="indefinite" restart="never" nodeType="tmRoot"/>
      </p:par>
    </p:tn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Inspecting a </a:t>
            </a:r>
            <a:r>
              <a:rPr lang="en-US" dirty="0" smtClean="0"/>
              <a:t>Remote</a:t>
            </a:r>
            <a:endParaRPr lang="en-US" dirty="0"/>
          </a:p>
        </p:txBody>
      </p:sp>
      <p:sp>
        <p:nvSpPr>
          <p:cNvPr id="3" name="Content Placeholder 2"/>
          <p:cNvSpPr>
            <a:spLocks noGrp="1"/>
          </p:cNvSpPr>
          <p:nvPr>
            <p:ph idx="1"/>
          </p:nvPr>
        </p:nvSpPr>
        <p:spPr/>
        <p:txBody>
          <a:bodyPr/>
          <a:lstStyle/>
          <a:p>
            <a:r>
              <a:rPr lang="en-US" dirty="0" smtClean="0"/>
              <a:t>If </a:t>
            </a:r>
            <a:r>
              <a:rPr lang="en-US" dirty="0"/>
              <a:t>you want to see more information about a particular remote, you can use the </a:t>
            </a:r>
            <a:r>
              <a:rPr lang="en-US" dirty="0" err="1"/>
              <a:t>git</a:t>
            </a:r>
            <a:r>
              <a:rPr lang="en-US" dirty="0"/>
              <a:t> remote show [remote-name] command</a:t>
            </a:r>
            <a:r>
              <a:rPr lang="en-US" dirty="0" smtClean="0"/>
              <a:t>.</a:t>
            </a:r>
          </a:p>
          <a:p>
            <a:r>
              <a:rPr lang="en-US" dirty="0" smtClean="0"/>
              <a:t>If </a:t>
            </a:r>
            <a:r>
              <a:rPr lang="en-US" dirty="0"/>
              <a:t>you run this command with a particular </a:t>
            </a:r>
            <a:r>
              <a:rPr lang="en-US" dirty="0" err="1"/>
              <a:t>shortname</a:t>
            </a:r>
            <a:r>
              <a:rPr lang="en-US" dirty="0"/>
              <a:t>, such as origin, you get something like this:</a:t>
            </a:r>
          </a:p>
        </p:txBody>
      </p:sp>
      <p:pic>
        <p:nvPicPr>
          <p:cNvPr id="4" name="Picture 3"/>
          <p:cNvPicPr>
            <a:picLocks noChangeAspect="1"/>
          </p:cNvPicPr>
          <p:nvPr/>
        </p:nvPicPr>
        <p:blipFill>
          <a:blip r:embed="rId2"/>
          <a:stretch>
            <a:fillRect/>
          </a:stretch>
        </p:blipFill>
        <p:spPr>
          <a:xfrm>
            <a:off x="1215207" y="3276600"/>
            <a:ext cx="6705600" cy="2587109"/>
          </a:xfrm>
          <a:prstGeom prst="rect">
            <a:avLst/>
          </a:prstGeom>
        </p:spPr>
      </p:pic>
    </p:spTree>
    <p:extLst>
      <p:ext uri="{BB962C8B-B14F-4D97-AF65-F5344CB8AC3E}">
        <p14:creationId xmlns:p14="http://schemas.microsoft.com/office/powerpoint/2010/main" val="484506268"/>
      </p:ext>
    </p:extLst>
  </p:cSld>
  <p:clrMapOvr>
    <a:masterClrMapping/>
  </p:clrMapOvr>
  <p:timing>
    <p:tnLst>
      <p:par>
        <p:cTn id="1" dur="indefinite" restart="never" nodeType="tmRoot"/>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Tree>
    <p:extLst>
      <p:ext uri="{BB962C8B-B14F-4D97-AF65-F5344CB8AC3E}">
        <p14:creationId xmlns:p14="http://schemas.microsoft.com/office/powerpoint/2010/main" val="1664574404"/>
      </p:ext>
    </p:extLst>
  </p:cSld>
  <p:clrMapOvr>
    <a:masterClrMapping/>
  </p:clrMapOvr>
  <p:timing>
    <p:tnLst>
      <p:par>
        <p:cTn id="1" dur="indefinite" restart="never" nodeType="tmRoot"/>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Summary</a:t>
            </a:r>
            <a:endParaRPr lang="en-US" dirty="0"/>
          </a:p>
        </p:txBody>
      </p:sp>
      <p:sp>
        <p:nvSpPr>
          <p:cNvPr id="3" name="Content Placeholder 2"/>
          <p:cNvSpPr>
            <a:spLocks noGrp="1"/>
          </p:cNvSpPr>
          <p:nvPr>
            <p:ph idx="1"/>
          </p:nvPr>
        </p:nvSpPr>
        <p:spPr/>
        <p:txBody>
          <a:bodyPr/>
          <a:lstStyle/>
          <a:p>
            <a:r>
              <a:rPr lang="en-US" dirty="0" smtClean="0"/>
              <a:t>You </a:t>
            </a:r>
            <a:r>
              <a:rPr lang="en-US" dirty="0"/>
              <a:t>should have a basic understanding of what </a:t>
            </a:r>
            <a:r>
              <a:rPr lang="en-US" dirty="0" err="1"/>
              <a:t>Git</a:t>
            </a:r>
            <a:r>
              <a:rPr lang="en-US"/>
              <a:t> </a:t>
            </a:r>
            <a:r>
              <a:rPr lang="en-US" smtClean="0"/>
              <a:t>is.</a:t>
            </a:r>
            <a:endParaRPr lang="en-US" dirty="0" smtClean="0"/>
          </a:p>
          <a:p>
            <a:r>
              <a:rPr lang="en-US" dirty="0" smtClean="0"/>
              <a:t>How </a:t>
            </a:r>
            <a:r>
              <a:rPr lang="en-US" dirty="0"/>
              <a:t>it’s different from the centralized version control </a:t>
            </a:r>
            <a:r>
              <a:rPr lang="en-US" dirty="0" smtClean="0"/>
              <a:t>systems.</a:t>
            </a:r>
          </a:p>
          <a:p>
            <a:r>
              <a:rPr lang="en-US" dirty="0" smtClean="0"/>
              <a:t>You </a:t>
            </a:r>
            <a:r>
              <a:rPr lang="en-US" dirty="0"/>
              <a:t>should also now have a working version of </a:t>
            </a:r>
            <a:r>
              <a:rPr lang="en-US" dirty="0" err="1"/>
              <a:t>Git</a:t>
            </a:r>
            <a:r>
              <a:rPr lang="en-US" dirty="0"/>
              <a:t> on your system that’s set up with your personal identity</a:t>
            </a:r>
            <a:r>
              <a:rPr lang="en-US" dirty="0" smtClean="0"/>
              <a:t>.</a:t>
            </a:r>
          </a:p>
          <a:p>
            <a:r>
              <a:rPr lang="en-US" dirty="0" smtClean="0"/>
              <a:t>Next: </a:t>
            </a:r>
            <a:r>
              <a:rPr lang="en-US" dirty="0"/>
              <a:t>learn some </a:t>
            </a:r>
            <a:r>
              <a:rPr lang="en-US" dirty="0" err="1"/>
              <a:t>Git</a:t>
            </a:r>
            <a:r>
              <a:rPr lang="en-US" dirty="0"/>
              <a:t> basics.</a:t>
            </a:r>
          </a:p>
          <a:p>
            <a:endParaRPr lang="en-US" dirty="0"/>
          </a:p>
        </p:txBody>
      </p:sp>
    </p:spTree>
    <p:extLst>
      <p:ext uri="{BB962C8B-B14F-4D97-AF65-F5344CB8AC3E}">
        <p14:creationId xmlns:p14="http://schemas.microsoft.com/office/powerpoint/2010/main" val="3892772257"/>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panose="02040603050505030304"/>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Slate" id="{C3F70B94-7CE9-428E-ADC1-3269CC2C3385}" vid="{3F2DE9A5-64E6-437C-A389-CC4477E817E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Slate</Template>
  <TotalTime>14315</TotalTime>
  <Words>3688</Words>
  <Application>Microsoft Office PowerPoint</Application>
  <PresentationFormat>On-screen Show (4:3)</PresentationFormat>
  <Paragraphs>361</Paragraphs>
  <Slides>97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97</vt:i4>
      </vt:variant>
    </vt:vector>
  </HeadingPairs>
  <TitlesOfParts>
    <vt:vector size="104" baseType="lpstr">
      <vt:lpstr>Arial</vt:lpstr>
      <vt:lpstr>Calibri</vt:lpstr>
      <vt:lpstr>Calisto MT</vt:lpstr>
      <vt:lpstr>Courier New</vt:lpstr>
      <vt:lpstr>Trebuchet MS</vt:lpstr>
      <vt:lpstr>Wingdings 2</vt:lpstr>
      <vt:lpstr>Slate</vt:lpstr>
      <vt:lpstr>GIT Chapter 2: Basics</vt:lpstr>
      <vt:lpstr>Summary</vt:lpstr>
      <vt:lpstr>Getting a Git Repository</vt:lpstr>
      <vt:lpstr>Initializing a Repository in an Existing Directory</vt:lpstr>
      <vt:lpstr>Initializing a Repository in an Existing Directory</vt:lpstr>
      <vt:lpstr>.git directory</vt:lpstr>
      <vt:lpstr>Initializing a Repository in an Existing Directory</vt:lpstr>
      <vt:lpstr>Cloning an Existing Repository</vt:lpstr>
      <vt:lpstr>Create a New Repository in GitHub</vt:lpstr>
      <vt:lpstr>Create a New Repository in GitHub</vt:lpstr>
      <vt:lpstr>Create a New Repository in GitHub</vt:lpstr>
      <vt:lpstr>Create a New Repository in GitHub</vt:lpstr>
      <vt:lpstr>Create a New Repository in GitHub</vt:lpstr>
      <vt:lpstr>Recording Changes to the Repository</vt:lpstr>
      <vt:lpstr>Recording Changes to the Repository</vt:lpstr>
      <vt:lpstr>Recording Changes to the Repository</vt:lpstr>
      <vt:lpstr>Lifecycle Status of Files</vt:lpstr>
      <vt:lpstr>Checking the Status of Your Files</vt:lpstr>
      <vt:lpstr>Checking the Status of Your Files</vt:lpstr>
      <vt:lpstr>Add a New Text Document</vt:lpstr>
      <vt:lpstr>Add a New Text Document</vt:lpstr>
      <vt:lpstr>Add a New Text Document</vt:lpstr>
      <vt:lpstr>Tracking New Files</vt:lpstr>
      <vt:lpstr>Tracking New Files</vt:lpstr>
      <vt:lpstr>Exercises</vt:lpstr>
      <vt:lpstr>Git Status</vt:lpstr>
      <vt:lpstr>git *</vt:lpstr>
      <vt:lpstr>Making Changes Before Commit</vt:lpstr>
      <vt:lpstr>Git Status</vt:lpstr>
      <vt:lpstr>Do another git add *</vt:lpstr>
      <vt:lpstr>Short Status</vt:lpstr>
      <vt:lpstr>git diff</vt:lpstr>
      <vt:lpstr>Exercise</vt:lpstr>
      <vt:lpstr>Exercise</vt:lpstr>
      <vt:lpstr>Committing Your Changes</vt:lpstr>
      <vt:lpstr>git commit</vt:lpstr>
      <vt:lpstr>-m flag</vt:lpstr>
      <vt:lpstr>commit -m</vt:lpstr>
      <vt:lpstr>Commits</vt:lpstr>
      <vt:lpstr>Commits</vt:lpstr>
      <vt:lpstr>Skipping the Staging Area</vt:lpstr>
      <vt:lpstr>git commit -a</vt:lpstr>
      <vt:lpstr>git commit -a</vt:lpstr>
      <vt:lpstr>Removing Files</vt:lpstr>
      <vt:lpstr>Exercise</vt:lpstr>
      <vt:lpstr>git add *</vt:lpstr>
      <vt:lpstr>git status</vt:lpstr>
      <vt:lpstr>git add -A and git status</vt:lpstr>
      <vt:lpstr>git rm</vt:lpstr>
      <vt:lpstr>git status after adding file</vt:lpstr>
      <vt:lpstr>git status after git add *</vt:lpstr>
      <vt:lpstr>git status after deleting file</vt:lpstr>
      <vt:lpstr>git rm and git status</vt:lpstr>
      <vt:lpstr>Moving Files</vt:lpstr>
      <vt:lpstr>Renaming Files</vt:lpstr>
      <vt:lpstr>Renaming Files</vt:lpstr>
      <vt:lpstr>git status after rename</vt:lpstr>
      <vt:lpstr>git add *</vt:lpstr>
      <vt:lpstr>git status after add</vt:lpstr>
      <vt:lpstr>Try git add -A</vt:lpstr>
      <vt:lpstr>Moving Files git mv Command</vt:lpstr>
      <vt:lpstr>git rm</vt:lpstr>
      <vt:lpstr>Viewing the Commit History</vt:lpstr>
      <vt:lpstr>Viewing the Commit History</vt:lpstr>
      <vt:lpstr>git  clone</vt:lpstr>
      <vt:lpstr>git log</vt:lpstr>
      <vt:lpstr>git log options</vt:lpstr>
      <vt:lpstr>Undoing Things </vt:lpstr>
      <vt:lpstr>Undoing Things</vt:lpstr>
      <vt:lpstr>--amend option</vt:lpstr>
      <vt:lpstr>--amend option</vt:lpstr>
      <vt:lpstr>Exercise</vt:lpstr>
      <vt:lpstr>git status</vt:lpstr>
      <vt:lpstr>git add and git commit </vt:lpstr>
      <vt:lpstr>Add another file</vt:lpstr>
      <vt:lpstr>git add the new file</vt:lpstr>
      <vt:lpstr>git commit --amend</vt:lpstr>
      <vt:lpstr>Unstaging a Staged File</vt:lpstr>
      <vt:lpstr>Unmodifying a Modified File</vt:lpstr>
      <vt:lpstr>Dangers of git checkout</vt:lpstr>
      <vt:lpstr>Dangers of git checkout</vt:lpstr>
      <vt:lpstr>Dangers of git checkout</vt:lpstr>
      <vt:lpstr>Working with Remotes</vt:lpstr>
      <vt:lpstr>Working with Remotes</vt:lpstr>
      <vt:lpstr>Managing Remote Repositories</vt:lpstr>
      <vt:lpstr>Showing Your Remotes</vt:lpstr>
      <vt:lpstr>git remote -v</vt:lpstr>
      <vt:lpstr>Adding Remote Repositories</vt:lpstr>
      <vt:lpstr>Fetching and Pulling from Your Remotes</vt:lpstr>
      <vt:lpstr>Cloning a Repository</vt:lpstr>
      <vt:lpstr>git pull</vt:lpstr>
      <vt:lpstr>Pushing to Your Remotes</vt:lpstr>
      <vt:lpstr>Pushing to Your Remotes</vt:lpstr>
      <vt:lpstr>View Results on GitHub</vt:lpstr>
      <vt:lpstr>Inspecting a Remote</vt:lpstr>
      <vt:lpstr>PowerPoint Presentation</vt:lpstr>
      <vt:lpstr>Summary</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Python</dc:title>
  <dc:creator>User</dc:creator>
  <cp:lastModifiedBy>Microsoft account</cp:lastModifiedBy>
  <cp:revision>352</cp:revision>
  <dcterms:created xsi:type="dcterms:W3CDTF">2014-07-06T04:18:32Z</dcterms:created>
  <dcterms:modified xsi:type="dcterms:W3CDTF">2014-12-26T04:08:13Z</dcterms:modified>
</cp:coreProperties>
</file>