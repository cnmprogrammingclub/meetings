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63"/>
  </p:notesMasterIdLst>
  <p:sldIdLst>
    <p:sldId id="456" r:id="rId2"/>
    <p:sldId id="457" r:id="rId3"/>
    <p:sldId id="449" r:id="rId4"/>
    <p:sldId id="400" r:id="rId5"/>
    <p:sldId id="381" r:id="rId6"/>
    <p:sldId id="382" r:id="rId7"/>
    <p:sldId id="383" r:id="rId8"/>
    <p:sldId id="433" r:id="rId9"/>
    <p:sldId id="401" r:id="rId10"/>
    <p:sldId id="402" r:id="rId11"/>
    <p:sldId id="403" r:id="rId12"/>
    <p:sldId id="404" r:id="rId13"/>
    <p:sldId id="405" r:id="rId14"/>
    <p:sldId id="407" r:id="rId15"/>
    <p:sldId id="406" r:id="rId16"/>
    <p:sldId id="409" r:id="rId17"/>
    <p:sldId id="410" r:id="rId18"/>
    <p:sldId id="408" r:id="rId19"/>
    <p:sldId id="412" r:id="rId20"/>
    <p:sldId id="411" r:id="rId21"/>
    <p:sldId id="413" r:id="rId22"/>
    <p:sldId id="414" r:id="rId23"/>
    <p:sldId id="415" r:id="rId24"/>
    <p:sldId id="417" r:id="rId25"/>
    <p:sldId id="416" r:id="rId26"/>
    <p:sldId id="419" r:id="rId27"/>
    <p:sldId id="418" r:id="rId28"/>
    <p:sldId id="421" r:id="rId29"/>
    <p:sldId id="420" r:id="rId30"/>
    <p:sldId id="422" r:id="rId31"/>
    <p:sldId id="423" r:id="rId32"/>
    <p:sldId id="424" r:id="rId33"/>
    <p:sldId id="425" r:id="rId34"/>
    <p:sldId id="426" r:id="rId35"/>
    <p:sldId id="428" r:id="rId36"/>
    <p:sldId id="427" r:id="rId37"/>
    <p:sldId id="429" r:id="rId38"/>
    <p:sldId id="430" r:id="rId39"/>
    <p:sldId id="431" r:id="rId40"/>
    <p:sldId id="432" r:id="rId41"/>
    <p:sldId id="434" r:id="rId42"/>
    <p:sldId id="435" r:id="rId43"/>
    <p:sldId id="436" r:id="rId44"/>
    <p:sldId id="437" r:id="rId45"/>
    <p:sldId id="438" r:id="rId46"/>
    <p:sldId id="440" r:id="rId47"/>
    <p:sldId id="439" r:id="rId48"/>
    <p:sldId id="443" r:id="rId49"/>
    <p:sldId id="442" r:id="rId50"/>
    <p:sldId id="441" r:id="rId51"/>
    <p:sldId id="444" r:id="rId52"/>
    <p:sldId id="446" r:id="rId53"/>
    <p:sldId id="445" r:id="rId54"/>
    <p:sldId id="447" r:id="rId55"/>
    <p:sldId id="448" r:id="rId56"/>
    <p:sldId id="450" r:id="rId57"/>
    <p:sldId id="451" r:id="rId58"/>
    <p:sldId id="452" r:id="rId59"/>
    <p:sldId id="453" r:id="rId60"/>
    <p:sldId id="454" r:id="rId61"/>
    <p:sldId id="455" r:id="rId6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D0EB42CD-7890-4201-9FC6-D6178D132C53}">
          <p14:sldIdLst>
            <p14:sldId id="456"/>
            <p14:sldId id="457"/>
            <p14:sldId id="449"/>
            <p14:sldId id="400"/>
          </p14:sldIdLst>
        </p14:section>
        <p14:section name="Presentation" id="{EF67DF2E-E17F-4836-90D4-EBAFBB235779}">
          <p14:sldIdLst>
            <p14:sldId id="381"/>
            <p14:sldId id="382"/>
            <p14:sldId id="383"/>
            <p14:sldId id="433"/>
            <p14:sldId id="401"/>
            <p14:sldId id="402"/>
            <p14:sldId id="403"/>
            <p14:sldId id="404"/>
            <p14:sldId id="405"/>
            <p14:sldId id="407"/>
            <p14:sldId id="406"/>
            <p14:sldId id="409"/>
            <p14:sldId id="410"/>
            <p14:sldId id="408"/>
            <p14:sldId id="412"/>
            <p14:sldId id="411"/>
            <p14:sldId id="413"/>
            <p14:sldId id="414"/>
            <p14:sldId id="415"/>
            <p14:sldId id="417"/>
            <p14:sldId id="416"/>
            <p14:sldId id="419"/>
            <p14:sldId id="418"/>
            <p14:sldId id="421"/>
            <p14:sldId id="420"/>
            <p14:sldId id="422"/>
            <p14:sldId id="423"/>
            <p14:sldId id="424"/>
            <p14:sldId id="425"/>
            <p14:sldId id="426"/>
            <p14:sldId id="428"/>
            <p14:sldId id="427"/>
            <p14:sldId id="429"/>
            <p14:sldId id="430"/>
            <p14:sldId id="431"/>
            <p14:sldId id="432"/>
            <p14:sldId id="434"/>
            <p14:sldId id="435"/>
            <p14:sldId id="436"/>
            <p14:sldId id="437"/>
            <p14:sldId id="438"/>
            <p14:sldId id="440"/>
            <p14:sldId id="439"/>
            <p14:sldId id="443"/>
            <p14:sldId id="442"/>
            <p14:sldId id="441"/>
            <p14:sldId id="444"/>
            <p14:sldId id="446"/>
            <p14:sldId id="445"/>
            <p14:sldId id="447"/>
            <p14:sldId id="448"/>
            <p14:sldId id="450"/>
            <p14:sldId id="451"/>
            <p14:sldId id="452"/>
            <p14:sldId id="453"/>
            <p14:sldId id="454"/>
            <p14:sldId id="4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35FF"/>
    <a:srgbClr val="054397"/>
    <a:srgbClr val="FFFFFF"/>
    <a:srgbClr val="FDD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63" autoAdjust="0"/>
    <p:restoredTop sz="94660"/>
  </p:normalViewPr>
  <p:slideViewPr>
    <p:cSldViewPr>
      <p:cViewPr varScale="1">
        <p:scale>
          <a:sx n="90" d="100"/>
          <a:sy n="90" d="100"/>
        </p:scale>
        <p:origin x="992" y="6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8" d="100"/>
        <a:sy n="88" d="100"/>
      </p:scale>
      <p:origin x="0" y="-88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5922B8-2402-4D07-8CC1-A7973D5DEA1D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E36D8C-E6BB-4A51-BC12-92C35C89F6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6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E36D8C-E6BB-4A51-BC12-92C35C89F64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85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5771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5387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41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549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37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578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5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8721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5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71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5984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375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8169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19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4875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54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hyperlink" Target="http://git-scm.com/book/en/" TargetMode="Externa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2BFE950-A675-4D2F-BC24-F20C16678C63}" type="datetimeFigureOut">
              <a:rPr lang="en-US" smtClean="0"/>
              <a:t>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BF3B76F-134E-46D2-9AE4-E34B44AF9B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228600" y="6248401"/>
            <a:ext cx="883920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 smtClean="0"/>
              <a:t>Presentation based on Pro </a:t>
            </a:r>
            <a:r>
              <a:rPr lang="en-US" sz="1050" dirty="0" err="1" smtClean="0"/>
              <a:t>Git</a:t>
            </a:r>
            <a:r>
              <a:rPr lang="en-US" sz="1050" dirty="0" smtClean="0"/>
              <a:t> by Scott Chacon and Ben Straub available at </a:t>
            </a:r>
            <a:r>
              <a:rPr lang="en-US" sz="1050" dirty="0" smtClean="0">
                <a:hlinkClick r:id="rId19"/>
              </a:rPr>
              <a:t>http://git-scm.com/book/en/</a:t>
            </a:r>
            <a:r>
              <a:rPr lang="en-US" sz="1050" dirty="0" smtClean="0"/>
              <a:t>.  This work is licensed under the Creative Commons </a:t>
            </a:r>
            <a:r>
              <a:rPr lang="en-US" sz="1050" dirty="0" err="1" smtClean="0"/>
              <a:t>AttributionNonCommercial-ShareAlike</a:t>
            </a:r>
            <a:r>
              <a:rPr lang="en-US" sz="1050" dirty="0" smtClean="0"/>
              <a:t> 3.0 </a:t>
            </a:r>
            <a:r>
              <a:rPr lang="en-US" sz="1050" dirty="0" err="1" smtClean="0"/>
              <a:t>Unported</a:t>
            </a:r>
            <a:r>
              <a:rPr lang="en-US" sz="1050" dirty="0" smtClean="0"/>
              <a:t> License. </a:t>
            </a:r>
          </a:p>
        </p:txBody>
      </p:sp>
    </p:spTree>
    <p:extLst>
      <p:ext uri="{BB962C8B-B14F-4D97-AF65-F5344CB8AC3E}">
        <p14:creationId xmlns:p14="http://schemas.microsoft.com/office/powerpoint/2010/main" val="586712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  <p:sldLayoutId id="2147483817" r:id="rId12"/>
    <p:sldLayoutId id="2147483818" r:id="rId13"/>
    <p:sldLayoutId id="2147483819" r:id="rId14"/>
    <p:sldLayoutId id="2147483820" r:id="rId15"/>
    <p:sldLayoutId id="2147483821" r:id="rId16"/>
    <p:sldLayoutId id="2147483822" r:id="rId17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git-scm.com/book/en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odeschool.com/courses/try-git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git-scm.com/book/en/v2/Getting-Started-Git-Basics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://git-scm.com/download/linux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mac.github.com/" TargetMode="External"/><Relationship Id="rId2" Type="http://schemas.openxmlformats.org/officeDocument/2006/relationships/hyperlink" Target="http://git-scm.com/download/mac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://msysgit.github.io/" TargetMode="External"/><Relationship Id="rId2" Type="http://schemas.openxmlformats.org/officeDocument/2006/relationships/hyperlink" Target="http://git-scm.com/download/win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://windows.github.com/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://git-scm.com/book/en/v2/Getting-Started-Installing-Git#Installing-from-Source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Need student for Programming Club Committee</a:t>
            </a:r>
          </a:p>
          <a:p>
            <a:r>
              <a:rPr lang="en-US" dirty="0" smtClean="0"/>
              <a:t>Game Jam 23-25 Jan 2015</a:t>
            </a:r>
          </a:p>
          <a:p>
            <a:r>
              <a:rPr lang="en-US" dirty="0" smtClean="0"/>
              <a:t>ACM Competition</a:t>
            </a:r>
          </a:p>
          <a:p>
            <a:r>
              <a:rPr lang="en-US" dirty="0" smtClean="0"/>
              <a:t>Learn </a:t>
            </a:r>
            <a:r>
              <a:rPr lang="en-US" dirty="0" err="1" smtClean="0"/>
              <a:t>Git</a:t>
            </a:r>
            <a:endParaRPr lang="en-US" dirty="0" smtClean="0"/>
          </a:p>
          <a:p>
            <a:r>
              <a:rPr lang="en-US" dirty="0" err="1" smtClean="0"/>
              <a:t>Occulus</a:t>
            </a:r>
            <a:r>
              <a:rPr lang="en-US" dirty="0" smtClean="0"/>
              <a:t>, </a:t>
            </a:r>
            <a:r>
              <a:rPr lang="en-US" dirty="0" err="1" smtClean="0"/>
              <a:t>Neurosky</a:t>
            </a:r>
            <a:r>
              <a:rPr lang="en-US" dirty="0" smtClean="0"/>
              <a:t> </a:t>
            </a:r>
            <a:r>
              <a:rPr lang="en-US" smtClean="0"/>
              <a:t>etc.</a:t>
            </a:r>
            <a:endParaRPr lang="en-US" dirty="0" smtClean="0"/>
          </a:p>
          <a:p>
            <a:pPr marL="36900" indent="0">
              <a:buNone/>
            </a:pP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Global Game Jam 2015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Dates 23-25 Jan 2015</a:t>
            </a:r>
          </a:p>
          <a:p>
            <a:r>
              <a:rPr lang="en-US" dirty="0" smtClean="0"/>
              <a:t>Correct web site </a:t>
            </a:r>
            <a:endParaRPr lang="en-US" dirty="0"/>
          </a:p>
          <a:p>
            <a:r>
              <a:rPr lang="en-US" dirty="0" smtClean="0"/>
              <a:t>Meet in E102 or E104 on 23 Jan 2015 </a:t>
            </a:r>
            <a:r>
              <a:rPr lang="en-US" smtClean="0"/>
              <a:t>at 5:00 </a:t>
            </a:r>
            <a:r>
              <a:rPr lang="en-US" dirty="0" smtClean="0"/>
              <a:t>PM to get the theme.</a:t>
            </a:r>
          </a:p>
          <a:p>
            <a:r>
              <a:rPr lang="en-US" dirty="0" smtClean="0"/>
              <a:t>Tentative:</a:t>
            </a:r>
          </a:p>
          <a:p>
            <a:pPr lvl="1"/>
            <a:r>
              <a:rPr lang="en-US" dirty="0" smtClean="0"/>
              <a:t>23 Jan 2015 5:00 PM to 9:00 PM</a:t>
            </a:r>
          </a:p>
          <a:p>
            <a:pPr lvl="1"/>
            <a:r>
              <a:rPr lang="en-US" dirty="0" smtClean="0"/>
              <a:t>24 Jan 2015 9:00 AM to 9</a:t>
            </a:r>
            <a:r>
              <a:rPr lang="en-US" dirty="0" smtClean="0">
                <a:sym typeface="Wingdings" panose="05000000000000000000" pitchFamily="2" charset="2"/>
              </a:rPr>
              <a:t>:00 PM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25 Jan 2015 9:00 AM to 3:00 PM (projects have to be turned in by 3:00PM on last day)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139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GIT Chapter 1</a:t>
            </a:r>
            <a:r>
              <a:rPr lang="en-US" smtClean="0"/>
              <a:t>: </a:t>
            </a:r>
            <a:br>
              <a:rPr lang="en-US" smtClean="0"/>
            </a:br>
            <a:r>
              <a:rPr lang="en-US" smtClean="0"/>
              <a:t>Getting Started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659461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dirty="0" smtClean="0"/>
              <a:t>This presentation was prepared by Robert J. Garner, and is based on Pro </a:t>
            </a:r>
            <a:r>
              <a:rPr lang="en-US" dirty="0" err="1" smtClean="0"/>
              <a:t>Git</a:t>
            </a:r>
            <a:r>
              <a:rPr lang="en-US" dirty="0" smtClean="0"/>
              <a:t> by Scott Chacon and Ben </a:t>
            </a:r>
            <a:r>
              <a:rPr lang="en-US" dirty="0"/>
              <a:t>Straub available at </a:t>
            </a:r>
            <a:r>
              <a:rPr lang="en-US" dirty="0">
                <a:hlinkClick r:id="rId2"/>
              </a:rPr>
              <a:t>http://git-scm.com/book/en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  <a:p>
            <a:pPr algn="l"/>
            <a:r>
              <a:rPr lang="en-US" dirty="0" smtClean="0"/>
              <a:t>This </a:t>
            </a:r>
            <a:r>
              <a:rPr lang="en-US" dirty="0"/>
              <a:t>work is licensed under the Creative Commons </a:t>
            </a:r>
            <a:r>
              <a:rPr lang="en-US" dirty="0" err="1"/>
              <a:t>AttributionNonCommercial-ShareAlike</a:t>
            </a:r>
            <a:endParaRPr lang="en-US" dirty="0"/>
          </a:p>
          <a:p>
            <a:pPr algn="l"/>
            <a:r>
              <a:rPr lang="en-US" dirty="0"/>
              <a:t>3.0 </a:t>
            </a:r>
            <a:r>
              <a:rPr lang="en-US" dirty="0" err="1"/>
              <a:t>Unported</a:t>
            </a:r>
            <a:r>
              <a:rPr lang="en-US" dirty="0"/>
              <a:t> License. To view a copy of this license,</a:t>
            </a:r>
          </a:p>
          <a:p>
            <a:pPr algn="l"/>
            <a:r>
              <a:rPr lang="en-US" dirty="0"/>
              <a:t>visit http://creativecommons.org/licenses/by-nc-sa/3.0/ or send a letter</a:t>
            </a:r>
          </a:p>
          <a:p>
            <a:pPr algn="l"/>
            <a:r>
              <a:rPr lang="en-US" dirty="0"/>
              <a:t>to Creative Commons, 171 Second Street, Suite 300, San Francisco, California,</a:t>
            </a:r>
          </a:p>
          <a:p>
            <a:pPr algn="l"/>
            <a:r>
              <a:rPr lang="en-US" dirty="0"/>
              <a:t>94105, USA.</a:t>
            </a:r>
          </a:p>
        </p:txBody>
      </p:sp>
      <p:sp>
        <p:nvSpPr>
          <p:cNvPr id="2" name="Rectangle 1"/>
          <p:cNvSpPr/>
          <p:nvPr/>
        </p:nvSpPr>
        <p:spPr>
          <a:xfrm>
            <a:off x="1047512" y="5562600"/>
            <a:ext cx="6191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https://www.youtube.com/watch?v=ZDR433b0HJY</a:t>
            </a:r>
          </a:p>
        </p:txBody>
      </p:sp>
    </p:spTree>
    <p:extLst>
      <p:ext uri="{BB962C8B-B14F-4D97-AF65-F5344CB8AC3E}">
        <p14:creationId xmlns:p14="http://schemas.microsoft.com/office/powerpoint/2010/main" val="676839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chapter will be about getting started with </a:t>
            </a:r>
            <a:r>
              <a:rPr lang="en-US" dirty="0" err="1"/>
              <a:t>Git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Background </a:t>
            </a:r>
            <a:r>
              <a:rPr lang="en-US" dirty="0"/>
              <a:t>on version control </a:t>
            </a:r>
            <a:r>
              <a:rPr lang="en-US" dirty="0" smtClean="0"/>
              <a:t>tools</a:t>
            </a:r>
          </a:p>
          <a:p>
            <a:r>
              <a:rPr lang="en-US" dirty="0" smtClean="0"/>
              <a:t>Installing </a:t>
            </a:r>
            <a:r>
              <a:rPr lang="en-US" dirty="0" err="1" smtClean="0"/>
              <a:t>Git</a:t>
            </a:r>
            <a:endParaRPr lang="en-US" dirty="0" smtClean="0"/>
          </a:p>
          <a:p>
            <a:r>
              <a:rPr lang="en-US" dirty="0" smtClean="0"/>
              <a:t>Set up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824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and GITHUB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524000"/>
            <a:ext cx="6623992" cy="4297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76600" y="5867400"/>
            <a:ext cx="2239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https://github.com</a:t>
            </a:r>
            <a:r>
              <a:rPr lang="en-US" dirty="0" smtClean="0">
                <a:hlinkClick r:id="rId3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243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GIT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605" y="1752600"/>
            <a:ext cx="6036791" cy="3916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019300" y="5867400"/>
            <a:ext cx="510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www.codeschool.com/courses/try-git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404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 GIT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284" y="1447800"/>
            <a:ext cx="5979432" cy="3879703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43000" y="5638800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git-scm.com/book/en/v2/Getting-Started-Git-Basics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661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ffectLst/>
              </a:rPr>
              <a:t>About </a:t>
            </a:r>
            <a:r>
              <a:rPr lang="en-US" dirty="0">
                <a:effectLst/>
              </a:rPr>
              <a:t>Version </a:t>
            </a:r>
            <a:r>
              <a:rPr lang="en-US" dirty="0" smtClean="0">
                <a:effectLst/>
              </a:rPr>
              <a:t>Control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1.1 Getting </a:t>
            </a:r>
            <a:r>
              <a:rPr lang="en-US" dirty="0" smtClean="0">
                <a:effectLst/>
              </a:rPr>
              <a:t>Started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796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effectLst/>
              </a:rPr>
              <a:t>About </a:t>
            </a:r>
            <a:r>
              <a:rPr lang="en-US" dirty="0">
                <a:effectLst/>
              </a:rPr>
              <a:t>Version </a:t>
            </a:r>
            <a:r>
              <a:rPr lang="en-US" dirty="0" smtClean="0">
                <a:effectLst/>
              </a:rPr>
              <a:t>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Allows </a:t>
            </a:r>
            <a:r>
              <a:rPr lang="en-US" dirty="0"/>
              <a:t>you to revert files back to a previous </a:t>
            </a:r>
            <a:r>
              <a:rPr lang="en-US" dirty="0" smtClean="0"/>
              <a:t>state</a:t>
            </a:r>
          </a:p>
          <a:p>
            <a:r>
              <a:rPr lang="en-US" dirty="0" smtClean="0"/>
              <a:t>Revert </a:t>
            </a:r>
            <a:r>
              <a:rPr lang="en-US" dirty="0"/>
              <a:t>the entire project back to a previous </a:t>
            </a:r>
            <a:r>
              <a:rPr lang="en-US" dirty="0" smtClean="0"/>
              <a:t>state</a:t>
            </a:r>
          </a:p>
          <a:p>
            <a:r>
              <a:rPr lang="en-US" dirty="0"/>
              <a:t>C</a:t>
            </a:r>
            <a:r>
              <a:rPr lang="en-US" dirty="0" smtClean="0"/>
              <a:t>ompare </a:t>
            </a:r>
            <a:r>
              <a:rPr lang="en-US" dirty="0"/>
              <a:t>changes over </a:t>
            </a:r>
            <a:r>
              <a:rPr lang="en-US" dirty="0" smtClean="0"/>
              <a:t>time</a:t>
            </a:r>
          </a:p>
          <a:p>
            <a:r>
              <a:rPr lang="en-US" dirty="0"/>
              <a:t>S</a:t>
            </a:r>
            <a:r>
              <a:rPr lang="en-US" dirty="0" smtClean="0"/>
              <a:t>ee </a:t>
            </a:r>
            <a:r>
              <a:rPr lang="en-US" dirty="0"/>
              <a:t>who last modified something that might be causing a </a:t>
            </a:r>
            <a:r>
              <a:rPr lang="en-US" dirty="0" smtClean="0"/>
              <a:t>problem</a:t>
            </a:r>
          </a:p>
          <a:p>
            <a:r>
              <a:rPr lang="en-US" dirty="0" smtClean="0"/>
              <a:t>Who </a:t>
            </a:r>
            <a:r>
              <a:rPr lang="en-US" dirty="0"/>
              <a:t>introduced an issue and when, and </a:t>
            </a:r>
            <a:r>
              <a:rPr lang="en-US" dirty="0" smtClean="0"/>
              <a:t>more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682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version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Version Control </a:t>
            </a:r>
            <a:r>
              <a:rPr lang="en-US" dirty="0" smtClean="0"/>
              <a:t>Systems</a:t>
            </a:r>
          </a:p>
          <a:p>
            <a:r>
              <a:rPr lang="en-US" dirty="0"/>
              <a:t>Centralized Version Control </a:t>
            </a:r>
            <a:r>
              <a:rPr lang="en-US" dirty="0" smtClean="0"/>
              <a:t>Systems</a:t>
            </a:r>
          </a:p>
          <a:p>
            <a:r>
              <a:rPr lang="en-US" dirty="0"/>
              <a:t>Distributed Version Control </a:t>
            </a:r>
            <a:r>
              <a:rPr lang="en-US" dirty="0" smtClean="0"/>
              <a:t>Systems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427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Local Version Control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</a:t>
            </a:r>
            <a:r>
              <a:rPr lang="en-US" dirty="0"/>
              <a:t>people’s version-control method of choice is to copy files into another directory </a:t>
            </a:r>
            <a:endParaRPr lang="en-US" dirty="0" smtClean="0"/>
          </a:p>
          <a:p>
            <a:pPr lvl="1"/>
            <a:r>
              <a:rPr lang="en-US" dirty="0" smtClean="0"/>
              <a:t>Simple, </a:t>
            </a:r>
            <a:r>
              <a:rPr lang="en-US" dirty="0"/>
              <a:t>but it is also incredibly error prone. </a:t>
            </a:r>
            <a:endParaRPr lang="en-US" dirty="0" smtClean="0"/>
          </a:p>
          <a:p>
            <a:pPr lvl="1"/>
            <a:r>
              <a:rPr lang="en-US" dirty="0"/>
              <a:t>E</a:t>
            </a:r>
            <a:r>
              <a:rPr lang="en-US" dirty="0" smtClean="0"/>
              <a:t>asy </a:t>
            </a:r>
            <a:r>
              <a:rPr lang="en-US" dirty="0"/>
              <a:t>to forget which directory you’re in and accidentally write to the wrong file or copy over files you don’t mean to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To deal with this issue, programmers long ago developed local VCSs that had a simple database that kept all the changes to files under revision control.</a:t>
            </a:r>
          </a:p>
        </p:txBody>
      </p:sp>
    </p:spTree>
    <p:extLst>
      <p:ext uri="{BB962C8B-B14F-4D97-AF65-F5344CB8AC3E}">
        <p14:creationId xmlns:p14="http://schemas.microsoft.com/office/powerpoint/2010/main" val="757466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Version Control Systems</a:t>
            </a:r>
          </a:p>
        </p:txBody>
      </p:sp>
      <p:pic>
        <p:nvPicPr>
          <p:cNvPr id="1026" name="Picture 2" descr="Local version control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918" y="1580050"/>
            <a:ext cx="5174165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5189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Centralized Version Control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next major issue that people encounter is that they need to collaborate with developers on other systems. </a:t>
            </a:r>
            <a:endParaRPr lang="en-US" dirty="0" smtClean="0"/>
          </a:p>
          <a:p>
            <a:r>
              <a:rPr lang="en-US" dirty="0" smtClean="0"/>
              <a:t>To </a:t>
            </a:r>
            <a:r>
              <a:rPr lang="en-US" dirty="0"/>
              <a:t>deal with this problem, Centralized Version Control Systems (CVCSs) were developed. 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systems, such as CVS, Subversion, and Perforce, have a single server that contains all the versioned files, and a number of clients that check out files from that central place.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many years, this has been the standard for version control.</a:t>
            </a:r>
          </a:p>
        </p:txBody>
      </p:sp>
    </p:spTree>
    <p:extLst>
      <p:ext uri="{BB962C8B-B14F-4D97-AF65-F5344CB8AC3E}">
        <p14:creationId xmlns:p14="http://schemas.microsoft.com/office/powerpoint/2010/main" val="1838230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Centralized Version Control Systems</a:t>
            </a:r>
          </a:p>
        </p:txBody>
      </p:sp>
      <p:pic>
        <p:nvPicPr>
          <p:cNvPr id="2050" name="Picture 2" descr="Centralized version control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558814"/>
            <a:ext cx="6400800" cy="4451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618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Centralized Version Control Systems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E</a:t>
            </a:r>
            <a:r>
              <a:rPr lang="en-US" dirty="0" smtClean="0"/>
              <a:t>veryone </a:t>
            </a:r>
            <a:r>
              <a:rPr lang="en-US" dirty="0"/>
              <a:t>knows to a certain degree what everyone else on the project is doing. </a:t>
            </a:r>
            <a:endParaRPr lang="en-US" dirty="0" smtClean="0"/>
          </a:p>
          <a:p>
            <a:r>
              <a:rPr lang="en-US" dirty="0" smtClean="0"/>
              <a:t>Administrators </a:t>
            </a:r>
            <a:r>
              <a:rPr lang="en-US" dirty="0"/>
              <a:t>have fine-grained control over who can do </a:t>
            </a:r>
            <a:r>
              <a:rPr lang="en-US" dirty="0" smtClean="0"/>
              <a:t>what</a:t>
            </a:r>
          </a:p>
          <a:p>
            <a:r>
              <a:rPr lang="en-US" dirty="0" smtClean="0"/>
              <a:t>Easier </a:t>
            </a:r>
            <a:r>
              <a:rPr lang="en-US" dirty="0"/>
              <a:t>to administer a CVCS than it is to deal with local databases on every client.</a:t>
            </a:r>
          </a:p>
          <a:p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Disadvantages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</a:t>
            </a:r>
            <a:r>
              <a:rPr lang="en-US" dirty="0" smtClean="0"/>
              <a:t>ingle </a:t>
            </a:r>
            <a:r>
              <a:rPr lang="en-US" dirty="0"/>
              <a:t>point of failure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that server goes down for an hour, then during that hour nobody can collaborate at all or save versioned changes to anything they’re working 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If </a:t>
            </a:r>
            <a:r>
              <a:rPr lang="en-US" dirty="0"/>
              <a:t>the hard disk the central database is on becomes corrupted, and proper backups haven’t been kept, you lose </a:t>
            </a:r>
            <a:r>
              <a:rPr lang="en-US" dirty="0" smtClean="0"/>
              <a:t>absolutely. </a:t>
            </a:r>
          </a:p>
          <a:p>
            <a:r>
              <a:rPr lang="en-US" dirty="0" smtClean="0"/>
              <a:t>Local VCS systems suffer from this same problem – </a:t>
            </a:r>
            <a:r>
              <a:rPr lang="en-US" dirty="0"/>
              <a:t>whenever you have the entire history of the project in a single place, you risk losing everything.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4369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Version Control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dirty="0"/>
              <a:t>a DVCS (such as </a:t>
            </a:r>
            <a:r>
              <a:rPr lang="en-US" dirty="0" err="1"/>
              <a:t>Git</a:t>
            </a:r>
            <a:r>
              <a:rPr lang="en-US" dirty="0"/>
              <a:t>, Mercurial, Bazaar or </a:t>
            </a:r>
            <a:r>
              <a:rPr lang="en-US" dirty="0" err="1"/>
              <a:t>Darcs</a:t>
            </a:r>
            <a:r>
              <a:rPr lang="en-US" dirty="0"/>
              <a:t>), clients don’t just check out the latest snapshot of the files: they fully mirror the repository. </a:t>
            </a:r>
            <a:endParaRPr lang="en-US" dirty="0" smtClean="0"/>
          </a:p>
          <a:p>
            <a:r>
              <a:rPr lang="en-US" dirty="0" smtClean="0"/>
              <a:t>Thus </a:t>
            </a:r>
            <a:r>
              <a:rPr lang="en-US" dirty="0"/>
              <a:t>if any server dies, and these systems were collaborating via it, any of the client repositories can be copied back up to the server to restore it. </a:t>
            </a:r>
            <a:endParaRPr lang="en-US" dirty="0" smtClean="0"/>
          </a:p>
          <a:p>
            <a:r>
              <a:rPr lang="en-US" dirty="0" smtClean="0"/>
              <a:t>Every </a:t>
            </a:r>
            <a:r>
              <a:rPr lang="en-US" dirty="0"/>
              <a:t>checkout is really a full backup of all the data.</a:t>
            </a:r>
          </a:p>
        </p:txBody>
      </p:sp>
    </p:spTree>
    <p:extLst>
      <p:ext uri="{BB962C8B-B14F-4D97-AF65-F5344CB8AC3E}">
        <p14:creationId xmlns:p14="http://schemas.microsoft.com/office/powerpoint/2010/main" val="1868647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Version Control </a:t>
            </a:r>
            <a:r>
              <a:rPr lang="en-US" dirty="0" smtClean="0"/>
              <a:t>Systems</a:t>
            </a:r>
            <a:endParaRPr lang="en-US" dirty="0"/>
          </a:p>
        </p:txBody>
      </p:sp>
      <p:pic>
        <p:nvPicPr>
          <p:cNvPr id="3074" name="Picture 2" descr="Distributed version control diagra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304" y="1524000"/>
            <a:ext cx="3565393" cy="4269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968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Distributed Version Control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dirty="0" smtClean="0"/>
              <a:t>any </a:t>
            </a:r>
            <a:r>
              <a:rPr lang="en-US" dirty="0"/>
              <a:t>of these systems deal pretty well with having several remote repositories they can work </a:t>
            </a:r>
            <a:r>
              <a:rPr lang="en-US" dirty="0" smtClean="0"/>
              <a:t>with.</a:t>
            </a:r>
          </a:p>
          <a:p>
            <a:r>
              <a:rPr lang="en-US" dirty="0" smtClean="0"/>
              <a:t>Can </a:t>
            </a:r>
            <a:r>
              <a:rPr lang="en-US" dirty="0"/>
              <a:t>collaborate with different groups of people in different ways simultaneously within the same project. </a:t>
            </a:r>
            <a:endParaRPr lang="en-US" dirty="0" smtClean="0"/>
          </a:p>
          <a:p>
            <a:r>
              <a:rPr lang="en-US" dirty="0" smtClean="0"/>
              <a:t>Allows </a:t>
            </a:r>
            <a:r>
              <a:rPr lang="en-US" dirty="0"/>
              <a:t>you to set up several types of workflows that aren’t possible in centralized systems, such as hierarchical models.</a:t>
            </a:r>
          </a:p>
        </p:txBody>
      </p:sp>
    </p:spTree>
    <p:extLst>
      <p:ext uri="{BB962C8B-B14F-4D97-AF65-F5344CB8AC3E}">
        <p14:creationId xmlns:p14="http://schemas.microsoft.com/office/powerpoint/2010/main" val="2417518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 smtClean="0">
                <a:effectLst/>
              </a:rPr>
              <a:t>A </a:t>
            </a:r>
            <a:r>
              <a:rPr lang="en-US" dirty="0">
                <a:effectLst/>
              </a:rPr>
              <a:t>Short History of </a:t>
            </a:r>
            <a:r>
              <a:rPr lang="en-US" dirty="0" err="1">
                <a:effectLst/>
              </a:rPr>
              <a:t>Git</a:t>
            </a:r>
            <a:endParaRPr lang="en-US" dirty="0">
              <a:effectLst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1.2 Getting Started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9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Short History of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Linux kernel is an open source software project of fairly large scope. </a:t>
            </a:r>
            <a:endParaRPr lang="en-US" dirty="0" smtClean="0"/>
          </a:p>
          <a:p>
            <a:r>
              <a:rPr lang="en-US" dirty="0" smtClean="0"/>
              <a:t>For </a:t>
            </a:r>
            <a:r>
              <a:rPr lang="en-US" dirty="0"/>
              <a:t>most of the lifetime of the Linux kernel maintenance (1991–2002), changes to the software were passed around as patches and archived files.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2002, the Linux kernel project began using a proprietary DVCS called </a:t>
            </a:r>
            <a:r>
              <a:rPr lang="en-US" dirty="0" err="1"/>
              <a:t>BitKeeper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469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Short History of </a:t>
            </a:r>
            <a:r>
              <a:rPr lang="en-US" dirty="0" err="1"/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2005, the relationship between the community that developed the Linux kernel and the commercial company that developed </a:t>
            </a:r>
            <a:r>
              <a:rPr lang="en-US" dirty="0" err="1"/>
              <a:t>BitKeeper</a:t>
            </a:r>
            <a:r>
              <a:rPr lang="en-US" dirty="0"/>
              <a:t> broke down, and the tool’s free-of-charge status was revoked.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prompted the Linux development community (and in particular Linus Torvalds, the creator of Linux) to develop their own tool based on some of the lessons they learned while using </a:t>
            </a:r>
            <a:r>
              <a:rPr lang="en-US" dirty="0" err="1"/>
              <a:t>BitKeeper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61696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</a:t>
            </a:r>
            <a:r>
              <a:rPr lang="en-US" dirty="0" smtClean="0"/>
              <a:t>oals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Speed</a:t>
            </a:r>
            <a:endParaRPr lang="en-US" dirty="0"/>
          </a:p>
          <a:p>
            <a:r>
              <a:rPr lang="en-US" dirty="0"/>
              <a:t>Simple </a:t>
            </a:r>
            <a:r>
              <a:rPr lang="en-US" dirty="0" smtClean="0"/>
              <a:t>design</a:t>
            </a:r>
            <a:endParaRPr lang="en-US" dirty="0"/>
          </a:p>
          <a:p>
            <a:r>
              <a:rPr lang="en-US" dirty="0"/>
              <a:t>Strong support for non-linear development (thousands of parallel branches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Fully </a:t>
            </a:r>
            <a:r>
              <a:rPr lang="en-US" dirty="0" smtClean="0"/>
              <a:t>distributed</a:t>
            </a:r>
            <a:endParaRPr lang="en-US" dirty="0"/>
          </a:p>
          <a:p>
            <a:r>
              <a:rPr lang="en-US" dirty="0"/>
              <a:t>Able to handle large projects like the Linux kernel efficiently (speed and data size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4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</a:t>
            </a:r>
            <a:r>
              <a:rPr lang="en-US" dirty="0"/>
              <a:t> Q</a:t>
            </a:r>
            <a:r>
              <a:rPr lang="en-US" dirty="0" smtClean="0"/>
              <a:t>ualities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Fast</a:t>
            </a:r>
          </a:p>
          <a:p>
            <a:r>
              <a:rPr lang="en-US" dirty="0" smtClean="0"/>
              <a:t>Efficient with </a:t>
            </a:r>
            <a:r>
              <a:rPr lang="en-US" dirty="0"/>
              <a:t>large </a:t>
            </a:r>
            <a:r>
              <a:rPr lang="en-US" dirty="0" smtClean="0"/>
              <a:t>projects</a:t>
            </a:r>
          </a:p>
          <a:p>
            <a:r>
              <a:rPr lang="en-US" dirty="0" smtClean="0"/>
              <a:t>Branching system </a:t>
            </a:r>
            <a:r>
              <a:rPr lang="en-US" dirty="0"/>
              <a:t>for non-linear development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4372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</a:t>
            </a:r>
            <a:r>
              <a:rPr lang="en-US" dirty="0" smtClean="0">
                <a:effectLst/>
              </a:rPr>
              <a:t>Basics</a:t>
            </a:r>
            <a:endParaRPr lang="en-US" dirty="0">
              <a:effectLst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1.3 Getting Started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61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Snapshots, Not Differences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major difference between </a:t>
            </a:r>
            <a:r>
              <a:rPr lang="en-US" dirty="0" err="1"/>
              <a:t>Git</a:t>
            </a:r>
            <a:r>
              <a:rPr lang="en-US" dirty="0"/>
              <a:t> and any other VCS (Subversion and friends included) is the way </a:t>
            </a:r>
            <a:r>
              <a:rPr lang="en-US" dirty="0" err="1"/>
              <a:t>Git</a:t>
            </a:r>
            <a:r>
              <a:rPr lang="en-US" dirty="0"/>
              <a:t> thinks about its data. </a:t>
            </a:r>
            <a:endParaRPr lang="en-US" dirty="0" smtClean="0"/>
          </a:p>
          <a:p>
            <a:r>
              <a:rPr lang="en-US" dirty="0" smtClean="0"/>
              <a:t>Conceptually</a:t>
            </a:r>
            <a:r>
              <a:rPr lang="en-US" dirty="0"/>
              <a:t>, most other systems store information as </a:t>
            </a:r>
            <a:r>
              <a:rPr lang="en-US" dirty="0" smtClean="0"/>
              <a:t>a. </a:t>
            </a:r>
            <a:r>
              <a:rPr lang="en-US" dirty="0"/>
              <a:t>list of file-based changes</a:t>
            </a:r>
            <a:endParaRPr lang="en-US" dirty="0" smtClean="0"/>
          </a:p>
          <a:p>
            <a:r>
              <a:rPr lang="en-US" dirty="0" smtClean="0"/>
              <a:t>These </a:t>
            </a:r>
            <a:r>
              <a:rPr lang="en-US" dirty="0"/>
              <a:t>systems (CVS, Subversion, Perforce, Bazaar, and so on) think of the information they keep as a set of files and the changes made to each file over time.</a:t>
            </a:r>
          </a:p>
        </p:txBody>
      </p:sp>
    </p:spTree>
    <p:extLst>
      <p:ext uri="{BB962C8B-B14F-4D97-AF65-F5344CB8AC3E}">
        <p14:creationId xmlns:p14="http://schemas.microsoft.com/office/powerpoint/2010/main" val="2672904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File-Based Changes Approach</a:t>
            </a:r>
            <a:endParaRPr lang="en-US" dirty="0"/>
          </a:p>
        </p:txBody>
      </p:sp>
      <p:pic>
        <p:nvPicPr>
          <p:cNvPr id="4098" name="Picture 2" descr="Storing data as changes to a base version of each fil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346" y="1828800"/>
            <a:ext cx="7873999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565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GIT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doesn’t think of or store its data this way. Instead, </a:t>
            </a:r>
            <a:r>
              <a:rPr lang="en-US" dirty="0" err="1"/>
              <a:t>Git</a:t>
            </a:r>
            <a:r>
              <a:rPr lang="en-US" dirty="0"/>
              <a:t> thinks of its data more like a set of snapshots of a miniature </a:t>
            </a:r>
            <a:r>
              <a:rPr lang="en-US" dirty="0" err="1"/>
              <a:t>filesystem</a:t>
            </a:r>
            <a:r>
              <a:rPr lang="en-US" dirty="0"/>
              <a:t>. Every time you commit, or save the state of your project in </a:t>
            </a:r>
            <a:r>
              <a:rPr lang="en-US" dirty="0" err="1"/>
              <a:t>Git</a:t>
            </a:r>
            <a:r>
              <a:rPr lang="en-US" dirty="0"/>
              <a:t>, it basically takes a picture of what all your files look like at that moment and stores a reference to that snapshot. To be efficient, if files have not changed, </a:t>
            </a:r>
            <a:r>
              <a:rPr lang="en-US" dirty="0" err="1"/>
              <a:t>Git</a:t>
            </a:r>
            <a:r>
              <a:rPr lang="en-US" dirty="0"/>
              <a:t> doesn’t store the file again, just a link to the previous identical file it has already stored. </a:t>
            </a:r>
            <a:r>
              <a:rPr lang="en-US" dirty="0" err="1"/>
              <a:t>Git</a:t>
            </a:r>
            <a:r>
              <a:rPr lang="en-US" dirty="0"/>
              <a:t> thinks about its data more like a stream of snapshots.</a:t>
            </a:r>
          </a:p>
        </p:txBody>
      </p:sp>
    </p:spTree>
    <p:extLst>
      <p:ext uri="{BB962C8B-B14F-4D97-AF65-F5344CB8AC3E}">
        <p14:creationId xmlns:p14="http://schemas.microsoft.com/office/powerpoint/2010/main" val="25109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Approach</a:t>
            </a:r>
          </a:p>
        </p:txBody>
      </p:sp>
      <p:pic>
        <p:nvPicPr>
          <p:cNvPr id="5122" name="Picture 2" descr="Git stores data as snapshots of the project over time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13" y="2133600"/>
            <a:ext cx="8270774" cy="315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7430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Nearly Every Operation Is </a:t>
            </a:r>
            <a:r>
              <a:rPr lang="en-US" dirty="0" smtClean="0"/>
              <a:t>Local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</a:t>
            </a:r>
            <a:r>
              <a:rPr lang="en-US" dirty="0"/>
              <a:t>operations in </a:t>
            </a:r>
            <a:r>
              <a:rPr lang="en-US" dirty="0" err="1"/>
              <a:t>Git</a:t>
            </a:r>
            <a:r>
              <a:rPr lang="en-US" dirty="0"/>
              <a:t> only need local files and resources to operate </a:t>
            </a:r>
            <a:endParaRPr lang="en-US" dirty="0" smtClean="0"/>
          </a:p>
          <a:p>
            <a:r>
              <a:rPr lang="en-US" dirty="0" smtClean="0"/>
              <a:t>No information </a:t>
            </a:r>
            <a:r>
              <a:rPr lang="en-US" dirty="0"/>
              <a:t>is needed from another computer on your network. </a:t>
            </a:r>
          </a:p>
          <a:p>
            <a:r>
              <a:rPr lang="en-US" dirty="0" smtClean="0"/>
              <a:t>Because </a:t>
            </a:r>
            <a:r>
              <a:rPr lang="en-US" dirty="0"/>
              <a:t>you have the entire history of the project right there on your local disk, most operations seem almost instantaneous.</a:t>
            </a:r>
          </a:p>
        </p:txBody>
      </p:sp>
    </p:spTree>
    <p:extLst>
      <p:ext uri="{BB962C8B-B14F-4D97-AF65-F5344CB8AC3E}">
        <p14:creationId xmlns:p14="http://schemas.microsoft.com/office/powerpoint/2010/main" val="945937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Offline Capability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Little </a:t>
            </a:r>
            <a:r>
              <a:rPr lang="en-US" dirty="0"/>
              <a:t>you can’t do if you’re offline or off VPN.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get on an airplane or a train and want to do a little work, you can commit happily until you get to a network connection to upload.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go home and can’t get your VPN client working properly, you can still work. </a:t>
            </a:r>
            <a:endParaRPr lang="en-US" dirty="0" smtClean="0"/>
          </a:p>
          <a:p>
            <a:r>
              <a:rPr lang="en-US" dirty="0" smtClean="0"/>
              <a:t>In </a:t>
            </a:r>
            <a:r>
              <a:rPr lang="en-US" dirty="0"/>
              <a:t>many other systems, doing so is either impossible or painful.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30088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Has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Everything in </a:t>
            </a:r>
            <a:r>
              <a:rPr lang="en-US" dirty="0" err="1"/>
              <a:t>Git</a:t>
            </a:r>
            <a:r>
              <a:rPr lang="en-US" dirty="0"/>
              <a:t> is check-summed before it is stored and is then referred to by that checksum. </a:t>
            </a:r>
            <a:endParaRPr lang="en-US" dirty="0" smtClean="0"/>
          </a:p>
          <a:p>
            <a:r>
              <a:rPr lang="en-US" dirty="0"/>
              <a:t>I</a:t>
            </a:r>
            <a:r>
              <a:rPr lang="en-US" dirty="0" smtClean="0"/>
              <a:t>mpossible </a:t>
            </a:r>
            <a:r>
              <a:rPr lang="en-US" dirty="0"/>
              <a:t>to change the contents of any file or directory without </a:t>
            </a:r>
            <a:r>
              <a:rPr lang="en-US" dirty="0" err="1"/>
              <a:t>Git</a:t>
            </a:r>
            <a:r>
              <a:rPr lang="en-US" dirty="0"/>
              <a:t> knowing about it</a:t>
            </a:r>
            <a:r>
              <a:rPr lang="en-US" dirty="0" smtClean="0"/>
              <a:t>.</a:t>
            </a:r>
          </a:p>
          <a:p>
            <a:r>
              <a:rPr lang="en-US" dirty="0" smtClean="0"/>
              <a:t>Functionality is </a:t>
            </a:r>
            <a:r>
              <a:rPr lang="en-US" dirty="0"/>
              <a:t>built into </a:t>
            </a:r>
            <a:r>
              <a:rPr lang="en-US" dirty="0" err="1"/>
              <a:t>Git</a:t>
            </a:r>
            <a:r>
              <a:rPr lang="en-US" dirty="0"/>
              <a:t> at the lowest levels and is integral to its philosophy. </a:t>
            </a:r>
            <a:endParaRPr lang="en-US" dirty="0" smtClean="0"/>
          </a:p>
          <a:p>
            <a:r>
              <a:rPr lang="en-US" dirty="0" smtClean="0"/>
              <a:t>Can’t lose </a:t>
            </a:r>
            <a:r>
              <a:rPr lang="en-US" dirty="0"/>
              <a:t>information in transit or get file corruption without </a:t>
            </a:r>
            <a:r>
              <a:rPr lang="en-US" dirty="0" err="1"/>
              <a:t>Git</a:t>
            </a:r>
            <a:r>
              <a:rPr lang="en-US" dirty="0"/>
              <a:t> being able to detect it.</a:t>
            </a:r>
          </a:p>
        </p:txBody>
      </p:sp>
    </p:spTree>
    <p:extLst>
      <p:ext uri="{BB962C8B-B14F-4D97-AF65-F5344CB8AC3E}">
        <p14:creationId xmlns:p14="http://schemas.microsoft.com/office/powerpoint/2010/main" val="1152516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Has Integrity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mechanism that </a:t>
            </a:r>
            <a:r>
              <a:rPr lang="en-US" dirty="0" err="1"/>
              <a:t>Git</a:t>
            </a:r>
            <a:r>
              <a:rPr lang="en-US" dirty="0"/>
              <a:t> uses for this </a:t>
            </a:r>
            <a:r>
              <a:rPr lang="en-US" dirty="0" err="1"/>
              <a:t>checksumming</a:t>
            </a:r>
            <a:r>
              <a:rPr lang="en-US" dirty="0"/>
              <a:t> is called a SHA-1 hash.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a 40-character string composed of hexadecimal characters (0–9 and a–f) and calculated based on the contents of a file or directory structure in </a:t>
            </a:r>
            <a:r>
              <a:rPr lang="en-US" dirty="0" err="1"/>
              <a:t>Git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A </a:t>
            </a:r>
            <a:r>
              <a:rPr lang="en-US" dirty="0"/>
              <a:t>SHA-1 hash looks something like this</a:t>
            </a:r>
            <a:r>
              <a:rPr lang="en-US" dirty="0" smtClean="0"/>
              <a:t>:</a:t>
            </a:r>
          </a:p>
          <a:p>
            <a:pPr marL="36900" indent="0" algn="ctr">
              <a:buNone/>
            </a:pPr>
            <a:r>
              <a:rPr lang="en-US" dirty="0" smtClean="0"/>
              <a:t>24b9da6552252987aa493b52f8696cd6d3b00373</a:t>
            </a:r>
          </a:p>
          <a:p>
            <a:r>
              <a:rPr lang="en-US" dirty="0"/>
              <a:t>You will see these hash values all over the place in </a:t>
            </a:r>
            <a:r>
              <a:rPr lang="en-US" dirty="0" err="1"/>
              <a:t>Git</a:t>
            </a:r>
            <a:r>
              <a:rPr lang="en-US" dirty="0"/>
              <a:t> because it uses them so much. In fact, </a:t>
            </a:r>
            <a:r>
              <a:rPr lang="en-US" dirty="0" err="1"/>
              <a:t>Git</a:t>
            </a:r>
            <a:r>
              <a:rPr lang="en-US" dirty="0"/>
              <a:t> stores everything in its database not by file name but by the hash value of its contents.</a:t>
            </a:r>
          </a:p>
        </p:txBody>
      </p:sp>
    </p:spTree>
    <p:extLst>
      <p:ext uri="{BB962C8B-B14F-4D97-AF65-F5344CB8AC3E}">
        <p14:creationId xmlns:p14="http://schemas.microsoft.com/office/powerpoint/2010/main" val="1546081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Git</a:t>
            </a:r>
            <a:r>
              <a:rPr lang="en-US" dirty="0"/>
              <a:t> Generally Only Adds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When </a:t>
            </a:r>
            <a:r>
              <a:rPr lang="en-US" dirty="0"/>
              <a:t>you do actions in </a:t>
            </a:r>
            <a:r>
              <a:rPr lang="en-US" dirty="0" err="1"/>
              <a:t>Git</a:t>
            </a:r>
            <a:r>
              <a:rPr lang="en-US" dirty="0"/>
              <a:t>, nearly all of them only add data to the </a:t>
            </a:r>
            <a:r>
              <a:rPr lang="en-US" dirty="0" err="1"/>
              <a:t>Git</a:t>
            </a:r>
            <a:r>
              <a:rPr lang="en-US" dirty="0"/>
              <a:t> database.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hard to get the system to do anything that is not undoable or to make it erase data in any way. </a:t>
            </a:r>
            <a:endParaRPr lang="en-US" dirty="0" smtClean="0"/>
          </a:p>
          <a:p>
            <a:r>
              <a:rPr lang="en-US" dirty="0" smtClean="0"/>
              <a:t>You can </a:t>
            </a:r>
            <a:r>
              <a:rPr lang="en-US" dirty="0"/>
              <a:t>lose or mess up changes you haven’t committed yet; but after you commit a snapshot into </a:t>
            </a:r>
            <a:r>
              <a:rPr lang="en-US" dirty="0" err="1"/>
              <a:t>Git</a:t>
            </a:r>
            <a:r>
              <a:rPr lang="en-US" dirty="0"/>
              <a:t>, it is very difficult to lose, especially if you regularly push your database to another repository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3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Three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900" indent="0">
              <a:buNone/>
            </a:pPr>
            <a:r>
              <a:rPr lang="en-US" dirty="0" err="1"/>
              <a:t>Git</a:t>
            </a:r>
            <a:r>
              <a:rPr lang="en-US" dirty="0"/>
              <a:t> has three main states that your files can reside in: </a:t>
            </a:r>
            <a:endParaRPr lang="en-US" dirty="0" smtClean="0"/>
          </a:p>
          <a:p>
            <a:r>
              <a:rPr lang="en-US" dirty="0" smtClean="0"/>
              <a:t>Committed: data </a:t>
            </a:r>
            <a:r>
              <a:rPr lang="en-US" dirty="0"/>
              <a:t>is safely stored in your local database. </a:t>
            </a:r>
            <a:endParaRPr lang="en-US" dirty="0" smtClean="0"/>
          </a:p>
          <a:p>
            <a:r>
              <a:rPr lang="en-US" dirty="0" smtClean="0"/>
              <a:t>Modified: you </a:t>
            </a:r>
            <a:r>
              <a:rPr lang="en-US" dirty="0"/>
              <a:t>have changed the file but have not committed it to your database yet. </a:t>
            </a:r>
            <a:endParaRPr lang="en-US" dirty="0" smtClean="0"/>
          </a:p>
          <a:p>
            <a:r>
              <a:rPr lang="en-US" dirty="0" smtClean="0"/>
              <a:t>Staged: you </a:t>
            </a:r>
            <a:r>
              <a:rPr lang="en-US" dirty="0"/>
              <a:t>have marked a modified file in its current version to go into your next commit snapshot.</a:t>
            </a:r>
          </a:p>
        </p:txBody>
      </p:sp>
    </p:spTree>
    <p:extLst>
      <p:ext uri="{BB962C8B-B14F-4D97-AF65-F5344CB8AC3E}">
        <p14:creationId xmlns:p14="http://schemas.microsoft.com/office/powerpoint/2010/main" val="626136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smtClean="0"/>
              <a:t>Main Sections </a:t>
            </a:r>
            <a:r>
              <a:rPr lang="en-US" dirty="0"/>
              <a:t>of a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smtClean="0"/>
              <a:t>Project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1676400"/>
            <a:ext cx="6934200" cy="3821591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7239000" y="2819400"/>
            <a:ext cx="1752600" cy="1447800"/>
          </a:xfrm>
          <a:prstGeom prst="wedgeRoundRectCallout">
            <a:avLst>
              <a:gd name="adj1" fmla="val -50353"/>
              <a:gd name="adj2" fmla="val -8402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metadata </a:t>
            </a:r>
            <a:r>
              <a:rPr lang="en-US" dirty="0"/>
              <a:t>and object database for your project</a:t>
            </a:r>
          </a:p>
        </p:txBody>
      </p:sp>
      <p:sp>
        <p:nvSpPr>
          <p:cNvPr id="12" name="Rounded Rectangular Callout 11"/>
          <p:cNvSpPr/>
          <p:nvPr/>
        </p:nvSpPr>
        <p:spPr>
          <a:xfrm>
            <a:off x="6248400" y="5022841"/>
            <a:ext cx="2667000" cy="1143000"/>
          </a:xfrm>
          <a:prstGeom prst="wedgeRoundRectCallout">
            <a:avLst>
              <a:gd name="adj1" fmla="val 22811"/>
              <a:gd name="adj2" fmla="val -13027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What </a:t>
            </a:r>
            <a:r>
              <a:rPr lang="en-US" dirty="0"/>
              <a:t>is copied when you clone a repository from another computer</a:t>
            </a:r>
          </a:p>
        </p:txBody>
      </p:sp>
      <p:sp>
        <p:nvSpPr>
          <p:cNvPr id="13" name="Rounded Rectangular Callout 12"/>
          <p:cNvSpPr/>
          <p:nvPr/>
        </p:nvSpPr>
        <p:spPr>
          <a:xfrm>
            <a:off x="170005" y="2819400"/>
            <a:ext cx="1752600" cy="1447800"/>
          </a:xfrm>
          <a:prstGeom prst="wedgeRoundRectCallout">
            <a:avLst>
              <a:gd name="adj1" fmla="val 42840"/>
              <a:gd name="adj2" fmla="val -835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Single checkout </a:t>
            </a:r>
            <a:r>
              <a:rPr lang="en-US" dirty="0"/>
              <a:t>of one version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3045619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Staging area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Staging area is </a:t>
            </a:r>
            <a:r>
              <a:rPr lang="en-US" dirty="0"/>
              <a:t>a file, generally contained in your </a:t>
            </a:r>
            <a:r>
              <a:rPr lang="en-US" dirty="0" err="1"/>
              <a:t>Git</a:t>
            </a:r>
            <a:r>
              <a:rPr lang="en-US" dirty="0"/>
              <a:t> directory, that stores information about what will go into your next </a:t>
            </a:r>
            <a:r>
              <a:rPr lang="en-US" dirty="0" smtClean="0"/>
              <a:t>commit</a:t>
            </a:r>
          </a:p>
          <a:p>
            <a:r>
              <a:rPr lang="en-US" dirty="0"/>
              <a:t>It’s sometimes referred to as the “index”</a:t>
            </a:r>
          </a:p>
        </p:txBody>
      </p:sp>
    </p:spTree>
    <p:extLst>
      <p:ext uri="{BB962C8B-B14F-4D97-AF65-F5344CB8AC3E}">
        <p14:creationId xmlns:p14="http://schemas.microsoft.com/office/powerpoint/2010/main" val="6803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smtClean="0"/>
              <a:t>Basic </a:t>
            </a:r>
            <a:r>
              <a:rPr lang="en-US" dirty="0" err="1" smtClean="0"/>
              <a:t>Git</a:t>
            </a:r>
            <a:r>
              <a:rPr lang="en-US" dirty="0" smtClean="0"/>
              <a:t> 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Modify files </a:t>
            </a:r>
            <a:r>
              <a:rPr lang="en-US" sz="2800" dirty="0"/>
              <a:t>in your working directory</a:t>
            </a:r>
            <a:r>
              <a:rPr lang="en-US" sz="2800" dirty="0" smtClean="0"/>
              <a:t>.</a:t>
            </a:r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Stage the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files</a:t>
            </a:r>
            <a:r>
              <a:rPr lang="en-US" sz="2800" dirty="0"/>
              <a:t>, adding snapshots of them to your staging area</a:t>
            </a:r>
            <a:r>
              <a:rPr lang="en-US" sz="2800" dirty="0" smtClean="0"/>
              <a:t>.</a:t>
            </a:r>
            <a:endParaRPr lang="en-US" sz="2800" dirty="0"/>
          </a:p>
          <a:p>
            <a:pPr marL="494100" indent="-457200">
              <a:buFont typeface="+mj-lt"/>
              <a:buAutoNum type="arabicPeriod"/>
            </a:pPr>
            <a:r>
              <a:rPr lang="en-US" sz="2800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Do a commit</a:t>
            </a:r>
            <a:r>
              <a:rPr lang="en-US" sz="2800" dirty="0" smtClean="0"/>
              <a:t>, which </a:t>
            </a:r>
            <a:r>
              <a:rPr lang="en-US" sz="2800" dirty="0"/>
              <a:t>takes the files as they are in the staging area and stores that snapshot permanently to your </a:t>
            </a:r>
            <a:r>
              <a:rPr lang="en-US" sz="2800" dirty="0" err="1"/>
              <a:t>Git</a:t>
            </a:r>
            <a:r>
              <a:rPr lang="en-US" sz="2800" dirty="0"/>
              <a:t> directory.</a:t>
            </a:r>
          </a:p>
        </p:txBody>
      </p:sp>
    </p:spTree>
    <p:extLst>
      <p:ext uri="{BB962C8B-B14F-4D97-AF65-F5344CB8AC3E}">
        <p14:creationId xmlns:p14="http://schemas.microsoft.com/office/powerpoint/2010/main" val="3180235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Stages of a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If it was changed since it was checked out but has not been staged, it is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modified.</a:t>
            </a:r>
            <a:r>
              <a:rPr lang="en-US" sz="2800" dirty="0"/>
              <a:t> </a:t>
            </a:r>
          </a:p>
          <a:p>
            <a:r>
              <a:rPr lang="en-US" sz="2800" dirty="0" smtClean="0"/>
              <a:t>If </a:t>
            </a:r>
            <a:r>
              <a:rPr lang="en-US" sz="2800" dirty="0"/>
              <a:t>it’s modified </a:t>
            </a:r>
            <a:r>
              <a:rPr lang="en-US" sz="2800" dirty="0" smtClean="0"/>
              <a:t>and has </a:t>
            </a:r>
            <a:r>
              <a:rPr lang="en-US" sz="2800" dirty="0"/>
              <a:t>been added to the staging area, it is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staged. </a:t>
            </a:r>
            <a:endParaRPr lang="en-US" sz="28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smtClean="0"/>
              <a:t>If </a:t>
            </a:r>
            <a:r>
              <a:rPr lang="en-US" sz="2800" dirty="0"/>
              <a:t>a particular version of a file is in the </a:t>
            </a:r>
            <a:r>
              <a:rPr lang="en-US" sz="2800" dirty="0" err="1"/>
              <a:t>Git</a:t>
            </a:r>
            <a:r>
              <a:rPr lang="en-US" sz="2800" dirty="0"/>
              <a:t> directory, it’s considered </a:t>
            </a:r>
            <a:r>
              <a:rPr lang="en-US" sz="2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committed</a:t>
            </a:r>
            <a:r>
              <a:rPr lang="en-US" sz="2800" dirty="0"/>
              <a:t>. </a:t>
            </a:r>
          </a:p>
          <a:p>
            <a:endParaRPr lang="en-US" sz="28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80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>
                <a:effectLst/>
              </a:rPr>
              <a:t>The Command </a:t>
            </a:r>
            <a:r>
              <a:rPr lang="en-US" dirty="0" smtClean="0">
                <a:effectLst/>
              </a:rPr>
              <a:t>Line</a:t>
            </a:r>
            <a:endParaRPr lang="en-US" dirty="0">
              <a:effectLst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1.4 Getting Started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98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The Command </a:t>
            </a:r>
            <a:r>
              <a:rPr lang="en-US" b="1" dirty="0" smtClean="0">
                <a:effectLst/>
              </a:rPr>
              <a:t>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>
                <a:effectLst/>
              </a:rPr>
              <a:t>There are a lot of different ways to use </a:t>
            </a:r>
            <a:r>
              <a:rPr lang="en-US" dirty="0" err="1" smtClean="0">
                <a:effectLst/>
              </a:rPr>
              <a:t>Git</a:t>
            </a:r>
            <a:endParaRPr lang="en-US" dirty="0" smtClean="0">
              <a:effectLst/>
            </a:endParaRPr>
          </a:p>
          <a:p>
            <a:pPr lvl="1" fontAlgn="base"/>
            <a:r>
              <a:rPr lang="en-US" dirty="0" smtClean="0">
                <a:effectLst/>
              </a:rPr>
              <a:t>original </a:t>
            </a:r>
            <a:r>
              <a:rPr lang="en-US" dirty="0">
                <a:effectLst/>
              </a:rPr>
              <a:t>command line </a:t>
            </a:r>
            <a:r>
              <a:rPr lang="en-US" dirty="0" smtClean="0">
                <a:effectLst/>
              </a:rPr>
              <a:t>tools</a:t>
            </a:r>
          </a:p>
          <a:p>
            <a:pPr lvl="1" fontAlgn="base"/>
            <a:r>
              <a:rPr lang="en-US" dirty="0" smtClean="0">
                <a:effectLst/>
              </a:rPr>
              <a:t>graphical </a:t>
            </a:r>
            <a:r>
              <a:rPr lang="en-US" dirty="0">
                <a:effectLst/>
              </a:rPr>
              <a:t>user interfaces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For </a:t>
            </a:r>
            <a:r>
              <a:rPr lang="en-US" dirty="0">
                <a:effectLst/>
              </a:rPr>
              <a:t>this book, we will be using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on the command line</a:t>
            </a:r>
            <a:r>
              <a:rPr lang="en-US" dirty="0" smtClean="0">
                <a:effectLst/>
              </a:rPr>
              <a:t>.</a:t>
            </a:r>
          </a:p>
          <a:p>
            <a:pPr lvl="1" fontAlgn="base"/>
            <a:r>
              <a:rPr lang="en-US" dirty="0" smtClean="0">
                <a:effectLst/>
              </a:rPr>
              <a:t>only </a:t>
            </a:r>
            <a:r>
              <a:rPr lang="en-US" dirty="0">
                <a:effectLst/>
              </a:rPr>
              <a:t>place you can run </a:t>
            </a:r>
            <a:r>
              <a:rPr lang="en-US" b="1" dirty="0">
                <a:effectLst/>
              </a:rPr>
              <a:t>all</a:t>
            </a:r>
            <a:r>
              <a:rPr lang="en-US" dirty="0">
                <a:effectLst/>
              </a:rPr>
              <a:t> 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</a:t>
            </a:r>
            <a:r>
              <a:rPr lang="en-US" dirty="0" smtClean="0">
                <a:effectLst/>
              </a:rPr>
              <a:t>commands</a:t>
            </a:r>
          </a:p>
          <a:p>
            <a:pPr lvl="1" fontAlgn="base"/>
            <a:r>
              <a:rPr lang="en-US" dirty="0" smtClean="0">
                <a:effectLst/>
              </a:rPr>
              <a:t>most </a:t>
            </a:r>
            <a:r>
              <a:rPr lang="en-US" dirty="0">
                <a:effectLst/>
              </a:rPr>
              <a:t>of the GUIs only implement some subset of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functionality for </a:t>
            </a:r>
            <a:r>
              <a:rPr lang="en-US" dirty="0" smtClean="0">
                <a:effectLst/>
              </a:rPr>
              <a:t>simplicity</a:t>
            </a:r>
          </a:p>
          <a:p>
            <a:pPr lvl="1" fontAlgn="base"/>
            <a:r>
              <a:rPr lang="en-US" dirty="0" smtClean="0">
                <a:effectLst/>
              </a:rPr>
              <a:t>If </a:t>
            </a:r>
            <a:r>
              <a:rPr lang="en-US" dirty="0">
                <a:effectLst/>
              </a:rPr>
              <a:t>you know how to run the command line version, you can probably also figure out how to run the GUI version, while the opposite is not necessarily true. </a:t>
            </a:r>
            <a:endParaRPr lang="en-US" dirty="0" smtClean="0">
              <a:effectLst/>
            </a:endParaRPr>
          </a:p>
          <a:p>
            <a:pPr lvl="1" fontAlgn="base"/>
            <a:r>
              <a:rPr lang="en-US" dirty="0" smtClean="0">
                <a:effectLst/>
              </a:rPr>
              <a:t>Also</a:t>
            </a:r>
            <a:r>
              <a:rPr lang="en-US" dirty="0">
                <a:effectLst/>
              </a:rPr>
              <a:t>, while your choice of graphical client is a matter of personal taste, </a:t>
            </a:r>
            <a:r>
              <a:rPr lang="en-US" i="1" dirty="0">
                <a:effectLst/>
              </a:rPr>
              <a:t>all</a:t>
            </a:r>
            <a:r>
              <a:rPr lang="en-US" dirty="0">
                <a:effectLst/>
              </a:rPr>
              <a:t> users will have the command-line tools installed and available.</a:t>
            </a:r>
          </a:p>
          <a:p>
            <a:pPr fontAlgn="base"/>
            <a:r>
              <a:rPr lang="en-US" dirty="0" smtClean="0">
                <a:effectLst/>
              </a:rPr>
              <a:t>Terminal </a:t>
            </a:r>
            <a:r>
              <a:rPr lang="en-US" dirty="0">
                <a:effectLst/>
              </a:rPr>
              <a:t>in Mac or Command Prompt or </a:t>
            </a:r>
            <a:r>
              <a:rPr lang="en-US" dirty="0" err="1">
                <a:effectLst/>
              </a:rPr>
              <a:t>Powershell</a:t>
            </a:r>
            <a:r>
              <a:rPr lang="en-US" dirty="0">
                <a:effectLst/>
              </a:rPr>
              <a:t> in Windows. </a:t>
            </a:r>
            <a:endParaRPr lang="en-US" dirty="0" smtClean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89370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Installing </a:t>
            </a:r>
            <a:r>
              <a:rPr lang="en-US" dirty="0" err="1" smtClean="0">
                <a:effectLst/>
              </a:rPr>
              <a:t>Git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1.5 Getting Started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40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Installing </a:t>
            </a:r>
            <a:r>
              <a:rPr lang="en-US" b="1" dirty="0" err="1" smtClean="0">
                <a:effectLst/>
              </a:rPr>
              <a:t>Git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>
                <a:effectLst/>
              </a:rPr>
              <a:t>Before </a:t>
            </a:r>
            <a:r>
              <a:rPr lang="en-US" dirty="0">
                <a:effectLst/>
              </a:rPr>
              <a:t>you start using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, you have to make it available on your computer.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Even </a:t>
            </a:r>
            <a:r>
              <a:rPr lang="en-US" dirty="0">
                <a:effectLst/>
              </a:rPr>
              <a:t>if it’s already installed, it’s probably a good idea to update to the latest version.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You </a:t>
            </a:r>
            <a:r>
              <a:rPr lang="en-US" dirty="0">
                <a:effectLst/>
              </a:rPr>
              <a:t>can either install it as a package or via another installer, or download the source code and compile it yourself.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745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on </a:t>
            </a:r>
            <a:r>
              <a:rPr lang="en-US" dirty="0" smtClean="0"/>
              <a:t>Linux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</a:t>
            </a:r>
            <a:r>
              <a:rPr lang="en-US" dirty="0"/>
              <a:t>you want to install </a:t>
            </a:r>
            <a:r>
              <a:rPr lang="en-US" dirty="0" err="1"/>
              <a:t>Git</a:t>
            </a:r>
            <a:r>
              <a:rPr lang="en-US" dirty="0"/>
              <a:t> on Linux via a binary installer, you can generally do so through the basic package-management tool that comes with your distribution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dirty="0"/>
              <a:t>If you’re on Fedora for example, you can use yum</a:t>
            </a:r>
            <a:r>
              <a:rPr lang="en-US" dirty="0" smtClean="0"/>
              <a:t>:</a:t>
            </a:r>
            <a:endParaRPr lang="en-US" dirty="0"/>
          </a:p>
          <a:p>
            <a:pPr marL="450000" lvl="1" indent="0" algn="ctr">
              <a:buNone/>
            </a:pPr>
            <a:r>
              <a:rPr lang="en-US" dirty="0"/>
              <a:t>$ yum install </a:t>
            </a:r>
            <a:r>
              <a:rPr lang="en-US" dirty="0" err="1"/>
              <a:t>git</a:t>
            </a:r>
            <a:endParaRPr lang="en-US" dirty="0"/>
          </a:p>
          <a:p>
            <a:r>
              <a:rPr lang="en-US" dirty="0"/>
              <a:t>If you’re on a </a:t>
            </a:r>
            <a:r>
              <a:rPr lang="en-US" dirty="0" err="1"/>
              <a:t>Debian</a:t>
            </a:r>
            <a:r>
              <a:rPr lang="en-US" dirty="0"/>
              <a:t>-based distribution like Ubuntu, try apt-get:</a:t>
            </a:r>
          </a:p>
          <a:p>
            <a:pPr marL="450000" lvl="1" indent="0" algn="ctr">
              <a:buNone/>
            </a:pPr>
            <a:r>
              <a:rPr lang="en-US" dirty="0" smtClean="0"/>
              <a:t>$ </a:t>
            </a:r>
            <a:r>
              <a:rPr lang="en-US" dirty="0"/>
              <a:t>apt-get install </a:t>
            </a:r>
            <a:r>
              <a:rPr lang="en-US" dirty="0" err="1"/>
              <a:t>git</a:t>
            </a:r>
            <a:endParaRPr lang="en-US" dirty="0"/>
          </a:p>
          <a:p>
            <a:r>
              <a:rPr lang="en-US" dirty="0"/>
              <a:t>For more options, there are instructions for installing on several different Unix flavors on the </a:t>
            </a:r>
            <a:r>
              <a:rPr lang="en-US" dirty="0" err="1"/>
              <a:t>Git</a:t>
            </a:r>
            <a:r>
              <a:rPr lang="en-US" dirty="0"/>
              <a:t> website, at </a:t>
            </a:r>
            <a:r>
              <a:rPr lang="en-US" dirty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git-scm.com/download/linux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6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on </a:t>
            </a:r>
            <a:r>
              <a:rPr lang="en-US" dirty="0" smtClean="0"/>
              <a:t>Mac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fontAlgn="base"/>
            <a:r>
              <a:rPr lang="en-US" dirty="0" smtClean="0">
                <a:effectLst/>
              </a:rPr>
              <a:t>There </a:t>
            </a:r>
            <a:r>
              <a:rPr lang="en-US" dirty="0">
                <a:effectLst/>
              </a:rPr>
              <a:t>are several ways to install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on a Mac.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The </a:t>
            </a:r>
            <a:r>
              <a:rPr lang="en-US" dirty="0">
                <a:effectLst/>
              </a:rPr>
              <a:t>easiest is probably to install the </a:t>
            </a:r>
            <a:r>
              <a:rPr lang="en-US" dirty="0" err="1">
                <a:effectLst/>
              </a:rPr>
              <a:t>Xcode</a:t>
            </a:r>
            <a:r>
              <a:rPr lang="en-US" dirty="0">
                <a:effectLst/>
              </a:rPr>
              <a:t> Command Line Tools. </a:t>
            </a:r>
            <a:endParaRPr lang="en-US" dirty="0" smtClean="0">
              <a:effectLst/>
            </a:endParaRPr>
          </a:p>
          <a:p>
            <a:pPr lvl="1" fontAlgn="base"/>
            <a:r>
              <a:rPr lang="en-US" dirty="0" smtClean="0">
                <a:effectLst/>
              </a:rPr>
              <a:t>On </a:t>
            </a:r>
            <a:r>
              <a:rPr lang="en-US" dirty="0">
                <a:effectLst/>
              </a:rPr>
              <a:t>Mavericks (10.9) or above you can do this simply by trying to run </a:t>
            </a:r>
            <a:r>
              <a:rPr lang="en-US" i="1" dirty="0" err="1">
                <a:effectLst/>
              </a:rPr>
              <a:t>git</a:t>
            </a:r>
            <a:r>
              <a:rPr lang="en-US" dirty="0">
                <a:effectLst/>
              </a:rPr>
              <a:t> from the Terminal the very first time</a:t>
            </a:r>
            <a:r>
              <a:rPr lang="en-US" dirty="0" smtClean="0">
                <a:effectLst/>
              </a:rPr>
              <a:t>.</a:t>
            </a:r>
          </a:p>
          <a:p>
            <a:pPr lvl="1" fontAlgn="base"/>
            <a:r>
              <a:rPr lang="en-US" dirty="0" smtClean="0">
                <a:effectLst/>
              </a:rPr>
              <a:t>If </a:t>
            </a:r>
            <a:r>
              <a:rPr lang="en-US" dirty="0">
                <a:effectLst/>
              </a:rPr>
              <a:t>you don’t have it installed already, it will prompt you to install it.</a:t>
            </a:r>
          </a:p>
          <a:p>
            <a:pPr fontAlgn="base"/>
            <a:r>
              <a:rPr lang="en-US" dirty="0">
                <a:effectLst/>
              </a:rPr>
              <a:t>If you want a more up to date version, you can also install it via a binary installer. </a:t>
            </a:r>
            <a:endParaRPr lang="en-US" dirty="0" smtClean="0">
              <a:effectLst/>
            </a:endParaRPr>
          </a:p>
          <a:p>
            <a:pPr lvl="1" fontAlgn="base"/>
            <a:r>
              <a:rPr lang="en-US" dirty="0" smtClean="0">
                <a:effectLst/>
              </a:rPr>
              <a:t>An </a:t>
            </a:r>
            <a:r>
              <a:rPr lang="en-US" dirty="0">
                <a:effectLst/>
              </a:rPr>
              <a:t>OSX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installer is maintained and available for download at the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website, at </a:t>
            </a:r>
            <a:r>
              <a:rPr lang="en-US" i="1" dirty="0">
                <a:effectLst/>
                <a:hlinkClick r:id="rId2"/>
              </a:rPr>
              <a:t>http://git-scm.com/download/mac</a:t>
            </a:r>
            <a:r>
              <a:rPr lang="en-US" dirty="0" smtClean="0">
                <a:effectLst/>
              </a:rPr>
              <a:t>.</a:t>
            </a:r>
          </a:p>
          <a:p>
            <a:pPr fontAlgn="base"/>
            <a:r>
              <a:rPr lang="en-US" dirty="0">
                <a:effectLst/>
              </a:rPr>
              <a:t>You can also install it as part of the GitHub for Mac install. </a:t>
            </a:r>
            <a:endParaRPr lang="en-US" dirty="0" smtClean="0">
              <a:effectLst/>
            </a:endParaRPr>
          </a:p>
          <a:p>
            <a:pPr lvl="1" fontAlgn="base"/>
            <a:r>
              <a:rPr lang="en-US" dirty="0" smtClean="0">
                <a:effectLst/>
              </a:rPr>
              <a:t>Their </a:t>
            </a:r>
            <a:r>
              <a:rPr lang="en-US" dirty="0">
                <a:effectLst/>
              </a:rPr>
              <a:t>GUI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tool has an option to install command line tools as well. You can download that tool from the GitHub for Mac website, at</a:t>
            </a:r>
            <a:r>
              <a:rPr lang="en-US" i="1" dirty="0">
                <a:effectLst/>
                <a:hlinkClick r:id="rId3"/>
              </a:rPr>
              <a:t>http://mac.github.com</a:t>
            </a:r>
            <a:r>
              <a:rPr lang="en-US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588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Installing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err="1" smtClean="0">
                <a:effectLst/>
              </a:rPr>
              <a:t>Git</a:t>
            </a:r>
            <a:r>
              <a:rPr lang="en-US" dirty="0" smtClean="0">
                <a:effectLst/>
              </a:rPr>
              <a:t> </a:t>
            </a:r>
            <a:r>
              <a:rPr lang="en-US" dirty="0">
                <a:effectLst/>
              </a:rPr>
              <a:t>on </a:t>
            </a:r>
            <a:r>
              <a:rPr lang="en-US" dirty="0" smtClean="0">
                <a:effectLst/>
              </a:rPr>
              <a:t>Windows</a:t>
            </a:r>
          </a:p>
          <a:p>
            <a:pPr fontAlgn="base"/>
            <a:r>
              <a:rPr lang="en-US" dirty="0" smtClean="0">
                <a:effectLst/>
              </a:rPr>
              <a:t>GitHub </a:t>
            </a:r>
            <a:r>
              <a:rPr lang="en-US" dirty="0">
                <a:effectLst/>
              </a:rPr>
              <a:t>for </a:t>
            </a:r>
            <a:r>
              <a:rPr lang="en-US" dirty="0" smtClean="0">
                <a:effectLst/>
              </a:rPr>
              <a:t>Windows (If possible load this version)</a:t>
            </a:r>
          </a:p>
        </p:txBody>
      </p:sp>
    </p:spTree>
    <p:extLst>
      <p:ext uri="{BB962C8B-B14F-4D97-AF65-F5344CB8AC3E}">
        <p14:creationId xmlns:p14="http://schemas.microsoft.com/office/powerpoint/2010/main" val="157165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on </a:t>
            </a:r>
            <a:r>
              <a:rPr lang="en-US" dirty="0" smtClean="0">
                <a:effectLst/>
              </a:rPr>
              <a:t>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>
                <a:effectLst/>
              </a:rPr>
              <a:t>Official </a:t>
            </a:r>
            <a:r>
              <a:rPr lang="en-US" dirty="0">
                <a:effectLst/>
              </a:rPr>
              <a:t>build is available for download on the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website.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Go </a:t>
            </a:r>
            <a:r>
              <a:rPr lang="en-US" dirty="0">
                <a:effectLst/>
              </a:rPr>
              <a:t>to </a:t>
            </a:r>
            <a:r>
              <a:rPr lang="en-US" i="1" dirty="0">
                <a:effectLst/>
                <a:hlinkClick r:id="rId2"/>
              </a:rPr>
              <a:t>http://git-scm.com/download/win</a:t>
            </a:r>
            <a:r>
              <a:rPr lang="en-US" dirty="0">
                <a:effectLst/>
              </a:rPr>
              <a:t> and the download will start automatically.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Note </a:t>
            </a:r>
            <a:r>
              <a:rPr lang="en-US" dirty="0">
                <a:effectLst/>
              </a:rPr>
              <a:t>that this is a project called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for Windows (also called </a:t>
            </a:r>
            <a:r>
              <a:rPr lang="en-US" dirty="0" err="1">
                <a:effectLst/>
              </a:rPr>
              <a:t>msysGit</a:t>
            </a:r>
            <a:r>
              <a:rPr lang="en-US" dirty="0">
                <a:effectLst/>
              </a:rPr>
              <a:t>), which is separate from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itself; for more information on it, go to </a:t>
            </a:r>
            <a:r>
              <a:rPr lang="en-US" i="1" dirty="0">
                <a:effectLst/>
                <a:hlinkClick r:id="rId3"/>
              </a:rPr>
              <a:t>http://msysgit.github.io</a:t>
            </a:r>
            <a:r>
              <a:rPr lang="en-US" i="1" dirty="0" smtClean="0">
                <a:effectLst/>
                <a:hlinkClick r:id="rId3"/>
              </a:rPr>
              <a:t>/</a:t>
            </a:r>
            <a:r>
              <a:rPr lang="en-US" dirty="0" smtClean="0">
                <a:effectLst/>
              </a:rPr>
              <a:t>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55556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ffectLst/>
              </a:rPr>
              <a:t>GitHub for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>
                <a:effectLst/>
              </a:rPr>
              <a:t>The </a:t>
            </a:r>
            <a:r>
              <a:rPr lang="en-US" dirty="0">
                <a:effectLst/>
              </a:rPr>
              <a:t>installer includes a command line version of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as well as the GUI</a:t>
            </a:r>
            <a:r>
              <a:rPr lang="en-US" dirty="0" smtClean="0">
                <a:effectLst/>
              </a:rPr>
              <a:t>.</a:t>
            </a:r>
          </a:p>
          <a:p>
            <a:pPr fontAlgn="base"/>
            <a:r>
              <a:rPr lang="en-US" dirty="0" smtClean="0">
                <a:effectLst/>
              </a:rPr>
              <a:t>It </a:t>
            </a:r>
            <a:r>
              <a:rPr lang="en-US" dirty="0">
                <a:effectLst/>
              </a:rPr>
              <a:t>also works well with </a:t>
            </a:r>
            <a:r>
              <a:rPr lang="en-US" dirty="0" err="1">
                <a:effectLst/>
              </a:rPr>
              <a:t>Powershell</a:t>
            </a:r>
            <a:r>
              <a:rPr lang="en-US" dirty="0">
                <a:effectLst/>
              </a:rPr>
              <a:t>, and sets up solid credential caching and sane CRLF settings. 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We’ll </a:t>
            </a:r>
            <a:r>
              <a:rPr lang="en-US" dirty="0">
                <a:effectLst/>
              </a:rPr>
              <a:t>learn more about those things a little later, but suffice it to say they’re things you want.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You </a:t>
            </a:r>
            <a:r>
              <a:rPr lang="en-US" dirty="0">
                <a:effectLst/>
              </a:rPr>
              <a:t>can download this from the GitHub for Windows website, at</a:t>
            </a:r>
            <a:r>
              <a:rPr lang="en-US" i="1" dirty="0">
                <a:effectLst/>
                <a:hlinkClick r:id="rId2"/>
              </a:rPr>
              <a:t>http://windows.github.com</a:t>
            </a:r>
            <a:r>
              <a:rPr lang="en-US" dirty="0">
                <a:effectLst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1650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from </a:t>
            </a:r>
            <a:r>
              <a:rPr lang="en-US" dirty="0" smtClean="0"/>
              <a:t>Source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 smtClean="0">
                <a:effectLst/>
              </a:rPr>
              <a:t>Some </a:t>
            </a:r>
            <a:r>
              <a:rPr lang="en-US" dirty="0">
                <a:effectLst/>
              </a:rPr>
              <a:t>people may instead find it useful to install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from source, because you’ll get the most recent version. </a:t>
            </a:r>
            <a:endParaRPr lang="en-US" dirty="0" smtClean="0">
              <a:effectLst/>
            </a:endParaRPr>
          </a:p>
          <a:p>
            <a:pPr fontAlgn="base"/>
            <a:r>
              <a:rPr lang="en-US" dirty="0" smtClean="0">
                <a:effectLst/>
              </a:rPr>
              <a:t>The </a:t>
            </a:r>
            <a:r>
              <a:rPr lang="en-US" dirty="0">
                <a:effectLst/>
              </a:rPr>
              <a:t>binary installers tend to be a bit behind, though as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has matured in recent years, this has made less of a difference</a:t>
            </a:r>
            <a:r>
              <a:rPr lang="en-US" dirty="0" smtClean="0">
                <a:effectLst/>
              </a:rPr>
              <a:t>.</a:t>
            </a:r>
          </a:p>
          <a:p>
            <a:pPr fontAlgn="base"/>
            <a:r>
              <a:rPr lang="en-US" dirty="0">
                <a:effectLst/>
              </a:rPr>
              <a:t>See </a:t>
            </a:r>
            <a:r>
              <a:rPr lang="en-US" dirty="0">
                <a:effectLst/>
                <a:hlinkClick r:id="rId2"/>
              </a:rPr>
              <a:t>http://</a:t>
            </a:r>
            <a:r>
              <a:rPr lang="en-US" dirty="0" smtClean="0">
                <a:effectLst/>
                <a:hlinkClick r:id="rId2"/>
              </a:rPr>
              <a:t>git-scm.com/book/en/v2/Getting-Started-Installing-Git#Installing-from-Source</a:t>
            </a:r>
            <a:r>
              <a:rPr lang="en-US" dirty="0" smtClean="0">
                <a:effectLst/>
              </a:rPr>
              <a:t> 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028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dirty="0">
                <a:effectLst/>
              </a:rPr>
              <a:t>First-Time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Setup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base"/>
            <a:r>
              <a:rPr lang="en-US" dirty="0">
                <a:effectLst/>
              </a:rPr>
              <a:t>1.6 Getting </a:t>
            </a:r>
            <a:r>
              <a:rPr lang="en-US" dirty="0" smtClean="0">
                <a:effectLst/>
              </a:rPr>
              <a:t>Started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066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b="1" dirty="0">
                <a:effectLst/>
              </a:rPr>
              <a:t>First-Time </a:t>
            </a:r>
            <a:r>
              <a:rPr lang="en-US" b="1" dirty="0" err="1">
                <a:effectLst/>
              </a:rPr>
              <a:t>Git</a:t>
            </a:r>
            <a:r>
              <a:rPr lang="en-US" b="1" dirty="0">
                <a:effectLst/>
              </a:rPr>
              <a:t>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Now that you have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on your system, you’ll want to do a few things to customize your </a:t>
            </a:r>
            <a:r>
              <a:rPr lang="en-US" dirty="0" err="1">
                <a:effectLst/>
              </a:rPr>
              <a:t>Git</a:t>
            </a:r>
            <a:r>
              <a:rPr lang="en-US" dirty="0">
                <a:effectLst/>
              </a:rPr>
              <a:t> environment. </a:t>
            </a:r>
            <a:endParaRPr lang="en-US" dirty="0" smtClean="0">
              <a:effectLst/>
            </a:endParaRPr>
          </a:p>
          <a:p>
            <a:r>
              <a:rPr lang="en-US" dirty="0" smtClean="0">
                <a:effectLst/>
              </a:rPr>
              <a:t>You </a:t>
            </a:r>
            <a:r>
              <a:rPr lang="en-US" dirty="0">
                <a:effectLst/>
              </a:rPr>
              <a:t>should have to do these things only once on any given computer; they’ll stick around between upgrades. </a:t>
            </a:r>
            <a:endParaRPr lang="en-US" dirty="0" smtClean="0">
              <a:effectLst/>
            </a:endParaRPr>
          </a:p>
          <a:p>
            <a:r>
              <a:rPr lang="en-US" dirty="0" smtClean="0">
                <a:effectLst/>
              </a:rPr>
              <a:t>You </a:t>
            </a:r>
            <a:r>
              <a:rPr lang="en-US" dirty="0">
                <a:effectLst/>
              </a:rPr>
              <a:t>can also change them at any time by running through the commands again.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1853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Config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Lets </a:t>
            </a:r>
            <a:r>
              <a:rPr lang="en-US" dirty="0"/>
              <a:t>you get and set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configuration variables </a:t>
            </a:r>
            <a:r>
              <a:rPr lang="en-US" dirty="0"/>
              <a:t>that control all aspects of how </a:t>
            </a:r>
            <a:r>
              <a:rPr lang="en-US" dirty="0" err="1"/>
              <a:t>Git</a:t>
            </a:r>
            <a:r>
              <a:rPr lang="en-US" dirty="0"/>
              <a:t> looks and operates.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6613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 err="1" smtClean="0"/>
              <a:t>Config</a:t>
            </a:r>
            <a:r>
              <a:rPr lang="en-US" dirty="0" smtClean="0"/>
              <a:t> On </a:t>
            </a:r>
            <a:r>
              <a:rPr lang="en-US" dirty="0" err="1" smtClean="0"/>
              <a:t>Lynux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Variables </a:t>
            </a:r>
            <a:r>
              <a:rPr lang="en-US" dirty="0"/>
              <a:t>can be stored in three different places</a:t>
            </a:r>
            <a:r>
              <a:rPr lang="en-US" dirty="0" smtClean="0"/>
              <a:t>:</a:t>
            </a:r>
            <a:endParaRPr lang="en-US" dirty="0"/>
          </a:p>
          <a:p>
            <a:pPr lvl="1"/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gitconfig</a:t>
            </a:r>
            <a:r>
              <a:rPr lang="en-US" dirty="0"/>
              <a:t> file: Contains values for every user on the system and all their repositories. If you pass the option --system to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, it reads and writes from this file specifically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/>
              <a:t>~/.</a:t>
            </a:r>
            <a:r>
              <a:rPr lang="en-US" dirty="0" err="1"/>
              <a:t>gitconfig</a:t>
            </a:r>
            <a:r>
              <a:rPr lang="en-US" dirty="0"/>
              <a:t> or ~/.</a:t>
            </a:r>
            <a:r>
              <a:rPr lang="en-US" dirty="0" err="1"/>
              <a:t>config</a:t>
            </a:r>
            <a:r>
              <a:rPr lang="en-US" dirty="0"/>
              <a:t>/</a:t>
            </a:r>
            <a:r>
              <a:rPr lang="en-US" dirty="0" err="1"/>
              <a:t>git</a:t>
            </a:r>
            <a:r>
              <a:rPr lang="en-US" dirty="0"/>
              <a:t>/</a:t>
            </a:r>
            <a:r>
              <a:rPr lang="en-US" dirty="0" err="1"/>
              <a:t>config</a:t>
            </a:r>
            <a:r>
              <a:rPr lang="en-US" dirty="0"/>
              <a:t> file: Specific to your user. You can make </a:t>
            </a:r>
            <a:r>
              <a:rPr lang="en-US" dirty="0" err="1"/>
              <a:t>Git</a:t>
            </a:r>
            <a:r>
              <a:rPr lang="en-US" dirty="0"/>
              <a:t> read and write to this file specifically by passing the --global option</a:t>
            </a:r>
            <a:r>
              <a:rPr lang="en-US" dirty="0" smtClean="0"/>
              <a:t>.</a:t>
            </a:r>
            <a:endParaRPr lang="en-US" dirty="0"/>
          </a:p>
          <a:p>
            <a:pPr lvl="1"/>
            <a:r>
              <a:rPr lang="en-US" dirty="0" err="1"/>
              <a:t>config</a:t>
            </a:r>
            <a:r>
              <a:rPr lang="en-US" dirty="0"/>
              <a:t> file in the </a:t>
            </a:r>
            <a:r>
              <a:rPr lang="en-US" dirty="0" err="1"/>
              <a:t>Git</a:t>
            </a:r>
            <a:r>
              <a:rPr lang="en-US" dirty="0"/>
              <a:t> directory (that is, .</a:t>
            </a:r>
            <a:r>
              <a:rPr lang="en-US" dirty="0" err="1"/>
              <a:t>git</a:t>
            </a:r>
            <a:r>
              <a:rPr lang="en-US" dirty="0"/>
              <a:t>/</a:t>
            </a:r>
            <a:r>
              <a:rPr lang="en-US" dirty="0" err="1"/>
              <a:t>config</a:t>
            </a:r>
            <a:r>
              <a:rPr lang="en-US" dirty="0"/>
              <a:t>) of whatever repository you’re currently using: Specific to that single repository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Each level overrides values in the previous level, so values in .</a:t>
            </a:r>
            <a:r>
              <a:rPr lang="en-US" dirty="0" err="1"/>
              <a:t>git</a:t>
            </a:r>
            <a:r>
              <a:rPr lang="en-US" dirty="0"/>
              <a:t>/</a:t>
            </a:r>
            <a:r>
              <a:rPr lang="en-US" dirty="0" err="1"/>
              <a:t>config</a:t>
            </a:r>
            <a:r>
              <a:rPr lang="en-US" dirty="0"/>
              <a:t> trump those in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gitconfig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097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 smtClean="0"/>
              <a:t>Config</a:t>
            </a:r>
            <a:r>
              <a:rPr lang="en-US" dirty="0" smtClean="0"/>
              <a:t>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Windows systems, </a:t>
            </a:r>
            <a:r>
              <a:rPr lang="en-US" dirty="0" err="1"/>
              <a:t>Git</a:t>
            </a:r>
            <a:r>
              <a:rPr lang="en-US" dirty="0"/>
              <a:t> looks for the .</a:t>
            </a:r>
            <a:r>
              <a:rPr lang="en-US" dirty="0" err="1"/>
              <a:t>gitconfig</a:t>
            </a:r>
            <a:r>
              <a:rPr lang="en-US" dirty="0"/>
              <a:t> file in the $HOME directory (C:\Users\$USER for most people).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also still looks for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gitconfig</a:t>
            </a:r>
            <a:r>
              <a:rPr lang="en-US" dirty="0"/>
              <a:t>, although it’s relative to the </a:t>
            </a:r>
            <a:r>
              <a:rPr lang="en-US" dirty="0" err="1"/>
              <a:t>MSys</a:t>
            </a:r>
            <a:r>
              <a:rPr lang="en-US" dirty="0"/>
              <a:t> root, which is wherever you decide to install </a:t>
            </a:r>
            <a:r>
              <a:rPr lang="en-US" dirty="0" err="1"/>
              <a:t>Git</a:t>
            </a:r>
            <a:r>
              <a:rPr lang="en-US" dirty="0"/>
              <a:t> on your Windows system when you run the installer.</a:t>
            </a:r>
          </a:p>
        </p:txBody>
      </p:sp>
    </p:spTree>
    <p:extLst>
      <p:ext uri="{BB962C8B-B14F-4D97-AF65-F5344CB8AC3E}">
        <p14:creationId xmlns:p14="http://schemas.microsoft.com/office/powerpoint/2010/main" val="3380563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</a:t>
            </a:r>
            <a:r>
              <a:rPr lang="en-US" dirty="0" smtClean="0"/>
              <a:t>Identity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thing you should do when you install </a:t>
            </a:r>
            <a:r>
              <a:rPr lang="en-US" dirty="0" err="1"/>
              <a:t>Git</a:t>
            </a:r>
            <a:r>
              <a:rPr lang="en-US" dirty="0"/>
              <a:t> is to set your user name and e-mail address. </a:t>
            </a:r>
            <a:endParaRPr lang="en-US" dirty="0" smtClean="0"/>
          </a:p>
          <a:p>
            <a:r>
              <a:rPr lang="en-US" dirty="0" smtClean="0"/>
              <a:t>This </a:t>
            </a:r>
            <a:r>
              <a:rPr lang="en-US" dirty="0"/>
              <a:t>is important because every </a:t>
            </a:r>
            <a:r>
              <a:rPr lang="en-US" dirty="0" err="1"/>
              <a:t>Git</a:t>
            </a:r>
            <a:r>
              <a:rPr lang="en-US" dirty="0"/>
              <a:t> commit uses this information, and it’s immutably baked into the commits you start creating</a:t>
            </a:r>
            <a:r>
              <a:rPr lang="en-US" dirty="0" smtClean="0"/>
              <a:t>: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429000"/>
            <a:ext cx="7460167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688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--global option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</a:t>
            </a:r>
            <a:r>
              <a:rPr lang="en-US" dirty="0"/>
              <a:t>need to do this only once if you pass the --global </a:t>
            </a:r>
            <a:r>
              <a:rPr lang="en-US" dirty="0" smtClean="0"/>
              <a:t>option</a:t>
            </a:r>
          </a:p>
          <a:p>
            <a:r>
              <a:rPr lang="en-US" dirty="0" err="1" smtClean="0"/>
              <a:t>Git</a:t>
            </a:r>
            <a:r>
              <a:rPr lang="en-US" dirty="0" smtClean="0"/>
              <a:t> </a:t>
            </a:r>
            <a:r>
              <a:rPr lang="en-US" dirty="0"/>
              <a:t>will always use that information for anything you do on that system.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you want to override this with a different name or e-mail address for specific projects, you can run the command without the --global option when you’re in that project. </a:t>
            </a:r>
            <a:endParaRPr lang="en-US" dirty="0" smtClean="0"/>
          </a:p>
          <a:p>
            <a:r>
              <a:rPr lang="en-US" dirty="0" smtClean="0"/>
              <a:t>Many </a:t>
            </a:r>
            <a:r>
              <a:rPr lang="en-US" dirty="0"/>
              <a:t>of the GUI tools will help you do this when you first run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377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Your </a:t>
            </a:r>
            <a:r>
              <a:rPr lang="en-US" dirty="0" smtClean="0"/>
              <a:t>Editor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</a:t>
            </a:r>
            <a:r>
              <a:rPr lang="en-US" dirty="0"/>
              <a:t>can configure the default text editor that will be used when </a:t>
            </a:r>
            <a:r>
              <a:rPr lang="en-US" dirty="0" err="1"/>
              <a:t>Git</a:t>
            </a:r>
            <a:r>
              <a:rPr lang="en-US" dirty="0"/>
              <a:t> needs you to type in a message. </a:t>
            </a:r>
            <a:endParaRPr lang="en-US" dirty="0" smtClean="0"/>
          </a:p>
          <a:p>
            <a:r>
              <a:rPr lang="en-US" dirty="0" smtClean="0"/>
              <a:t>If </a:t>
            </a:r>
            <a:r>
              <a:rPr lang="en-US" dirty="0"/>
              <a:t>not configured, </a:t>
            </a:r>
            <a:r>
              <a:rPr lang="en-US" dirty="0" err="1"/>
              <a:t>Git</a:t>
            </a:r>
            <a:r>
              <a:rPr lang="en-US" dirty="0"/>
              <a:t> uses your system’s default </a:t>
            </a:r>
            <a:r>
              <a:rPr lang="en-US" dirty="0" smtClean="0"/>
              <a:t>editor.</a:t>
            </a:r>
          </a:p>
          <a:p>
            <a:r>
              <a:rPr lang="en-US" dirty="0" smtClean="0"/>
              <a:t>If </a:t>
            </a:r>
            <a:r>
              <a:rPr lang="en-US" dirty="0"/>
              <a:t>you want to use a different text editor, such as </a:t>
            </a:r>
            <a:r>
              <a:rPr lang="en-US" dirty="0" err="1"/>
              <a:t>Emacs</a:t>
            </a:r>
            <a:r>
              <a:rPr lang="en-US" dirty="0"/>
              <a:t>, you can do the following</a:t>
            </a:r>
            <a:r>
              <a:rPr lang="en-US" dirty="0" smtClean="0"/>
              <a:t>:</a:t>
            </a:r>
          </a:p>
          <a:p>
            <a:pPr marL="36900" indent="0" algn="ctr">
              <a:buNone/>
            </a:pPr>
            <a:r>
              <a:rPr lang="en-US" dirty="0"/>
              <a:t>$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--global </a:t>
            </a:r>
            <a:r>
              <a:rPr lang="en-US" dirty="0" err="1"/>
              <a:t>core.editor</a:t>
            </a:r>
            <a:r>
              <a:rPr lang="en-US" dirty="0"/>
              <a:t> </a:t>
            </a:r>
            <a:r>
              <a:rPr lang="en-US" dirty="0" err="1" smtClean="0"/>
              <a:t>emacs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351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Checking Your </a:t>
            </a:r>
            <a:r>
              <a:rPr lang="en-US" dirty="0" smtClean="0"/>
              <a:t>Settings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If </a:t>
            </a:r>
            <a:r>
              <a:rPr lang="en-US" dirty="0"/>
              <a:t>you want to check your settings, you can use the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--list command to list all the settings </a:t>
            </a:r>
            <a:r>
              <a:rPr lang="en-US" dirty="0" err="1"/>
              <a:t>Git</a:t>
            </a:r>
            <a:r>
              <a:rPr lang="en-US" dirty="0"/>
              <a:t> can find at that point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You may see keys more than once, because </a:t>
            </a:r>
            <a:r>
              <a:rPr lang="en-US" dirty="0" err="1"/>
              <a:t>Git</a:t>
            </a:r>
            <a:r>
              <a:rPr lang="en-US" dirty="0"/>
              <a:t> reads the same key from different files (/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gitconfig</a:t>
            </a:r>
            <a:r>
              <a:rPr lang="en-US" dirty="0"/>
              <a:t> and ~/.</a:t>
            </a:r>
            <a:r>
              <a:rPr lang="en-US" dirty="0" err="1"/>
              <a:t>gitconfig</a:t>
            </a:r>
            <a:r>
              <a:rPr lang="en-US" dirty="0"/>
              <a:t>, for example). In this case, </a:t>
            </a:r>
            <a:r>
              <a:rPr lang="en-US" dirty="0" err="1"/>
              <a:t>Git</a:t>
            </a:r>
            <a:r>
              <a:rPr lang="en-US" dirty="0"/>
              <a:t> uses the last value for each unique key it sees.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347" y="2590800"/>
            <a:ext cx="5969307" cy="1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37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Your Settings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also check what </a:t>
            </a:r>
            <a:r>
              <a:rPr lang="en-US" dirty="0" err="1"/>
              <a:t>Git</a:t>
            </a:r>
            <a:r>
              <a:rPr lang="en-US" dirty="0"/>
              <a:t> thinks a specific key’s value is by typing </a:t>
            </a:r>
            <a:r>
              <a:rPr lang="en-US" dirty="0" err="1"/>
              <a:t>git</a:t>
            </a:r>
            <a:r>
              <a:rPr lang="en-US" dirty="0"/>
              <a:t> </a:t>
            </a:r>
            <a:r>
              <a:rPr lang="en-US" dirty="0" err="1"/>
              <a:t>config</a:t>
            </a:r>
            <a:r>
              <a:rPr lang="en-US" dirty="0"/>
              <a:t> &lt;key&gt;: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738" y="2743200"/>
            <a:ext cx="69785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16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</a:t>
            </a:r>
            <a:r>
              <a:rPr lang="en-US" dirty="0" smtClean="0"/>
              <a:t>Help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2800" dirty="0" smtClean="0"/>
              <a:t>If </a:t>
            </a:r>
            <a:r>
              <a:rPr lang="en-US" sz="2800" dirty="0"/>
              <a:t>you ever need help while using </a:t>
            </a:r>
            <a:r>
              <a:rPr lang="en-US" sz="2800" dirty="0" err="1"/>
              <a:t>Git</a:t>
            </a:r>
            <a:r>
              <a:rPr lang="en-US" sz="2800" dirty="0"/>
              <a:t>, there are three ways to get the manual page (</a:t>
            </a:r>
            <a:r>
              <a:rPr lang="en-US" sz="2800" dirty="0" err="1"/>
              <a:t>manpage</a:t>
            </a:r>
            <a:r>
              <a:rPr lang="en-US" sz="2800" dirty="0"/>
              <a:t>) help for any of the </a:t>
            </a:r>
            <a:r>
              <a:rPr lang="en-US" sz="2800" dirty="0" err="1"/>
              <a:t>Git</a:t>
            </a:r>
            <a:r>
              <a:rPr lang="en-US" sz="2800" dirty="0"/>
              <a:t> commands: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dirty="0"/>
              <a:t>$ </a:t>
            </a:r>
            <a:r>
              <a:rPr lang="en-US" sz="2800" dirty="0" err="1"/>
              <a:t>git</a:t>
            </a:r>
            <a:r>
              <a:rPr lang="en-US" sz="2800" dirty="0"/>
              <a:t> help &lt;verb</a:t>
            </a:r>
            <a:r>
              <a:rPr lang="en-US" sz="2800" dirty="0" smtClean="0"/>
              <a:t>&gt;</a:t>
            </a:r>
          </a:p>
          <a:p>
            <a:pPr marL="494100" indent="-457200">
              <a:buFont typeface="+mj-lt"/>
              <a:buAutoNum type="arabicPeriod"/>
            </a:pPr>
            <a:r>
              <a:rPr lang="en-US" sz="2800" dirty="0" smtClean="0"/>
              <a:t>$ </a:t>
            </a:r>
            <a:r>
              <a:rPr lang="en-US" sz="2800" dirty="0" err="1"/>
              <a:t>git</a:t>
            </a:r>
            <a:r>
              <a:rPr lang="en-US" sz="2800" dirty="0"/>
              <a:t> &lt;verb&gt; --help </a:t>
            </a:r>
            <a:endParaRPr lang="en-US" sz="2800" dirty="0" smtClean="0"/>
          </a:p>
          <a:p>
            <a:pPr marL="494100" indent="-457200">
              <a:buFont typeface="+mj-lt"/>
              <a:buAutoNum type="arabicPeriod"/>
            </a:pPr>
            <a:r>
              <a:rPr lang="en-US" sz="2800" dirty="0" smtClean="0"/>
              <a:t>$ </a:t>
            </a:r>
            <a:r>
              <a:rPr lang="en-US" sz="2800" dirty="0"/>
              <a:t>man </a:t>
            </a:r>
            <a:r>
              <a:rPr lang="en-US" sz="2800" dirty="0" err="1"/>
              <a:t>git</a:t>
            </a:r>
            <a:r>
              <a:rPr lang="en-US" sz="2800" dirty="0"/>
              <a:t>-&lt;verb&gt;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0077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</a:t>
            </a:r>
            <a:r>
              <a:rPr lang="en-US" dirty="0" smtClean="0"/>
              <a:t>Help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</a:t>
            </a:r>
            <a:r>
              <a:rPr lang="en-US" dirty="0"/>
              <a:t>example, you can get the </a:t>
            </a:r>
            <a:r>
              <a:rPr lang="en-US" dirty="0" err="1"/>
              <a:t>manpage</a:t>
            </a:r>
            <a:r>
              <a:rPr lang="en-US" dirty="0"/>
              <a:t> help for the </a:t>
            </a:r>
            <a:r>
              <a:rPr lang="en-US" dirty="0" err="1"/>
              <a:t>config</a:t>
            </a:r>
            <a:r>
              <a:rPr lang="en-US" dirty="0"/>
              <a:t> command by </a:t>
            </a:r>
            <a:r>
              <a:rPr lang="en-US" dirty="0" smtClean="0"/>
              <a:t>running </a:t>
            </a:r>
            <a:r>
              <a:rPr lang="en-US" dirty="0" err="1"/>
              <a:t>git</a:t>
            </a:r>
            <a:r>
              <a:rPr lang="en-US" dirty="0"/>
              <a:t> help </a:t>
            </a:r>
            <a:r>
              <a:rPr lang="en-US" dirty="0" err="1" smtClean="0"/>
              <a:t>config</a:t>
            </a:r>
            <a:r>
              <a:rPr lang="en-US" dirty="0" smtClean="0"/>
              <a:t>: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46" y="2514600"/>
            <a:ext cx="4800600" cy="1603939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2475334" y="3352800"/>
            <a:ext cx="5810465" cy="2794261"/>
            <a:chOff x="2475334" y="3352800"/>
            <a:chExt cx="5810465" cy="279426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76800" y="3352800"/>
              <a:ext cx="3408999" cy="2794261"/>
            </a:xfrm>
            <a:prstGeom prst="rect">
              <a:avLst/>
            </a:prstGeom>
          </p:spPr>
        </p:pic>
        <p:sp>
          <p:nvSpPr>
            <p:cNvPr id="6" name="Chevron 5"/>
            <p:cNvSpPr/>
            <p:nvPr/>
          </p:nvSpPr>
          <p:spPr>
            <a:xfrm rot="1034190">
              <a:off x="2475334" y="3907135"/>
              <a:ext cx="2228763" cy="199302"/>
            </a:xfrm>
            <a:prstGeom prst="chevron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96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You </a:t>
            </a:r>
            <a:r>
              <a:rPr lang="en-US" dirty="0"/>
              <a:t>should have a basic understanding of what </a:t>
            </a:r>
            <a:r>
              <a:rPr lang="en-US" dirty="0" err="1"/>
              <a:t>Git</a:t>
            </a:r>
            <a:r>
              <a:rPr lang="en-US"/>
              <a:t> </a:t>
            </a:r>
            <a:r>
              <a:rPr lang="en-US" smtClean="0"/>
              <a:t>is.</a:t>
            </a:r>
            <a:endParaRPr lang="en-US" dirty="0" smtClean="0"/>
          </a:p>
          <a:p>
            <a:r>
              <a:rPr lang="en-US" dirty="0" smtClean="0"/>
              <a:t>How </a:t>
            </a:r>
            <a:r>
              <a:rPr lang="en-US" dirty="0"/>
              <a:t>it’s different from the centralized version control </a:t>
            </a:r>
            <a:r>
              <a:rPr lang="en-US" dirty="0" smtClean="0"/>
              <a:t>systems.</a:t>
            </a:r>
          </a:p>
          <a:p>
            <a:r>
              <a:rPr lang="en-US" dirty="0" smtClean="0"/>
              <a:t>You </a:t>
            </a:r>
            <a:r>
              <a:rPr lang="en-US" dirty="0"/>
              <a:t>should also now have a working version of </a:t>
            </a:r>
            <a:r>
              <a:rPr lang="en-US" dirty="0" err="1"/>
              <a:t>Git</a:t>
            </a:r>
            <a:r>
              <a:rPr lang="en-US" dirty="0"/>
              <a:t> on your system that’s set up with your personal identity</a:t>
            </a:r>
            <a:r>
              <a:rPr lang="en-US" dirty="0" smtClean="0"/>
              <a:t>.</a:t>
            </a:r>
          </a:p>
          <a:p>
            <a:r>
              <a:rPr lang="en-US" dirty="0" smtClean="0"/>
              <a:t>Next: </a:t>
            </a:r>
            <a:r>
              <a:rPr lang="en-US" dirty="0"/>
              <a:t>learn some </a:t>
            </a:r>
            <a:r>
              <a:rPr lang="en-US" dirty="0" err="1"/>
              <a:t>Git</a:t>
            </a:r>
            <a:r>
              <a:rPr lang="en-US" dirty="0"/>
              <a:t> basics.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772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9230</TotalTime>
  <Words>2746</Words>
  <Application>Microsoft Office PowerPoint</Application>
  <PresentationFormat>On-screen Show (4:3)</PresentationFormat>
  <Paragraphs>257</Paragraphs>
  <Slides>61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Calibri</vt:lpstr>
      <vt:lpstr>Calisto MT</vt:lpstr>
      <vt:lpstr>Trebuchet MS</vt:lpstr>
      <vt:lpstr>Wingdings</vt:lpstr>
      <vt:lpstr>Wingdings 2</vt:lpstr>
      <vt:lpstr>Slate</vt:lpstr>
      <vt:lpstr>Agenda</vt:lpstr>
      <vt:lpstr>Global Game Jam 2015</vt:lpstr>
      <vt:lpstr>GIT Chapter 1:  Getting Started</vt:lpstr>
      <vt:lpstr>Summary</vt:lpstr>
      <vt:lpstr>GIT and GITHUB</vt:lpstr>
      <vt:lpstr>Learn GIT</vt:lpstr>
      <vt:lpstr>Learn GIT</vt:lpstr>
      <vt:lpstr>About Version Control</vt:lpstr>
      <vt:lpstr>About Version Control</vt:lpstr>
      <vt:lpstr>Types of version control</vt:lpstr>
      <vt:lpstr>Local Version Control Systems</vt:lpstr>
      <vt:lpstr>Local Version Control Systems</vt:lpstr>
      <vt:lpstr>Centralized Version Control Systems</vt:lpstr>
      <vt:lpstr>Centralized Version Control Systems</vt:lpstr>
      <vt:lpstr>Centralized Version Control Systems</vt:lpstr>
      <vt:lpstr>Distributed Version Control Systems</vt:lpstr>
      <vt:lpstr>Distributed Version Control Systems</vt:lpstr>
      <vt:lpstr>Distributed Version Control Systems</vt:lpstr>
      <vt:lpstr>A Short History of Git</vt:lpstr>
      <vt:lpstr>A Short History of Git</vt:lpstr>
      <vt:lpstr>A Short History of Git</vt:lpstr>
      <vt:lpstr>Goals</vt:lpstr>
      <vt:lpstr>Git Qualities</vt:lpstr>
      <vt:lpstr>Git Basics</vt:lpstr>
      <vt:lpstr>Snapshots, Not Differences</vt:lpstr>
      <vt:lpstr>File-Based Changes Approach</vt:lpstr>
      <vt:lpstr>GIT Approach</vt:lpstr>
      <vt:lpstr>GIT Approach</vt:lpstr>
      <vt:lpstr>Nearly Every Operation Is Local</vt:lpstr>
      <vt:lpstr>Offline Capability</vt:lpstr>
      <vt:lpstr>Git Has Integrity</vt:lpstr>
      <vt:lpstr>Git Has Integrity</vt:lpstr>
      <vt:lpstr>Git Generally Only Adds Data</vt:lpstr>
      <vt:lpstr>The Three States</vt:lpstr>
      <vt:lpstr> Main Sections of a Git Project</vt:lpstr>
      <vt:lpstr>Staging area </vt:lpstr>
      <vt:lpstr>The Basic Git Workflow</vt:lpstr>
      <vt:lpstr>Stages of a File</vt:lpstr>
      <vt:lpstr>The Command Line</vt:lpstr>
      <vt:lpstr>The Command Line</vt:lpstr>
      <vt:lpstr>Installing Git</vt:lpstr>
      <vt:lpstr>Installing Git</vt:lpstr>
      <vt:lpstr>Installing on Linux</vt:lpstr>
      <vt:lpstr>Installing on Mac</vt:lpstr>
      <vt:lpstr>Installing on Windows</vt:lpstr>
      <vt:lpstr>Git on Windows</vt:lpstr>
      <vt:lpstr>GitHub for Windows</vt:lpstr>
      <vt:lpstr>Installing from Source</vt:lpstr>
      <vt:lpstr>First-Time Git Setup</vt:lpstr>
      <vt:lpstr>First-Time Git Setup</vt:lpstr>
      <vt:lpstr>Git Config</vt:lpstr>
      <vt:lpstr>Git Config On Lynux</vt:lpstr>
      <vt:lpstr>Git Config On Windows</vt:lpstr>
      <vt:lpstr>Your Identity</vt:lpstr>
      <vt:lpstr>--global option</vt:lpstr>
      <vt:lpstr>Your Editor</vt:lpstr>
      <vt:lpstr>Checking Your Settings</vt:lpstr>
      <vt:lpstr>Checking Your Settings</vt:lpstr>
      <vt:lpstr>Getting Help</vt:lpstr>
      <vt:lpstr>Getting Help</vt:lpstr>
      <vt:lpstr>Summary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User</dc:creator>
  <cp:lastModifiedBy>Microsoft account</cp:lastModifiedBy>
  <cp:revision>263</cp:revision>
  <dcterms:created xsi:type="dcterms:W3CDTF">2014-07-06T04:18:32Z</dcterms:created>
  <dcterms:modified xsi:type="dcterms:W3CDTF">2015-01-02T16:48:56Z</dcterms:modified>
</cp:coreProperties>
</file>